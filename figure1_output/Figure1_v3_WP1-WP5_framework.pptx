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图1（v2）流程与过程量说明
共享临床时间序列测试平台（M1–24 全程）：主任务 = 用入 ICU 前 48 h 不规则采样的生理/实验室观测预测随后 24 h 死亡（二分类）；补充任务 = 西伦敦医院 A&amp;E 等待时间预测（回归）；连续结局用于 CPD。数据：MIMIC-IV（开发 + 时间外推验证）、eICU（独立跨医院验证）、West London A&amp;E（连续任务）。仅使用回顾性、去标识化数据。
测试平台 → WP1：数据特性（不规则采样、纵向依赖、分布漂移）；→ WP2：MIMIC-IV 开发数据（训练与校准）；→ WP3：时间外推集、eICU、A&amp;E。
WP1（M1–6）→ WP2：目标向量 F(θ) = (f1 预测损失, f2 特征贡献的稀疏性与时间稳定性, f3 预定义时间/站点漂移下的最差组损失, f4 预测集大小/区间宽度)，约束：边际覆盖率 ≥ 90%（时间序列/非可交换校准，按亚组与站点复核），以及预定义的漂移环境 E。
WP2（M3–14）：候选种群 θ → 在每个环境 e∈E 上评估 F(θ) 与覆盖率 c → 覆盖约束选择 + 环境感知鲁棒排序（+ WP3 忠实度反馈）→ 交叉/变异生成新种群并迭代；输出 Pareto 前沿刻画（联合改进区、膝点区、漂移下前沿变化）、代表性候选解，并与现有多目标方法对比。
WP2 → WP3：选定的 Pareto 解 θ*；WP3 → WP2：解释忠实度结果，用于改进 f2 可解释性代理与候选选择。
WP3（M8–22）：① 忠实度——消融 + 基于简单生理模型的受控扰动（预先设定期望方向与时间位置），用归因–响应相关和删除/插入保真度量化；② 性能与覆盖——MIMIC-IV 开发/时间外推、eICU 跨医院、A&amp;E 连续任务。
WP2 → WP4：代表性 Pareto 候选解。WP4（M14–22）：ICU 医生在三种条件下审阅平衡的去标识化病例（A 点预测；B 点预测 + 事后解释；C 联合优化输出 + 保形不确定性），结局 = 依赖决策准确性、置信度校准、感知可解释性、决策时间及定性意见；连续任务探索 CPD 支持不同决策规则。
WP2/WP3/WP4 → WP5（M20–24）：优化、验证、临床证据整合为“可联合实现性”图谱（联合可实现 / 权衡 / 失效，随时间与站点漂移变化）；不相容被视为一等结果；输出方法学指导、算法、评估规范与开放获取论文。
图中前沿、相关矩阵、覆盖率柱、可实现性图谱等为示意（illustrative），非结果。
图片与数据来源：
- ICU 中央监护站照片：US Navy photo by PH1 Shane T. McCoy，Wikimedia Commons，公有领域。
- A&amp;E 入口照片：“Entrance to the Accident and Emergency Department, Bradford Infirmary”，Humphrey Bolton，geograph.org.uk / Wikimedia Commons，CC BY-SA 2.0。
- 美国地图底图：“Blank US Map (states only).svg”，Heitordp，Wikimedia Commons，CC0；站点按 eICU Demo 医院所属区域示意摆放。
- 生命体征曲线/不规则采样示意：MIMIC-IV Clinical Database Demo v2.2、eICU-CRD Demo v2.0.1（PhysioNet，开放获取）中的真实数据。
- 图标：Font Awesome（react-icons）。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jp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testbed 1"/>
          <p:cNvSpPr/>
          <p:nvPr/>
        </p:nvSpPr>
        <p:spPr>
          <a:xfrm>
            <a:off x="109728" y="73152"/>
            <a:ext cx="11969496" cy="859536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3" name="panel title 2"/>
          <p:cNvSpPr txBox="1"/>
          <p:nvPr/>
        </p:nvSpPr>
        <p:spPr>
          <a:xfrm>
            <a:off x="219456" y="118872"/>
            <a:ext cx="1175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clinical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testbed</a:t>
            </a:r>
            <a:endParaRPr lang="en-US" sz="1500" dirty="0"/>
          </a:p>
        </p:txBody>
      </p:sp>
      <p:sp>
        <p:nvSpPr>
          <p:cNvPr id="4" name="month pill 3"/>
          <p:cNvSpPr/>
          <p:nvPr/>
        </p:nvSpPr>
        <p:spPr>
          <a:xfrm>
            <a:off x="219456" y="576072"/>
            <a:ext cx="118872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5" name="text 4"/>
          <p:cNvSpPr txBox="1"/>
          <p:nvPr/>
        </p:nvSpPr>
        <p:spPr>
          <a:xfrm>
            <a:off x="219456" y="57607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throughout M1–24</a:t>
            </a:r>
            <a:endParaRPr lang="en-US" sz="750" dirty="0"/>
          </a:p>
        </p:txBody>
      </p:sp>
      <p:sp>
        <p:nvSpPr>
          <p:cNvPr id="6" name="text 5"/>
          <p:cNvSpPr txBox="1"/>
          <p:nvPr/>
        </p:nvSpPr>
        <p:spPr>
          <a:xfrm>
            <a:off x="219456" y="76809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· de-identified · no prospective collection</a:t>
            </a:r>
            <a:endParaRPr lang="en-US" sz="580" dirty="0"/>
          </a:p>
        </p:txBody>
      </p:sp>
      <p:sp>
        <p:nvSpPr>
          <p:cNvPr id="7" name="sub-box 6"/>
          <p:cNvSpPr/>
          <p:nvPr/>
        </p:nvSpPr>
        <p:spPr>
          <a:xfrm>
            <a:off x="2011680" y="137160"/>
            <a:ext cx="393192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" name="primary task text 7"/>
          <p:cNvSpPr txBox="1"/>
          <p:nvPr/>
        </p:nvSpPr>
        <p:spPr>
          <a:xfrm>
            <a:off x="2084832" y="173736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task (binary)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 ICU mortality from the first 48 h of irregularly sampled physiological and laboratory observations</a:t>
            </a:r>
            <a:endParaRPr lang="en-US" sz="700" dirty="0"/>
          </a:p>
        </p:txBody>
      </p:sp>
      <p:pic>
        <p:nvPicPr>
          <p:cNvPr id="9" name="irregularly sampled ICU observations, first 48 h (real MIMIC-IV demo stay) 8" descr="irregularly sampled ICU observations, first 48 h (real MIMIC-IV demo st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55448"/>
            <a:ext cx="2615184" cy="685800"/>
          </a:xfrm>
          <a:prstGeom prst="rect">
            <a:avLst/>
          </a:prstGeom>
        </p:spPr>
      </p:pic>
      <p:sp>
        <p:nvSpPr>
          <p:cNvPr id="10" name="sub-box 9"/>
          <p:cNvSpPr/>
          <p:nvPr/>
        </p:nvSpPr>
        <p:spPr>
          <a:xfrm>
            <a:off x="6016752" y="137160"/>
            <a:ext cx="2395728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pic>
        <p:nvPicPr>
          <p:cNvPr id="11" name="photo: NHS A&amp;E department entrance 10" descr="photo: NHS A&amp;E department entr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92024"/>
            <a:ext cx="786384" cy="566928"/>
          </a:xfrm>
          <a:prstGeom prst="rect">
            <a:avLst/>
          </a:prstGeom>
        </p:spPr>
      </p:pic>
      <p:sp>
        <p:nvSpPr>
          <p:cNvPr id="12" name="complementary task text 11"/>
          <p:cNvSpPr txBox="1"/>
          <p:nvPr/>
        </p:nvSpPr>
        <p:spPr>
          <a:xfrm>
            <a:off x="6903720" y="17373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task (regression)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A&amp;E waiting-time prediction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attendances, West London hospital [15]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outcomes → CPDs</a:t>
            </a:r>
            <a:endParaRPr lang="en-US" sz="700" dirty="0"/>
          </a:p>
        </p:txBody>
      </p:sp>
      <p:sp>
        <p:nvSpPr>
          <p:cNvPr id="13" name="sub-box 12"/>
          <p:cNvSpPr/>
          <p:nvPr/>
        </p:nvSpPr>
        <p:spPr>
          <a:xfrm>
            <a:off x="8485632" y="137160"/>
            <a:ext cx="178308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" name="MIMIC text 13"/>
          <p:cNvSpPr txBox="1"/>
          <p:nvPr/>
        </p:nvSpPr>
        <p:spPr>
          <a:xfrm>
            <a:off x="8549640" y="1645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[13]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· development + temporal hold-out</a:t>
            </a:r>
            <a:endParaRPr lang="en-US" sz="700" dirty="0"/>
          </a:p>
        </p:txBody>
      </p:sp>
      <p:pic>
        <p:nvPicPr>
          <p:cNvPr id="15" name="MIMIC-IV temporal split 14" descr="MIMIC-IV temporal spl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512064"/>
            <a:ext cx="1627632" cy="310896"/>
          </a:xfrm>
          <a:prstGeom prst="rect">
            <a:avLst/>
          </a:prstGeom>
        </p:spPr>
      </p:pic>
      <p:sp>
        <p:nvSpPr>
          <p:cNvPr id="16" name="sub-box 15"/>
          <p:cNvSpPr/>
          <p:nvPr/>
        </p:nvSpPr>
        <p:spPr>
          <a:xfrm>
            <a:off x="10341864" y="137160"/>
            <a:ext cx="1664208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" name="eICU text 16"/>
          <p:cNvSpPr txBox="1"/>
          <p:nvPr/>
        </p:nvSpPr>
        <p:spPr>
          <a:xfrm>
            <a:off x="10405872" y="164592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 [14]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multi-centre US ICUs · independent cross-hospital validation</a:t>
            </a:r>
            <a:endParaRPr lang="en-US" sz="700" dirty="0"/>
          </a:p>
        </p:txBody>
      </p:sp>
      <p:pic>
        <p:nvPicPr>
          <p:cNvPr id="18" name="eICU hospitals by US region 17" descr="eICU hospitals by US reg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83464"/>
            <a:ext cx="731520" cy="448056"/>
          </a:xfrm>
          <a:prstGeom prst="rect">
            <a:avLst/>
          </a:prstGeom>
        </p:spPr>
      </p:pic>
      <p:sp>
        <p:nvSpPr>
          <p:cNvPr id="19" name="panel WP1 18"/>
          <p:cNvSpPr/>
          <p:nvPr/>
        </p:nvSpPr>
        <p:spPr>
          <a:xfrm>
            <a:off x="109728" y="1188720"/>
            <a:ext cx="2359152" cy="327355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20" name="panel title 19"/>
          <p:cNvSpPr txBox="1"/>
          <p:nvPr/>
        </p:nvSpPr>
        <p:spPr>
          <a:xfrm>
            <a:off x="219456" y="12344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Definition</a:t>
            </a:r>
            <a:endParaRPr lang="en-US" sz="1500" dirty="0"/>
          </a:p>
        </p:txBody>
      </p:sp>
      <p:sp>
        <p:nvSpPr>
          <p:cNvPr id="21" name="month pill 20"/>
          <p:cNvSpPr/>
          <p:nvPr/>
        </p:nvSpPr>
        <p:spPr>
          <a:xfrm>
            <a:off x="2026310" y="125730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22" name="months 21"/>
          <p:cNvSpPr txBox="1"/>
          <p:nvPr/>
        </p:nvSpPr>
        <p:spPr>
          <a:xfrm>
            <a:off x="2026310" y="12573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M1–6</a:t>
            </a:r>
            <a:endParaRPr lang="en-US" sz="800" dirty="0"/>
          </a:p>
        </p:txBody>
      </p:sp>
      <p:sp>
        <p:nvSpPr>
          <p:cNvPr id="23" name="sub-box 22"/>
          <p:cNvSpPr/>
          <p:nvPr/>
        </p:nvSpPr>
        <p:spPr>
          <a:xfrm>
            <a:off x="182880" y="1719072"/>
            <a:ext cx="2212848" cy="170078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4" name="sub-box title 23"/>
          <p:cNvSpPr txBox="1"/>
          <p:nvPr/>
        </p:nvSpPr>
        <p:spPr>
          <a:xfrm>
            <a:off x="246888" y="174650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objectives (minimised)</a:t>
            </a:r>
            <a:endParaRPr lang="en-US" sz="950" dirty="0"/>
          </a:p>
        </p:txBody>
      </p:sp>
      <p:sp>
        <p:nvSpPr>
          <p:cNvPr id="25" name="objective tile 24"/>
          <p:cNvSpPr/>
          <p:nvPr/>
        </p:nvSpPr>
        <p:spPr>
          <a:xfrm>
            <a:off x="246888" y="1965960"/>
            <a:ext cx="1024128" cy="676656"/>
          </a:xfrm>
          <a:prstGeom prst="roundRect">
            <a:avLst>
              <a:gd name="adj" fmla="val 5405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26" name="objective graphic 25" descr="objective graph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1993392"/>
            <a:ext cx="914400" cy="402336"/>
          </a:xfrm>
          <a:prstGeom prst="rect">
            <a:avLst/>
          </a:prstGeom>
        </p:spPr>
      </p:pic>
      <p:sp>
        <p:nvSpPr>
          <p:cNvPr id="27" name="objective label 26"/>
          <p:cNvSpPr txBox="1"/>
          <p:nvPr/>
        </p:nvSpPr>
        <p:spPr>
          <a:xfrm>
            <a:off x="274320" y="2414016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loss</a:t>
            </a:r>
            <a:endParaRPr lang="en-US" sz="680" dirty="0"/>
          </a:p>
        </p:txBody>
      </p:sp>
      <p:sp>
        <p:nvSpPr>
          <p:cNvPr id="28" name="objective tile 27"/>
          <p:cNvSpPr/>
          <p:nvPr/>
        </p:nvSpPr>
        <p:spPr>
          <a:xfrm>
            <a:off x="1325880" y="1965960"/>
            <a:ext cx="1024128" cy="676656"/>
          </a:xfrm>
          <a:prstGeom prst="roundRect">
            <a:avLst>
              <a:gd name="adj" fmla="val 5405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29" name="objective graphic 28" descr="objective graph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744" y="1993392"/>
            <a:ext cx="914400" cy="402336"/>
          </a:xfrm>
          <a:prstGeom prst="rect">
            <a:avLst/>
          </a:prstGeom>
        </p:spPr>
      </p:pic>
      <p:sp>
        <p:nvSpPr>
          <p:cNvPr id="30" name="objective label 29"/>
          <p:cNvSpPr txBox="1"/>
          <p:nvPr/>
        </p:nvSpPr>
        <p:spPr>
          <a:xfrm>
            <a:off x="1353312" y="2414016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sparsity &amp; temporal stability</a:t>
            </a:r>
            <a:endParaRPr lang="en-US" sz="680" dirty="0"/>
          </a:p>
        </p:txBody>
      </p:sp>
      <p:sp>
        <p:nvSpPr>
          <p:cNvPr id="31" name="objective tile 30"/>
          <p:cNvSpPr/>
          <p:nvPr/>
        </p:nvSpPr>
        <p:spPr>
          <a:xfrm>
            <a:off x="246888" y="2697480"/>
            <a:ext cx="1024128" cy="676656"/>
          </a:xfrm>
          <a:prstGeom prst="roundRect">
            <a:avLst>
              <a:gd name="adj" fmla="val 5405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32" name="objective graphic 31" descr="objective graphi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" y="2724912"/>
            <a:ext cx="914400" cy="402336"/>
          </a:xfrm>
          <a:prstGeom prst="rect">
            <a:avLst/>
          </a:prstGeom>
        </p:spPr>
      </p:pic>
      <p:sp>
        <p:nvSpPr>
          <p:cNvPr id="33" name="objective label 32"/>
          <p:cNvSpPr txBox="1"/>
          <p:nvPr/>
        </p:nvSpPr>
        <p:spPr>
          <a:xfrm>
            <a:off x="274320" y="3145536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worst-group loss under shift</a:t>
            </a:r>
            <a:endParaRPr lang="en-US" sz="680" dirty="0"/>
          </a:p>
        </p:txBody>
      </p:sp>
      <p:sp>
        <p:nvSpPr>
          <p:cNvPr id="34" name="objective tile 33"/>
          <p:cNvSpPr/>
          <p:nvPr/>
        </p:nvSpPr>
        <p:spPr>
          <a:xfrm>
            <a:off x="1325880" y="2697480"/>
            <a:ext cx="1024128" cy="676656"/>
          </a:xfrm>
          <a:prstGeom prst="roundRect">
            <a:avLst>
              <a:gd name="adj" fmla="val 5405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35" name="objective graphic 34" descr="objective graphi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744" y="2724912"/>
            <a:ext cx="914400" cy="402336"/>
          </a:xfrm>
          <a:prstGeom prst="rect">
            <a:avLst/>
          </a:prstGeom>
        </p:spPr>
      </p:pic>
      <p:sp>
        <p:nvSpPr>
          <p:cNvPr id="36" name="objective label 35"/>
          <p:cNvSpPr txBox="1"/>
          <p:nvPr/>
        </p:nvSpPr>
        <p:spPr>
          <a:xfrm>
            <a:off x="1353312" y="3145536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size / interval width</a:t>
            </a:r>
            <a:endParaRPr lang="en-US" sz="680" dirty="0"/>
          </a:p>
        </p:txBody>
      </p:sp>
      <p:sp>
        <p:nvSpPr>
          <p:cNvPr id="37" name="sub-box 36"/>
          <p:cNvSpPr/>
          <p:nvPr/>
        </p:nvSpPr>
        <p:spPr>
          <a:xfrm>
            <a:off x="182880" y="3474720"/>
            <a:ext cx="2212848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8" name="sub-box title 37"/>
          <p:cNvSpPr txBox="1"/>
          <p:nvPr/>
        </p:nvSpPr>
        <p:spPr>
          <a:xfrm>
            <a:off x="246888" y="350215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validity constraint</a:t>
            </a:r>
            <a:endParaRPr lang="en-US" sz="950" dirty="0"/>
          </a:p>
        </p:txBody>
      </p:sp>
      <p:pic>
        <p:nvPicPr>
          <p:cNvPr id="39" name="weighted (non-exchangeable) conformal calibration 38" descr="weighted (non-exchangeable) conformal calibrati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" y="3730752"/>
            <a:ext cx="969264" cy="581558"/>
          </a:xfrm>
          <a:prstGeom prst="rect">
            <a:avLst/>
          </a:prstGeom>
        </p:spPr>
      </p:pic>
      <p:sp>
        <p:nvSpPr>
          <p:cNvPr id="40" name="coverage text 39"/>
          <p:cNvSpPr txBox="1"/>
          <p:nvPr/>
        </p:nvSpPr>
        <p:spPr>
          <a:xfrm>
            <a:off x="1216152" y="3712464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≥ 90%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&amp; non-exchangeable calibration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re-evaluated under temporal &amp; site shift</a:t>
            </a:r>
            <a:endParaRPr lang="en-US" sz="700" dirty="0"/>
          </a:p>
        </p:txBody>
      </p:sp>
      <p:sp>
        <p:nvSpPr>
          <p:cNvPr id="41" name="panel WP2 40"/>
          <p:cNvSpPr/>
          <p:nvPr/>
        </p:nvSpPr>
        <p:spPr>
          <a:xfrm>
            <a:off x="2852928" y="1188720"/>
            <a:ext cx="5733288" cy="327355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42" name="panel title 41"/>
          <p:cNvSpPr txBox="1"/>
          <p:nvPr/>
        </p:nvSpPr>
        <p:spPr>
          <a:xfrm>
            <a:off x="2962656" y="1234440"/>
            <a:ext cx="551383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Many-Objective Method Development</a:t>
            </a:r>
            <a:endParaRPr lang="en-US" sz="1500" dirty="0"/>
          </a:p>
        </p:txBody>
      </p:sp>
      <p:sp>
        <p:nvSpPr>
          <p:cNvPr id="43" name="month pill 42"/>
          <p:cNvSpPr/>
          <p:nvPr/>
        </p:nvSpPr>
        <p:spPr>
          <a:xfrm>
            <a:off x="6907378" y="125730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44" name="months 43"/>
          <p:cNvSpPr txBox="1"/>
          <p:nvPr/>
        </p:nvSpPr>
        <p:spPr>
          <a:xfrm>
            <a:off x="6907378" y="12573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M3–14</a:t>
            </a:r>
            <a:endParaRPr lang="en-US" sz="800" dirty="0"/>
          </a:p>
        </p:txBody>
      </p:sp>
      <p:sp>
        <p:nvSpPr>
          <p:cNvPr id="45" name="sub-box 44"/>
          <p:cNvSpPr/>
          <p:nvPr/>
        </p:nvSpPr>
        <p:spPr>
          <a:xfrm>
            <a:off x="2926080" y="1645920"/>
            <a:ext cx="841248" cy="23774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46" name="stage title 45"/>
          <p:cNvSpPr txBox="1"/>
          <p:nvPr/>
        </p:nvSpPr>
        <p:spPr>
          <a:xfrm>
            <a:off x="2962656" y="16733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population θ</a:t>
            </a:r>
            <a:endParaRPr lang="en-US" sz="850" dirty="0"/>
          </a:p>
        </p:txBody>
      </p:sp>
      <p:sp>
        <p:nvSpPr>
          <p:cNvPr id="47" name="candidate tile 46"/>
          <p:cNvSpPr/>
          <p:nvPr/>
        </p:nvSpPr>
        <p:spPr>
          <a:xfrm>
            <a:off x="2980944" y="2029968"/>
            <a:ext cx="731520" cy="585216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48" name="candidate icon 47" descr="candidat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6976" y="2093976"/>
            <a:ext cx="219456" cy="219456"/>
          </a:xfrm>
          <a:prstGeom prst="rect">
            <a:avLst/>
          </a:prstGeom>
        </p:spPr>
      </p:pic>
      <p:sp>
        <p:nvSpPr>
          <p:cNvPr id="49" name="candidate label 48"/>
          <p:cNvSpPr txBox="1"/>
          <p:nvPr/>
        </p:nvSpPr>
        <p:spPr>
          <a:xfrm>
            <a:off x="2999232" y="2340864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hyper-parameters</a:t>
            </a:r>
            <a:endParaRPr lang="en-US" sz="640" dirty="0"/>
          </a:p>
        </p:txBody>
      </p:sp>
      <p:sp>
        <p:nvSpPr>
          <p:cNvPr id="50" name="candidate tile 49"/>
          <p:cNvSpPr/>
          <p:nvPr/>
        </p:nvSpPr>
        <p:spPr>
          <a:xfrm>
            <a:off x="2980944" y="2688336"/>
            <a:ext cx="731520" cy="585216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51" name="candidate icon 50" descr="candidat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6976" y="2752344"/>
            <a:ext cx="219456" cy="219456"/>
          </a:xfrm>
          <a:prstGeom prst="rect">
            <a:avLst/>
          </a:prstGeom>
        </p:spPr>
      </p:pic>
      <p:sp>
        <p:nvSpPr>
          <p:cNvPr id="52" name="candidate label 51"/>
          <p:cNvSpPr txBox="1"/>
          <p:nvPr/>
        </p:nvSpPr>
        <p:spPr>
          <a:xfrm>
            <a:off x="2999232" y="299923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settings</a:t>
            </a:r>
            <a:endParaRPr lang="en-US" sz="640" dirty="0"/>
          </a:p>
        </p:txBody>
      </p:sp>
      <p:sp>
        <p:nvSpPr>
          <p:cNvPr id="53" name="candidate tile 52"/>
          <p:cNvSpPr/>
          <p:nvPr/>
        </p:nvSpPr>
        <p:spPr>
          <a:xfrm>
            <a:off x="2980944" y="3346704"/>
            <a:ext cx="731520" cy="585216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54" name="candidate icon 53" descr="candidat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6976" y="3410712"/>
            <a:ext cx="219456" cy="219456"/>
          </a:xfrm>
          <a:prstGeom prst="rect">
            <a:avLst/>
          </a:prstGeom>
        </p:spPr>
      </p:pic>
      <p:sp>
        <p:nvSpPr>
          <p:cNvPr id="55" name="candidate label 54"/>
          <p:cNvSpPr txBox="1"/>
          <p:nvPr/>
        </p:nvSpPr>
        <p:spPr>
          <a:xfrm>
            <a:off x="2999232" y="365760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 settings</a:t>
            </a:r>
            <a:endParaRPr lang="en-US" sz="640" dirty="0"/>
          </a:p>
        </p:txBody>
      </p:sp>
      <p:sp>
        <p:nvSpPr>
          <p:cNvPr id="56" name="sub-box 55"/>
          <p:cNvSpPr/>
          <p:nvPr/>
        </p:nvSpPr>
        <p:spPr>
          <a:xfrm>
            <a:off x="3877056" y="1645920"/>
            <a:ext cx="1188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7" name="stage title 56"/>
          <p:cNvSpPr txBox="1"/>
          <p:nvPr/>
        </p:nvSpPr>
        <p:spPr>
          <a:xfrm>
            <a:off x="3913632" y="16733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F(θ) per environment</a:t>
            </a:r>
            <a:endParaRPr lang="en-US" sz="850" dirty="0"/>
          </a:p>
        </p:txBody>
      </p:sp>
      <p:sp>
        <p:nvSpPr>
          <p:cNvPr id="58" name="stage subtitle 57"/>
          <p:cNvSpPr txBox="1"/>
          <p:nvPr/>
        </p:nvSpPr>
        <p:spPr>
          <a:xfrm>
            <a:off x="3913632" y="194767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(temporal &amp; site shifts, e ∈ E)</a:t>
            </a:r>
            <a:endParaRPr lang="en-US" sz="620" dirty="0"/>
          </a:p>
        </p:txBody>
      </p:sp>
      <p:sp>
        <p:nvSpPr>
          <p:cNvPr id="59" name="evaluation tile 58"/>
          <p:cNvSpPr/>
          <p:nvPr/>
        </p:nvSpPr>
        <p:spPr>
          <a:xfrm>
            <a:off x="3931920" y="2121408"/>
            <a:ext cx="1078992" cy="338328"/>
          </a:xfrm>
          <a:prstGeom prst="roundRect">
            <a:avLst>
              <a:gd name="adj" fmla="val 10811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60" name="evaluation icon 59" descr="evaluation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7640" y="2203704"/>
            <a:ext cx="173736" cy="173736"/>
          </a:xfrm>
          <a:prstGeom prst="rect">
            <a:avLst/>
          </a:prstGeom>
        </p:spPr>
      </p:pic>
      <p:sp>
        <p:nvSpPr>
          <p:cNvPr id="61" name="evaluation label 60"/>
          <p:cNvSpPr txBox="1"/>
          <p:nvPr/>
        </p:nvSpPr>
        <p:spPr>
          <a:xfrm>
            <a:off x="4187952" y="2139696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50" b="1" baseline="-40000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loss</a:t>
            </a:r>
            <a:endParaRPr lang="en-US" sz="650" dirty="0"/>
          </a:p>
        </p:txBody>
      </p:sp>
      <p:sp>
        <p:nvSpPr>
          <p:cNvPr id="62" name="evaluation tile 61"/>
          <p:cNvSpPr/>
          <p:nvPr/>
        </p:nvSpPr>
        <p:spPr>
          <a:xfrm>
            <a:off x="3931920" y="2500884"/>
            <a:ext cx="1078992" cy="338328"/>
          </a:xfrm>
          <a:prstGeom prst="roundRect">
            <a:avLst>
              <a:gd name="adj" fmla="val 10811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63" name="evaluation icon 62" descr="evaluation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7640" y="2583180"/>
            <a:ext cx="173736" cy="173736"/>
          </a:xfrm>
          <a:prstGeom prst="rect">
            <a:avLst/>
          </a:prstGeom>
        </p:spPr>
      </p:pic>
      <p:sp>
        <p:nvSpPr>
          <p:cNvPr id="64" name="evaluation label 63"/>
          <p:cNvSpPr txBox="1"/>
          <p:nvPr/>
        </p:nvSpPr>
        <p:spPr>
          <a:xfrm>
            <a:off x="4187952" y="2519172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50" b="1" baseline="-40000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sparsity &amp; temporal stability</a:t>
            </a:r>
            <a:endParaRPr lang="en-US" sz="650" dirty="0"/>
          </a:p>
        </p:txBody>
      </p:sp>
      <p:sp>
        <p:nvSpPr>
          <p:cNvPr id="65" name="evaluation tile 64"/>
          <p:cNvSpPr/>
          <p:nvPr/>
        </p:nvSpPr>
        <p:spPr>
          <a:xfrm>
            <a:off x="3931920" y="2880360"/>
            <a:ext cx="1078992" cy="338328"/>
          </a:xfrm>
          <a:prstGeom prst="roundRect">
            <a:avLst>
              <a:gd name="adj" fmla="val 10811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66" name="evaluation icon 65" descr="evaluatio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7640" y="2962656"/>
            <a:ext cx="173736" cy="173736"/>
          </a:xfrm>
          <a:prstGeom prst="rect">
            <a:avLst/>
          </a:prstGeom>
        </p:spPr>
      </p:pic>
      <p:sp>
        <p:nvSpPr>
          <p:cNvPr id="67" name="evaluation label 66"/>
          <p:cNvSpPr txBox="1"/>
          <p:nvPr/>
        </p:nvSpPr>
        <p:spPr>
          <a:xfrm>
            <a:off x="4187952" y="2898648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50" b="1" baseline="-40000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worst-group loss</a:t>
            </a:r>
            <a:endParaRPr lang="en-US" sz="650" dirty="0"/>
          </a:p>
        </p:txBody>
      </p:sp>
      <p:sp>
        <p:nvSpPr>
          <p:cNvPr id="68" name="evaluation tile 67"/>
          <p:cNvSpPr/>
          <p:nvPr/>
        </p:nvSpPr>
        <p:spPr>
          <a:xfrm>
            <a:off x="3931920" y="3259836"/>
            <a:ext cx="1078992" cy="338328"/>
          </a:xfrm>
          <a:prstGeom prst="roundRect">
            <a:avLst>
              <a:gd name="adj" fmla="val 10811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69" name="evaluation icon 68" descr="evaluation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77640" y="3342132"/>
            <a:ext cx="173736" cy="173736"/>
          </a:xfrm>
          <a:prstGeom prst="rect">
            <a:avLst/>
          </a:prstGeom>
        </p:spPr>
      </p:pic>
      <p:sp>
        <p:nvSpPr>
          <p:cNvPr id="70" name="evaluation label 69"/>
          <p:cNvSpPr txBox="1"/>
          <p:nvPr/>
        </p:nvSpPr>
        <p:spPr>
          <a:xfrm>
            <a:off x="4187952" y="3278124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50" b="1" baseline="-40000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size / interval width</a:t>
            </a:r>
            <a:endParaRPr lang="en-US" sz="650" dirty="0"/>
          </a:p>
        </p:txBody>
      </p:sp>
      <p:sp>
        <p:nvSpPr>
          <p:cNvPr id="71" name="evaluation tile 70"/>
          <p:cNvSpPr/>
          <p:nvPr/>
        </p:nvSpPr>
        <p:spPr>
          <a:xfrm>
            <a:off x="3931920" y="3639312"/>
            <a:ext cx="1078992" cy="338328"/>
          </a:xfrm>
          <a:prstGeom prst="roundRect">
            <a:avLst>
              <a:gd name="adj" fmla="val 10811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dash"/>
          </a:ln>
        </p:spPr>
      </p:sp>
      <p:pic>
        <p:nvPicPr>
          <p:cNvPr id="72" name="evaluation icon 71" descr="evaluation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7640" y="3721608"/>
            <a:ext cx="173736" cy="173736"/>
          </a:xfrm>
          <a:prstGeom prst="rect">
            <a:avLst/>
          </a:prstGeom>
        </p:spPr>
      </p:pic>
      <p:sp>
        <p:nvSpPr>
          <p:cNvPr id="73" name="evaluation label 72"/>
          <p:cNvSpPr txBox="1"/>
          <p:nvPr/>
        </p:nvSpPr>
        <p:spPr>
          <a:xfrm>
            <a:off x="4187952" y="3657600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coverage (by subgroup &amp; site)</a:t>
            </a:r>
            <a:endParaRPr lang="en-US" sz="650" dirty="0"/>
          </a:p>
        </p:txBody>
      </p:sp>
      <p:sp>
        <p:nvSpPr>
          <p:cNvPr id="74" name="sub-box 73"/>
          <p:cNvSpPr/>
          <p:nvPr/>
        </p:nvSpPr>
        <p:spPr>
          <a:xfrm>
            <a:off x="5175504" y="1645920"/>
            <a:ext cx="1243584" cy="237744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5" name="stage title 74"/>
          <p:cNvSpPr txBox="1"/>
          <p:nvPr/>
        </p:nvSpPr>
        <p:spPr>
          <a:xfrm>
            <a:off x="5212080" y="16733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 &amp; shift-aware selection</a:t>
            </a:r>
            <a:endParaRPr lang="en-US" sz="850" dirty="0"/>
          </a:p>
        </p:txBody>
      </p:sp>
      <p:sp>
        <p:nvSpPr>
          <p:cNvPr id="76" name="selection tile 75"/>
          <p:cNvSpPr/>
          <p:nvPr/>
        </p:nvSpPr>
        <p:spPr>
          <a:xfrm>
            <a:off x="5230368" y="1984248"/>
            <a:ext cx="1133856" cy="786384"/>
          </a:xfrm>
          <a:prstGeom prst="roundRect">
            <a:avLst>
              <a:gd name="adj" fmla="val 4651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77" name="text 76"/>
          <p:cNvSpPr txBox="1"/>
          <p:nvPr/>
        </p:nvSpPr>
        <p:spPr>
          <a:xfrm>
            <a:off x="5248656" y="199339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Coverage-constrained selection</a:t>
            </a:r>
            <a:endParaRPr lang="en-US" sz="660" dirty="0"/>
          </a:p>
        </p:txBody>
      </p:sp>
      <p:pic>
        <p:nvPicPr>
          <p:cNvPr id="78" name="feasibility: coverage at least 90% 77" descr="feasibility: coverage at least 90%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5232" y="2203704"/>
            <a:ext cx="1024128" cy="503834"/>
          </a:xfrm>
          <a:prstGeom prst="rect">
            <a:avLst/>
          </a:prstGeom>
        </p:spPr>
      </p:pic>
      <p:sp>
        <p:nvSpPr>
          <p:cNvPr id="79" name="ranking tile 78"/>
          <p:cNvSpPr/>
          <p:nvPr/>
        </p:nvSpPr>
        <p:spPr>
          <a:xfrm>
            <a:off x="5230368" y="2825496"/>
            <a:ext cx="1133856" cy="704088"/>
          </a:xfrm>
          <a:prstGeom prst="roundRect">
            <a:avLst>
              <a:gd name="adj" fmla="val 5195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80" name="text 79"/>
          <p:cNvSpPr txBox="1"/>
          <p:nvPr/>
        </p:nvSpPr>
        <p:spPr>
          <a:xfrm>
            <a:off x="5248656" y="2834640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Environment-aware robustness ranking</a:t>
            </a:r>
            <a:endParaRPr lang="en-US" sz="660" dirty="0"/>
          </a:p>
        </p:txBody>
      </p:sp>
      <p:pic>
        <p:nvPicPr>
          <p:cNvPr id="81" name="ranking by worst-environment loss 80" descr="ranking by worst-environment loss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85232" y="3044952"/>
            <a:ext cx="1024128" cy="419710"/>
          </a:xfrm>
          <a:prstGeom prst="rect">
            <a:avLst/>
          </a:prstGeom>
        </p:spPr>
      </p:pic>
      <p:sp>
        <p:nvSpPr>
          <p:cNvPr id="82" name="refinement tile 81"/>
          <p:cNvSpPr/>
          <p:nvPr/>
        </p:nvSpPr>
        <p:spPr>
          <a:xfrm>
            <a:off x="5230368" y="3584448"/>
            <a:ext cx="1133856" cy="384048"/>
          </a:xfrm>
          <a:prstGeom prst="roundRect">
            <a:avLst>
              <a:gd name="adj" fmla="val 9524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83" name="feedback icon 82" descr="feedba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76088" y="3685032"/>
            <a:ext cx="182880" cy="182880"/>
          </a:xfrm>
          <a:prstGeom prst="rect">
            <a:avLst/>
          </a:prstGeom>
        </p:spPr>
      </p:pic>
      <p:sp>
        <p:nvSpPr>
          <p:cNvPr id="84" name="text 83"/>
          <p:cNvSpPr txBox="1"/>
          <p:nvPr/>
        </p:nvSpPr>
        <p:spPr>
          <a:xfrm>
            <a:off x="5495544" y="3602736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Faithfulness-informed refinement (from WP3)</a:t>
            </a:r>
            <a:endParaRPr lang="en-US" sz="640" dirty="0"/>
          </a:p>
        </p:txBody>
      </p:sp>
      <p:sp>
        <p:nvSpPr>
          <p:cNvPr id="85" name="sub-box 84"/>
          <p:cNvSpPr/>
          <p:nvPr/>
        </p:nvSpPr>
        <p:spPr>
          <a:xfrm>
            <a:off x="6528816" y="1645920"/>
            <a:ext cx="1984248" cy="2377440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6" name="stage title 85"/>
          <p:cNvSpPr txBox="1"/>
          <p:nvPr/>
        </p:nvSpPr>
        <p:spPr>
          <a:xfrm>
            <a:off x="6565392" y="1673352"/>
            <a:ext cx="1911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Pareto-frontier characterisation</a:t>
            </a:r>
            <a:endParaRPr lang="en-US" sz="850" dirty="0"/>
          </a:p>
        </p:txBody>
      </p:sp>
      <p:sp>
        <p:nvSpPr>
          <p:cNvPr id="87" name="stage subtitle 86"/>
          <p:cNvSpPr txBox="1"/>
          <p:nvPr/>
        </p:nvSpPr>
        <p:spPr>
          <a:xfrm>
            <a:off x="6565392" y="1828800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(illustrative; 2 of 4 objectives shown)</a:t>
            </a:r>
            <a:endParaRPr lang="en-US" sz="620" dirty="0"/>
          </a:p>
        </p:txBody>
      </p:sp>
      <p:pic>
        <p:nvPicPr>
          <p:cNvPr id="88" name="Pareto front, knee region and front under shift 87" descr="Pareto front, knee region and front under shift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6248" y="1965960"/>
            <a:ext cx="1280160" cy="1623060"/>
          </a:xfrm>
          <a:prstGeom prst="rect">
            <a:avLst/>
          </a:prstGeom>
        </p:spPr>
      </p:pic>
      <p:sp>
        <p:nvSpPr>
          <p:cNvPr id="89" name="text 88"/>
          <p:cNvSpPr txBox="1"/>
          <p:nvPr/>
        </p:nvSpPr>
        <p:spPr>
          <a:xfrm>
            <a:off x="7818120" y="1984248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correlation</a:t>
            </a:r>
            <a:endParaRPr lang="en-US" sz="600" dirty="0"/>
          </a:p>
        </p:txBody>
      </p:sp>
      <p:pic>
        <p:nvPicPr>
          <p:cNvPr id="90" name="objective correlation across the Pareto set 89" descr="objective correlation across the Pareto set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36408" y="2139696"/>
            <a:ext cx="640080" cy="640080"/>
          </a:xfrm>
          <a:prstGeom prst="rect">
            <a:avLst/>
          </a:prstGeom>
        </p:spPr>
      </p:pic>
      <p:sp>
        <p:nvSpPr>
          <p:cNvPr id="91" name="legend swatch 90"/>
          <p:cNvSpPr/>
          <p:nvPr/>
        </p:nvSpPr>
        <p:spPr>
          <a:xfrm>
            <a:off x="7863840" y="2852928"/>
            <a:ext cx="91440" cy="73152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92" name="text 91"/>
          <p:cNvSpPr txBox="1"/>
          <p:nvPr/>
        </p:nvSpPr>
        <p:spPr>
          <a:xfrm>
            <a:off x="7982712" y="282549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gain</a:t>
            </a:r>
            <a:endParaRPr lang="en-US" sz="600" dirty="0"/>
          </a:p>
        </p:txBody>
      </p:sp>
      <p:sp>
        <p:nvSpPr>
          <p:cNvPr id="93" name="legend swatch 92"/>
          <p:cNvSpPr/>
          <p:nvPr/>
        </p:nvSpPr>
        <p:spPr>
          <a:xfrm>
            <a:off x="7863840" y="2999232"/>
            <a:ext cx="91440" cy="73152"/>
          </a:xfrm>
          <a:prstGeom prst="rect">
            <a:avLst/>
          </a:prstGeom>
          <a:solidFill>
            <a:srgbClr val="E0533C"/>
          </a:solidFill>
          <a:ln/>
        </p:spPr>
      </p:sp>
      <p:sp>
        <p:nvSpPr>
          <p:cNvPr id="94" name="text 93"/>
          <p:cNvSpPr txBox="1"/>
          <p:nvPr/>
        </p:nvSpPr>
        <p:spPr>
          <a:xfrm>
            <a:off x="7982712" y="2971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95" name="representative note 94"/>
          <p:cNvSpPr txBox="1"/>
          <p:nvPr/>
        </p:nvSpPr>
        <p:spPr>
          <a:xfrm>
            <a:off x="7827264" y="318211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C9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→ WP3, WP4</a:t>
            </a:r>
            <a:endParaRPr lang="en-US" sz="580" dirty="0"/>
          </a:p>
        </p:txBody>
      </p:sp>
      <p:sp>
        <p:nvSpPr>
          <p:cNvPr id="96" name="benchmark tile 95"/>
          <p:cNvSpPr/>
          <p:nvPr/>
        </p:nvSpPr>
        <p:spPr>
          <a:xfrm>
            <a:off x="6583680" y="3639312"/>
            <a:ext cx="1874520" cy="310896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9525">
            <a:solidFill>
              <a:srgbClr val="E6B422"/>
            </a:solidFill>
            <a:prstDash val="solid"/>
          </a:ln>
        </p:spPr>
      </p:sp>
      <p:pic>
        <p:nvPicPr>
          <p:cNvPr id="97" name="benchmark icon 96" descr="benchmark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9400" y="3712464"/>
            <a:ext cx="164592" cy="164592"/>
          </a:xfrm>
          <a:prstGeom prst="rect">
            <a:avLst/>
          </a:prstGeom>
        </p:spPr>
      </p:pic>
      <p:sp>
        <p:nvSpPr>
          <p:cNvPr id="98" name="text 97"/>
          <p:cNvSpPr txBox="1"/>
          <p:nvPr/>
        </p:nvSpPr>
        <p:spPr>
          <a:xfrm>
            <a:off x="6830568" y="36576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 established methods</a:t>
            </a:r>
            <a:endParaRPr lang="en-US" sz="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· front quality under shift</a:t>
            </a:r>
            <a:endParaRPr lang="en-US" sz="600" dirty="0"/>
          </a:p>
        </p:txBody>
      </p:sp>
      <p:sp>
        <p:nvSpPr>
          <p:cNvPr id="99" name="step arrow 98"/>
          <p:cNvSpPr/>
          <p:nvPr/>
        </p:nvSpPr>
        <p:spPr>
          <a:xfrm>
            <a:off x="3771900" y="274320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0" name="step arrow 99"/>
          <p:cNvSpPr/>
          <p:nvPr/>
        </p:nvSpPr>
        <p:spPr>
          <a:xfrm>
            <a:off x="5070348" y="274320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1" name="step arrow 100"/>
          <p:cNvSpPr/>
          <p:nvPr/>
        </p:nvSpPr>
        <p:spPr>
          <a:xfrm>
            <a:off x="6423660" y="274320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2" name="iterate loop 101"/>
          <p:cNvSpPr/>
          <p:nvPr/>
        </p:nvSpPr>
        <p:spPr>
          <a:xfrm>
            <a:off x="5797296" y="4023360"/>
            <a:ext cx="0" cy="118872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03" name="iterate loop 102"/>
          <p:cNvSpPr/>
          <p:nvPr/>
        </p:nvSpPr>
        <p:spPr>
          <a:xfrm flipH="1">
            <a:off x="3346704" y="4142232"/>
            <a:ext cx="24505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04" name="iterate loop 103"/>
          <p:cNvSpPr/>
          <p:nvPr/>
        </p:nvSpPr>
        <p:spPr>
          <a:xfrm flipV="1">
            <a:off x="3346704" y="4023360"/>
            <a:ext cx="0" cy="118872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05" name="text 104"/>
          <p:cNvSpPr txBox="1"/>
          <p:nvPr/>
        </p:nvSpPr>
        <p:spPr>
          <a:xfrm>
            <a:off x="3401568" y="41788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variation (crossover, mutation) → new population</a:t>
            </a:r>
            <a:endParaRPr lang="en-US" sz="750" dirty="0"/>
          </a:p>
        </p:txBody>
      </p:sp>
      <p:sp>
        <p:nvSpPr>
          <p:cNvPr id="106" name="panel WP3 105"/>
          <p:cNvSpPr/>
          <p:nvPr/>
        </p:nvSpPr>
        <p:spPr>
          <a:xfrm>
            <a:off x="8970264" y="1188720"/>
            <a:ext cx="3108960" cy="327355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07" name="panel title 106"/>
          <p:cNvSpPr txBox="1"/>
          <p:nvPr/>
        </p:nvSpPr>
        <p:spPr>
          <a:xfrm>
            <a:off x="9079992" y="1234440"/>
            <a:ext cx="2889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Verification and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</a:t>
            </a:r>
            <a:endParaRPr lang="en-US" sz="1500" dirty="0"/>
          </a:p>
        </p:txBody>
      </p:sp>
      <p:sp>
        <p:nvSpPr>
          <p:cNvPr id="108" name="month pill 107"/>
          <p:cNvSpPr/>
          <p:nvPr/>
        </p:nvSpPr>
        <p:spPr>
          <a:xfrm>
            <a:off x="10875874" y="147218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09" name="months 108"/>
          <p:cNvSpPr txBox="1"/>
          <p:nvPr/>
        </p:nvSpPr>
        <p:spPr>
          <a:xfrm>
            <a:off x="10875874" y="1472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M8–22</a:t>
            </a:r>
            <a:endParaRPr lang="en-US" sz="800" dirty="0"/>
          </a:p>
        </p:txBody>
      </p:sp>
      <p:sp>
        <p:nvSpPr>
          <p:cNvPr id="110" name="sub-box 109"/>
          <p:cNvSpPr/>
          <p:nvPr/>
        </p:nvSpPr>
        <p:spPr>
          <a:xfrm>
            <a:off x="9043416" y="1719072"/>
            <a:ext cx="2962656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11" name="sub-box title 110"/>
          <p:cNvSpPr txBox="1"/>
          <p:nvPr/>
        </p:nvSpPr>
        <p:spPr>
          <a:xfrm>
            <a:off x="9107424" y="1746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Explanation faithfulness</a:t>
            </a:r>
            <a:endParaRPr lang="en-US" sz="950" dirty="0"/>
          </a:p>
        </p:txBody>
      </p:sp>
      <p:sp>
        <p:nvSpPr>
          <p:cNvPr id="112" name="text 111"/>
          <p:cNvSpPr txBox="1"/>
          <p:nvPr/>
        </p:nvSpPr>
        <p:spPr>
          <a:xfrm>
            <a:off x="10561320" y="17556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+ controlled perturbation</a:t>
            </a:r>
            <a:endParaRPr lang="en-US" sz="630" dirty="0"/>
          </a:p>
        </p:txBody>
      </p:sp>
      <p:sp>
        <p:nvSpPr>
          <p:cNvPr id="113" name="faithfulness tile 112"/>
          <p:cNvSpPr/>
          <p:nvPr/>
        </p:nvSpPr>
        <p:spPr>
          <a:xfrm>
            <a:off x="9098280" y="1965960"/>
            <a:ext cx="914400" cy="1014984"/>
          </a:xfrm>
          <a:prstGeom prst="roundRect">
            <a:avLst>
              <a:gd name="adj" fmla="val 400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14" name="text 113"/>
          <p:cNvSpPr txBox="1"/>
          <p:nvPr/>
        </p:nvSpPr>
        <p:spPr>
          <a:xfrm>
            <a:off x="9125712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Physiology-based perturbation</a:t>
            </a:r>
            <a:endParaRPr lang="en-US" sz="660" dirty="0"/>
          </a:p>
        </p:txBody>
      </p:sp>
      <p:pic>
        <p:nvPicPr>
          <p:cNvPr id="115" name="faithfulness graphic 114" descr="faithfulness graphic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25712" y="2221992"/>
            <a:ext cx="859536" cy="578815"/>
          </a:xfrm>
          <a:prstGeom prst="rect">
            <a:avLst/>
          </a:prstGeom>
        </p:spPr>
      </p:pic>
      <p:sp>
        <p:nvSpPr>
          <p:cNvPr id="116" name="faithfulness tile 115"/>
          <p:cNvSpPr/>
          <p:nvPr/>
        </p:nvSpPr>
        <p:spPr>
          <a:xfrm>
            <a:off x="10067544" y="1965960"/>
            <a:ext cx="914400" cy="1014984"/>
          </a:xfrm>
          <a:prstGeom prst="roundRect">
            <a:avLst>
              <a:gd name="adj" fmla="val 400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17" name="text 116"/>
          <p:cNvSpPr txBox="1"/>
          <p:nvPr/>
        </p:nvSpPr>
        <p:spPr>
          <a:xfrm>
            <a:off x="10094976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vs. observed response</a:t>
            </a:r>
            <a:endParaRPr lang="en-US" sz="660" dirty="0"/>
          </a:p>
        </p:txBody>
      </p:sp>
      <p:pic>
        <p:nvPicPr>
          <p:cNvPr id="118" name="faithfulness graphic 117" descr="faithfulness graphic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94976" y="2221992"/>
            <a:ext cx="859536" cy="578815"/>
          </a:xfrm>
          <a:prstGeom prst="rect">
            <a:avLst/>
          </a:prstGeom>
        </p:spPr>
      </p:pic>
      <p:sp>
        <p:nvSpPr>
          <p:cNvPr id="119" name="faithfulness tile 118"/>
          <p:cNvSpPr/>
          <p:nvPr/>
        </p:nvSpPr>
        <p:spPr>
          <a:xfrm>
            <a:off x="11036808" y="1965960"/>
            <a:ext cx="914400" cy="1014984"/>
          </a:xfrm>
          <a:prstGeom prst="roundRect">
            <a:avLst>
              <a:gd name="adj" fmla="val 400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20" name="text 119"/>
          <p:cNvSpPr txBox="1"/>
          <p:nvPr/>
        </p:nvSpPr>
        <p:spPr>
          <a:xfrm>
            <a:off x="11064240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/ insertion fidelity</a:t>
            </a:r>
            <a:endParaRPr lang="en-US" sz="660" dirty="0"/>
          </a:p>
        </p:txBody>
      </p:sp>
      <p:pic>
        <p:nvPicPr>
          <p:cNvPr id="121" name="faithfulness graphic 120" descr="faithfulness graphic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64240" y="2221992"/>
            <a:ext cx="859536" cy="578815"/>
          </a:xfrm>
          <a:prstGeom prst="rect">
            <a:avLst/>
          </a:prstGeom>
        </p:spPr>
      </p:pic>
      <p:sp>
        <p:nvSpPr>
          <p:cNvPr id="122" name="sub-box 121"/>
          <p:cNvSpPr/>
          <p:nvPr/>
        </p:nvSpPr>
        <p:spPr>
          <a:xfrm>
            <a:off x="9043416" y="3090672"/>
            <a:ext cx="2962656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23" name="sub-box title 122"/>
          <p:cNvSpPr txBox="1"/>
          <p:nvPr/>
        </p:nvSpPr>
        <p:spPr>
          <a:xfrm>
            <a:off x="9107424" y="31181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Performance &amp; coverage under shift</a:t>
            </a:r>
            <a:endParaRPr lang="en-US" sz="950" dirty="0"/>
          </a:p>
        </p:txBody>
      </p:sp>
      <p:sp>
        <p:nvSpPr>
          <p:cNvPr id="124" name="validation chip 123"/>
          <p:cNvSpPr/>
          <p:nvPr/>
        </p:nvSpPr>
        <p:spPr>
          <a:xfrm>
            <a:off x="9098280" y="3328416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sp>
        <p:nvSpPr>
          <p:cNvPr id="125" name="text 124"/>
          <p:cNvSpPr txBox="1"/>
          <p:nvPr/>
        </p:nvSpPr>
        <p:spPr>
          <a:xfrm>
            <a:off x="9098280" y="3328416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60" dirty="0"/>
          </a:p>
        </p:txBody>
      </p:sp>
      <p:sp>
        <p:nvSpPr>
          <p:cNvPr id="126" name="chip arrow 125"/>
          <p:cNvSpPr/>
          <p:nvPr/>
        </p:nvSpPr>
        <p:spPr>
          <a:xfrm rot="5400000">
            <a:off x="9738360" y="3419856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27" name="validation chip 126"/>
          <p:cNvSpPr/>
          <p:nvPr/>
        </p:nvSpPr>
        <p:spPr>
          <a:xfrm>
            <a:off x="9825228" y="3328416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128" name="text 127"/>
          <p:cNvSpPr txBox="1"/>
          <p:nvPr/>
        </p:nvSpPr>
        <p:spPr>
          <a:xfrm>
            <a:off x="9825228" y="3328416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hold-out</a:t>
            </a:r>
            <a:endParaRPr lang="en-US" sz="560" dirty="0"/>
          </a:p>
        </p:txBody>
      </p:sp>
      <p:sp>
        <p:nvSpPr>
          <p:cNvPr id="129" name="chip arrow 128"/>
          <p:cNvSpPr/>
          <p:nvPr/>
        </p:nvSpPr>
        <p:spPr>
          <a:xfrm rot="5400000">
            <a:off x="10465308" y="3419856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30" name="validation chip 129"/>
          <p:cNvSpPr/>
          <p:nvPr/>
        </p:nvSpPr>
        <p:spPr>
          <a:xfrm>
            <a:off x="10552176" y="3328416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31" name="text 130"/>
          <p:cNvSpPr txBox="1"/>
          <p:nvPr/>
        </p:nvSpPr>
        <p:spPr>
          <a:xfrm>
            <a:off x="10552176" y="3328416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cross-hospital</a:t>
            </a:r>
            <a:endParaRPr lang="en-US" sz="560" dirty="0"/>
          </a:p>
        </p:txBody>
      </p:sp>
      <p:sp>
        <p:nvSpPr>
          <p:cNvPr id="132" name="chip arrow 131"/>
          <p:cNvSpPr/>
          <p:nvPr/>
        </p:nvSpPr>
        <p:spPr>
          <a:xfrm rot="5400000">
            <a:off x="11192256" y="3419856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33" name="validation chip 132"/>
          <p:cNvSpPr/>
          <p:nvPr/>
        </p:nvSpPr>
        <p:spPr>
          <a:xfrm>
            <a:off x="11279124" y="3328416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sp>
        <p:nvSpPr>
          <p:cNvPr id="134" name="text 133"/>
          <p:cNvSpPr txBox="1"/>
          <p:nvPr/>
        </p:nvSpPr>
        <p:spPr>
          <a:xfrm>
            <a:off x="11279124" y="3328416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London A&amp;E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task</a:t>
            </a:r>
            <a:endParaRPr lang="en-US" sz="560" dirty="0"/>
          </a:p>
        </p:txBody>
      </p:sp>
      <p:pic>
        <p:nvPicPr>
          <p:cNvPr id="135" name="coverage per environment vs 90% target 134" descr="coverage per environment vs 90% target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07424" y="3593592"/>
            <a:ext cx="2834640" cy="544982"/>
          </a:xfrm>
          <a:prstGeom prst="rect">
            <a:avLst/>
          </a:prstGeom>
        </p:spPr>
      </p:pic>
      <p:sp>
        <p:nvSpPr>
          <p:cNvPr id="136" name="text 135"/>
          <p:cNvSpPr txBox="1"/>
          <p:nvPr/>
        </p:nvSpPr>
        <p:spPr>
          <a:xfrm>
            <a:off x="9098280" y="4178808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on development data · compared with shift-robust conformal baselines</a:t>
            </a:r>
            <a:endParaRPr lang="en-US" sz="600" dirty="0"/>
          </a:p>
        </p:txBody>
      </p:sp>
      <p:sp>
        <p:nvSpPr>
          <p:cNvPr id="137" name="panel WP4 136"/>
          <p:cNvSpPr/>
          <p:nvPr/>
        </p:nvSpPr>
        <p:spPr>
          <a:xfrm>
            <a:off x="109728" y="4773168"/>
            <a:ext cx="5788152" cy="2011680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38" name="panel title 137"/>
          <p:cNvSpPr txBox="1"/>
          <p:nvPr/>
        </p:nvSpPr>
        <p:spPr>
          <a:xfrm>
            <a:off x="219456" y="4818888"/>
            <a:ext cx="55686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WP4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and Uncertainty Evaluation</a:t>
            </a:r>
            <a:endParaRPr lang="en-US" sz="1500" dirty="0"/>
          </a:p>
        </p:txBody>
      </p:sp>
      <p:sp>
        <p:nvSpPr>
          <p:cNvPr id="139" name="month pill 138"/>
          <p:cNvSpPr/>
          <p:nvPr/>
        </p:nvSpPr>
        <p:spPr>
          <a:xfrm>
            <a:off x="3963010" y="484174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40" name="months 139"/>
          <p:cNvSpPr txBox="1"/>
          <p:nvPr/>
        </p:nvSpPr>
        <p:spPr>
          <a:xfrm>
            <a:off x="3963010" y="48417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M14–22</a:t>
            </a:r>
            <a:endParaRPr lang="en-US" sz="800" dirty="0"/>
          </a:p>
        </p:txBody>
      </p:sp>
      <p:sp>
        <p:nvSpPr>
          <p:cNvPr id="141" name="goal 140"/>
          <p:cNvSpPr txBox="1"/>
          <p:nvPr/>
        </p:nvSpPr>
        <p:spPr>
          <a:xfrm>
            <a:off x="219456" y="508406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jointly optimised, uncertainty-aware outputs support appropriate clinical reliance?</a:t>
            </a:r>
            <a:endParaRPr lang="en-US" sz="750" dirty="0"/>
          </a:p>
        </p:txBody>
      </p:sp>
      <p:sp>
        <p:nvSpPr>
          <p:cNvPr id="142" name="sub-box 141"/>
          <p:cNvSpPr/>
          <p:nvPr/>
        </p:nvSpPr>
        <p:spPr>
          <a:xfrm>
            <a:off x="182880" y="5303520"/>
            <a:ext cx="896112" cy="1408176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pic>
        <p:nvPicPr>
          <p:cNvPr id="143" name="photo: ICU clinicians at a monitoring workstation 142" descr="photo: ICU clinicians at a monitoring workstation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9456" y="5349240"/>
            <a:ext cx="822960" cy="548640"/>
          </a:xfrm>
          <a:prstGeom prst="rect">
            <a:avLst/>
          </a:prstGeom>
        </p:spPr>
      </p:pic>
      <p:sp>
        <p:nvSpPr>
          <p:cNvPr id="144" name="who 143"/>
          <p:cNvSpPr txBox="1"/>
          <p:nvPr/>
        </p:nvSpPr>
        <p:spPr>
          <a:xfrm>
            <a:off x="219456" y="5943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clinicians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balanced, de-identified cases</a:t>
            </a:r>
            <a:endParaRPr lang="en-US" sz="700" dirty="0"/>
          </a:p>
        </p:txBody>
      </p:sp>
      <p:sp>
        <p:nvSpPr>
          <p:cNvPr id="145" name="step arrow 144"/>
          <p:cNvSpPr/>
          <p:nvPr/>
        </p:nvSpPr>
        <p:spPr>
          <a:xfrm>
            <a:off x="1083564" y="5916168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46" name="sub-box 145"/>
          <p:cNvSpPr/>
          <p:nvPr/>
        </p:nvSpPr>
        <p:spPr>
          <a:xfrm>
            <a:off x="1188720" y="5303520"/>
            <a:ext cx="2487168" cy="1408176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7" name="sub-box title 146"/>
          <p:cNvSpPr txBox="1"/>
          <p:nvPr/>
        </p:nvSpPr>
        <p:spPr>
          <a:xfrm>
            <a:off x="1252728" y="533095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output conditions</a:t>
            </a:r>
            <a:endParaRPr lang="en-US" sz="850" dirty="0"/>
          </a:p>
        </p:txBody>
      </p:sp>
      <p:sp>
        <p:nvSpPr>
          <p:cNvPr id="148" name="condition card 147"/>
          <p:cNvSpPr/>
          <p:nvPr/>
        </p:nvSpPr>
        <p:spPr>
          <a:xfrm>
            <a:off x="1243584" y="5550408"/>
            <a:ext cx="758952" cy="1106424"/>
          </a:xfrm>
          <a:prstGeom prst="roundRect">
            <a:avLst>
              <a:gd name="adj" fmla="val 4819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149" name="condition badge 148"/>
          <p:cNvSpPr/>
          <p:nvPr/>
        </p:nvSpPr>
        <p:spPr>
          <a:xfrm>
            <a:off x="1280160" y="55915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5B1"/>
          </a:solidFill>
          <a:ln/>
        </p:spPr>
      </p:sp>
      <p:sp>
        <p:nvSpPr>
          <p:cNvPr id="150" name="text 149"/>
          <p:cNvSpPr txBox="1"/>
          <p:nvPr/>
        </p:nvSpPr>
        <p:spPr>
          <a:xfrm>
            <a:off x="1280160" y="55915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50" dirty="0"/>
          </a:p>
        </p:txBody>
      </p:sp>
      <p:sp>
        <p:nvSpPr>
          <p:cNvPr id="151" name="text 150"/>
          <p:cNvSpPr txBox="1"/>
          <p:nvPr/>
        </p:nvSpPr>
        <p:spPr>
          <a:xfrm>
            <a:off x="1472184" y="55595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prediction</a:t>
            </a:r>
            <a:endParaRPr lang="en-US" sz="620" dirty="0"/>
          </a:p>
        </p:txBody>
      </p:sp>
      <p:sp>
        <p:nvSpPr>
          <p:cNvPr id="152" name="risk value 151"/>
          <p:cNvSpPr txBox="1"/>
          <p:nvPr/>
        </p:nvSpPr>
        <p:spPr>
          <a:xfrm>
            <a:off x="1271016" y="582472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700" dirty="0"/>
          </a:p>
        </p:txBody>
      </p:sp>
      <p:sp>
        <p:nvSpPr>
          <p:cNvPr id="153" name="risk scale 152"/>
          <p:cNvSpPr/>
          <p:nvPr/>
        </p:nvSpPr>
        <p:spPr>
          <a:xfrm>
            <a:off x="1316736" y="6007608"/>
            <a:ext cx="612648" cy="4114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54" name="risk marker 153"/>
          <p:cNvSpPr/>
          <p:nvPr/>
        </p:nvSpPr>
        <p:spPr>
          <a:xfrm>
            <a:off x="1478219" y="5975604"/>
            <a:ext cx="20117" cy="10515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5" name="text 154"/>
          <p:cNvSpPr txBox="1"/>
          <p:nvPr/>
        </p:nvSpPr>
        <p:spPr>
          <a:xfrm>
            <a:off x="1289304" y="6190488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only</a:t>
            </a:r>
            <a:endParaRPr lang="en-US" sz="630" dirty="0"/>
          </a:p>
        </p:txBody>
      </p:sp>
      <p:sp>
        <p:nvSpPr>
          <p:cNvPr id="156" name="condition card 155"/>
          <p:cNvSpPr/>
          <p:nvPr/>
        </p:nvSpPr>
        <p:spPr>
          <a:xfrm>
            <a:off x="2048256" y="5550408"/>
            <a:ext cx="758952" cy="1106424"/>
          </a:xfrm>
          <a:prstGeom prst="roundRect">
            <a:avLst>
              <a:gd name="adj" fmla="val 4819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sp>
        <p:nvSpPr>
          <p:cNvPr id="157" name="condition badge 156"/>
          <p:cNvSpPr/>
          <p:nvPr/>
        </p:nvSpPr>
        <p:spPr>
          <a:xfrm>
            <a:off x="2084832" y="55915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C88BD"/>
          </a:solidFill>
          <a:ln/>
        </p:spPr>
      </p:sp>
      <p:sp>
        <p:nvSpPr>
          <p:cNvPr id="158" name="text 157"/>
          <p:cNvSpPr txBox="1"/>
          <p:nvPr/>
        </p:nvSpPr>
        <p:spPr>
          <a:xfrm>
            <a:off x="2084832" y="55915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50" dirty="0"/>
          </a:p>
        </p:txBody>
      </p:sp>
      <p:sp>
        <p:nvSpPr>
          <p:cNvPr id="159" name="text 158"/>
          <p:cNvSpPr txBox="1"/>
          <p:nvPr/>
        </p:nvSpPr>
        <p:spPr>
          <a:xfrm>
            <a:off x="2276856" y="55595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Post-hoc explanation</a:t>
            </a:r>
            <a:endParaRPr lang="en-US" sz="620" dirty="0"/>
          </a:p>
        </p:txBody>
      </p:sp>
      <p:sp>
        <p:nvSpPr>
          <p:cNvPr id="160" name="risk value 159"/>
          <p:cNvSpPr txBox="1"/>
          <p:nvPr/>
        </p:nvSpPr>
        <p:spPr>
          <a:xfrm>
            <a:off x="2075688" y="582472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700" dirty="0"/>
          </a:p>
        </p:txBody>
      </p:sp>
      <p:sp>
        <p:nvSpPr>
          <p:cNvPr id="161" name="risk scale 160"/>
          <p:cNvSpPr/>
          <p:nvPr/>
        </p:nvSpPr>
        <p:spPr>
          <a:xfrm>
            <a:off x="2121408" y="6007608"/>
            <a:ext cx="612648" cy="4114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62" name="risk marker 161"/>
          <p:cNvSpPr/>
          <p:nvPr/>
        </p:nvSpPr>
        <p:spPr>
          <a:xfrm>
            <a:off x="2282891" y="5975604"/>
            <a:ext cx="20117" cy="105156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163" name="explanation shown to clinicians 162" descr="explanation shown to clinicians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89404" y="6153912"/>
            <a:ext cx="676656" cy="389077"/>
          </a:xfrm>
          <a:prstGeom prst="rect">
            <a:avLst/>
          </a:prstGeom>
        </p:spPr>
      </p:pic>
      <p:sp>
        <p:nvSpPr>
          <p:cNvPr id="164" name="condition card 163"/>
          <p:cNvSpPr/>
          <p:nvPr/>
        </p:nvSpPr>
        <p:spPr>
          <a:xfrm>
            <a:off x="2852928" y="5550408"/>
            <a:ext cx="758952" cy="1106424"/>
          </a:xfrm>
          <a:prstGeom prst="roundRect">
            <a:avLst>
              <a:gd name="adj" fmla="val 4819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65" name="condition badge 164"/>
          <p:cNvSpPr/>
          <p:nvPr/>
        </p:nvSpPr>
        <p:spPr>
          <a:xfrm>
            <a:off x="2889504" y="55915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18B73"/>
          </a:solidFill>
          <a:ln/>
        </p:spPr>
      </p:sp>
      <p:sp>
        <p:nvSpPr>
          <p:cNvPr id="166" name="text 165"/>
          <p:cNvSpPr txBox="1"/>
          <p:nvPr/>
        </p:nvSpPr>
        <p:spPr>
          <a:xfrm>
            <a:off x="2889504" y="55915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167" name="text 166"/>
          <p:cNvSpPr txBox="1"/>
          <p:nvPr/>
        </p:nvSpPr>
        <p:spPr>
          <a:xfrm>
            <a:off x="3081528" y="55595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model + conformal</a:t>
            </a:r>
            <a:endParaRPr lang="en-US" sz="620" dirty="0"/>
          </a:p>
        </p:txBody>
      </p:sp>
      <p:sp>
        <p:nvSpPr>
          <p:cNvPr id="168" name="risk value 167"/>
          <p:cNvSpPr txBox="1"/>
          <p:nvPr/>
        </p:nvSpPr>
        <p:spPr>
          <a:xfrm>
            <a:off x="2880360" y="582472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 </a:t>
            </a:r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[0.12–0.46]</a:t>
            </a:r>
            <a:endParaRPr lang="en-US" sz="700" dirty="0"/>
          </a:p>
        </p:txBody>
      </p:sp>
      <p:sp>
        <p:nvSpPr>
          <p:cNvPr id="169" name="risk scale 168"/>
          <p:cNvSpPr/>
          <p:nvPr/>
        </p:nvSpPr>
        <p:spPr>
          <a:xfrm>
            <a:off x="2926080" y="6007608"/>
            <a:ext cx="612648" cy="4114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70" name="conformal interval 169"/>
          <p:cNvSpPr/>
          <p:nvPr/>
        </p:nvSpPr>
        <p:spPr>
          <a:xfrm>
            <a:off x="2999598" y="5984748"/>
            <a:ext cx="208300" cy="86868"/>
          </a:xfrm>
          <a:prstGeom prst="rect">
            <a:avLst/>
          </a:prstGeom>
          <a:solidFill>
            <a:srgbClr val="8CC9B4"/>
          </a:solidFill>
          <a:ln/>
        </p:spPr>
      </p:sp>
      <p:sp>
        <p:nvSpPr>
          <p:cNvPr id="171" name="risk marker 170"/>
          <p:cNvSpPr/>
          <p:nvPr/>
        </p:nvSpPr>
        <p:spPr>
          <a:xfrm>
            <a:off x="3087563" y="5975604"/>
            <a:ext cx="20117" cy="105156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172" name="explanation shown to clinicians 171" descr="explanation shown to clinicians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94076" y="6153912"/>
            <a:ext cx="676656" cy="389077"/>
          </a:xfrm>
          <a:prstGeom prst="rect">
            <a:avLst/>
          </a:prstGeom>
        </p:spPr>
      </p:pic>
      <p:sp>
        <p:nvSpPr>
          <p:cNvPr id="173" name="step arrow 172"/>
          <p:cNvSpPr/>
          <p:nvPr/>
        </p:nvSpPr>
        <p:spPr>
          <a:xfrm>
            <a:off x="3680460" y="5916168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74" name="sub-box 173"/>
          <p:cNvSpPr/>
          <p:nvPr/>
        </p:nvSpPr>
        <p:spPr>
          <a:xfrm>
            <a:off x="3785616" y="5303520"/>
            <a:ext cx="1024128" cy="1408176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5" name="sub-box title 174"/>
          <p:cNvSpPr txBox="1"/>
          <p:nvPr/>
        </p:nvSpPr>
        <p:spPr>
          <a:xfrm>
            <a:off x="3849624" y="533095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850" dirty="0"/>
          </a:p>
        </p:txBody>
      </p:sp>
      <p:pic>
        <p:nvPicPr>
          <p:cNvPr id="176" name="outcome icon 175" descr="outcome icon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40480" y="5586984"/>
            <a:ext cx="155448" cy="155448"/>
          </a:xfrm>
          <a:prstGeom prst="rect">
            <a:avLst/>
          </a:prstGeom>
        </p:spPr>
      </p:pic>
      <p:sp>
        <p:nvSpPr>
          <p:cNvPr id="177" name="text 176"/>
          <p:cNvSpPr txBox="1"/>
          <p:nvPr/>
        </p:nvSpPr>
        <p:spPr>
          <a:xfrm>
            <a:off x="4032504" y="5550408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accuracy</a:t>
            </a:r>
            <a:endParaRPr lang="en-US" sz="650" dirty="0"/>
          </a:p>
        </p:txBody>
      </p:sp>
      <p:pic>
        <p:nvPicPr>
          <p:cNvPr id="178" name="outcome icon 177" descr="outcome icon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40480" y="5852160"/>
            <a:ext cx="155448" cy="155448"/>
          </a:xfrm>
          <a:prstGeom prst="rect">
            <a:avLst/>
          </a:prstGeom>
        </p:spPr>
      </p:pic>
      <p:sp>
        <p:nvSpPr>
          <p:cNvPr id="179" name="text 178"/>
          <p:cNvSpPr txBox="1"/>
          <p:nvPr/>
        </p:nvSpPr>
        <p:spPr>
          <a:xfrm>
            <a:off x="4032504" y="5815584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calibration</a:t>
            </a:r>
            <a:endParaRPr lang="en-US" sz="650" dirty="0"/>
          </a:p>
        </p:txBody>
      </p:sp>
      <p:pic>
        <p:nvPicPr>
          <p:cNvPr id="180" name="outcome icon 179" descr="outcome icon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40480" y="6117336"/>
            <a:ext cx="155448" cy="155448"/>
          </a:xfrm>
          <a:prstGeom prst="rect">
            <a:avLst/>
          </a:prstGeom>
        </p:spPr>
      </p:pic>
      <p:sp>
        <p:nvSpPr>
          <p:cNvPr id="181" name="text 180"/>
          <p:cNvSpPr txBox="1"/>
          <p:nvPr/>
        </p:nvSpPr>
        <p:spPr>
          <a:xfrm>
            <a:off x="4032504" y="608076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650" dirty="0"/>
          </a:p>
        </p:txBody>
      </p:sp>
      <p:pic>
        <p:nvPicPr>
          <p:cNvPr id="182" name="outcome icon 181" descr="outcome icon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40480" y="6382512"/>
            <a:ext cx="155448" cy="155448"/>
          </a:xfrm>
          <a:prstGeom prst="rect">
            <a:avLst/>
          </a:prstGeom>
        </p:spPr>
      </p:pic>
      <p:sp>
        <p:nvSpPr>
          <p:cNvPr id="183" name="text 182"/>
          <p:cNvSpPr txBox="1"/>
          <p:nvPr/>
        </p:nvSpPr>
        <p:spPr>
          <a:xfrm>
            <a:off x="4032504" y="6345936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decision</a:t>
            </a:r>
            <a:endParaRPr lang="en-US" sz="650" dirty="0"/>
          </a:p>
        </p:txBody>
      </p:sp>
      <p:sp>
        <p:nvSpPr>
          <p:cNvPr id="184" name="text 183"/>
          <p:cNvSpPr txBox="1"/>
          <p:nvPr/>
        </p:nvSpPr>
        <p:spPr>
          <a:xfrm>
            <a:off x="3822192" y="651052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qualitative comments</a:t>
            </a:r>
            <a:endParaRPr lang="en-US" sz="580" dirty="0"/>
          </a:p>
        </p:txBody>
      </p:sp>
      <p:sp>
        <p:nvSpPr>
          <p:cNvPr id="185" name="sub-box 184"/>
          <p:cNvSpPr/>
          <p:nvPr/>
        </p:nvSpPr>
        <p:spPr>
          <a:xfrm>
            <a:off x="4864608" y="5303520"/>
            <a:ext cx="960120" cy="140817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86" name="sub-box title 185"/>
          <p:cNvSpPr txBox="1"/>
          <p:nvPr/>
        </p:nvSpPr>
        <p:spPr>
          <a:xfrm>
            <a:off x="4928616" y="533095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CPDs</a:t>
            </a:r>
            <a:endParaRPr lang="en-US" sz="850" dirty="0"/>
          </a:p>
        </p:txBody>
      </p:sp>
      <p:sp>
        <p:nvSpPr>
          <p:cNvPr id="187" name="text 186"/>
          <p:cNvSpPr txBox="1"/>
          <p:nvPr/>
        </p:nvSpPr>
        <p:spPr>
          <a:xfrm>
            <a:off x="5175504" y="53309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6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tasks</a:t>
            </a:r>
            <a:endParaRPr lang="en-US" sz="600" dirty="0"/>
          </a:p>
        </p:txBody>
      </p:sp>
      <p:pic>
        <p:nvPicPr>
          <p:cNvPr id="188" name="conformal predictive distribution for A&amp;E waiting time 187" descr="conformal predictive distribution for A&amp;E waiting time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96612" y="5541264"/>
            <a:ext cx="896112" cy="806501"/>
          </a:xfrm>
          <a:prstGeom prst="rect">
            <a:avLst/>
          </a:prstGeom>
        </p:spPr>
      </p:pic>
      <p:sp>
        <p:nvSpPr>
          <p:cNvPr id="189" name="text 188"/>
          <p:cNvSpPr txBox="1"/>
          <p:nvPr/>
        </p:nvSpPr>
        <p:spPr>
          <a:xfrm>
            <a:off x="4901184" y="640080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different decision rules</a:t>
            </a:r>
            <a:endParaRPr lang="en-US" sz="620" dirty="0"/>
          </a:p>
        </p:txBody>
      </p:sp>
      <p:sp>
        <p:nvSpPr>
          <p:cNvPr id="190" name="panel WP5 189"/>
          <p:cNvSpPr/>
          <p:nvPr/>
        </p:nvSpPr>
        <p:spPr>
          <a:xfrm>
            <a:off x="6281928" y="4773168"/>
            <a:ext cx="5797296" cy="2011680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91" name="panel title 190"/>
          <p:cNvSpPr txBox="1"/>
          <p:nvPr/>
        </p:nvSpPr>
        <p:spPr>
          <a:xfrm>
            <a:off x="6391656" y="4818888"/>
            <a:ext cx="55778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WP5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Integration and Guidance</a:t>
            </a:r>
            <a:endParaRPr lang="en-US" sz="1500" dirty="0"/>
          </a:p>
        </p:txBody>
      </p:sp>
      <p:sp>
        <p:nvSpPr>
          <p:cNvPr id="192" name="month pill 191"/>
          <p:cNvSpPr/>
          <p:nvPr/>
        </p:nvSpPr>
        <p:spPr>
          <a:xfrm>
            <a:off x="10135210" y="484174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93" name="months 192"/>
          <p:cNvSpPr txBox="1"/>
          <p:nvPr/>
        </p:nvSpPr>
        <p:spPr>
          <a:xfrm>
            <a:off x="10135210" y="48417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M20–24</a:t>
            </a:r>
            <a:endParaRPr lang="en-US" sz="800" dirty="0"/>
          </a:p>
        </p:txBody>
      </p:sp>
      <p:sp>
        <p:nvSpPr>
          <p:cNvPr id="194" name="goal 193"/>
          <p:cNvSpPr txBox="1"/>
          <p:nvPr/>
        </p:nvSpPr>
        <p:spPr>
          <a:xfrm>
            <a:off x="6391656" y="508406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trustworthy-AI properties jointly achievable, and how does shift change this?</a:t>
            </a:r>
            <a:endParaRPr lang="en-US" sz="750" dirty="0"/>
          </a:p>
        </p:txBody>
      </p:sp>
      <p:sp>
        <p:nvSpPr>
          <p:cNvPr id="195" name="evidence chip 194"/>
          <p:cNvSpPr/>
          <p:nvPr/>
        </p:nvSpPr>
        <p:spPr>
          <a:xfrm>
            <a:off x="6355080" y="5303520"/>
            <a:ext cx="1847088" cy="274320"/>
          </a:xfrm>
          <a:prstGeom prst="roundRect">
            <a:avLst>
              <a:gd name="adj" fmla="val 1333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sp>
        <p:nvSpPr>
          <p:cNvPr id="196" name="text 195"/>
          <p:cNvSpPr txBox="1"/>
          <p:nvPr/>
        </p:nvSpPr>
        <p:spPr>
          <a:xfrm>
            <a:off x="6391656" y="53035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evidence (WP4)</a:t>
            </a:r>
            <a:endParaRPr lang="en-US" sz="750" dirty="0"/>
          </a:p>
        </p:txBody>
      </p:sp>
      <p:sp>
        <p:nvSpPr>
          <p:cNvPr id="197" name="evidence chip 196"/>
          <p:cNvSpPr/>
          <p:nvPr/>
        </p:nvSpPr>
        <p:spPr>
          <a:xfrm>
            <a:off x="8257032" y="5303520"/>
            <a:ext cx="1847088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9525">
            <a:solidFill>
              <a:srgbClr val="E6B422"/>
            </a:solidFill>
            <a:prstDash val="solid"/>
          </a:ln>
        </p:spPr>
      </p:sp>
      <p:sp>
        <p:nvSpPr>
          <p:cNvPr id="198" name="text 197"/>
          <p:cNvSpPr txBox="1"/>
          <p:nvPr/>
        </p:nvSpPr>
        <p:spPr>
          <a:xfrm>
            <a:off x="8293608" y="53035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evidence (WP2)</a:t>
            </a:r>
            <a:endParaRPr lang="en-US" sz="750" dirty="0"/>
          </a:p>
        </p:txBody>
      </p:sp>
      <p:sp>
        <p:nvSpPr>
          <p:cNvPr id="199" name="evidence chip 198"/>
          <p:cNvSpPr/>
          <p:nvPr/>
        </p:nvSpPr>
        <p:spPr>
          <a:xfrm>
            <a:off x="10158984" y="5303520"/>
            <a:ext cx="1847088" cy="274320"/>
          </a:xfrm>
          <a:prstGeom prst="roundRect">
            <a:avLst>
              <a:gd name="adj" fmla="val 13333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200" name="text 199"/>
          <p:cNvSpPr txBox="1"/>
          <p:nvPr/>
        </p:nvSpPr>
        <p:spPr>
          <a:xfrm>
            <a:off x="10195560" y="53035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 (WP3)</a:t>
            </a:r>
            <a:endParaRPr lang="en-US" sz="750" dirty="0"/>
          </a:p>
        </p:txBody>
      </p:sp>
      <p:sp>
        <p:nvSpPr>
          <p:cNvPr id="201" name="merge 200"/>
          <p:cNvSpPr/>
          <p:nvPr/>
        </p:nvSpPr>
        <p:spPr>
          <a:xfrm>
            <a:off x="7278624" y="5577840"/>
            <a:ext cx="0" cy="73152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02" name="merge 201"/>
          <p:cNvSpPr/>
          <p:nvPr/>
        </p:nvSpPr>
        <p:spPr>
          <a:xfrm>
            <a:off x="9180576" y="5577840"/>
            <a:ext cx="0" cy="73152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03" name="merge 202"/>
          <p:cNvSpPr/>
          <p:nvPr/>
        </p:nvSpPr>
        <p:spPr>
          <a:xfrm>
            <a:off x="11082528" y="5577840"/>
            <a:ext cx="0" cy="73152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04" name="merge 203"/>
          <p:cNvSpPr/>
          <p:nvPr/>
        </p:nvSpPr>
        <p:spPr>
          <a:xfrm>
            <a:off x="7278624" y="5650992"/>
            <a:ext cx="3803904" cy="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05" name="merge 204"/>
          <p:cNvSpPr/>
          <p:nvPr/>
        </p:nvSpPr>
        <p:spPr>
          <a:xfrm>
            <a:off x="8156448" y="5650992"/>
            <a:ext cx="0" cy="82296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06" name="sub-box 205"/>
          <p:cNvSpPr/>
          <p:nvPr/>
        </p:nvSpPr>
        <p:spPr>
          <a:xfrm>
            <a:off x="6355080" y="5733288"/>
            <a:ext cx="3611880" cy="978408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07" name="sub-box title 206"/>
          <p:cNvSpPr txBox="1"/>
          <p:nvPr/>
        </p:nvSpPr>
        <p:spPr>
          <a:xfrm>
            <a:off x="6419088" y="5760720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Joint-achievability map</a:t>
            </a:r>
            <a:endParaRPr lang="en-US" sz="850" dirty="0"/>
          </a:p>
        </p:txBody>
      </p:sp>
      <p:pic>
        <p:nvPicPr>
          <p:cNvPr id="208" name="achievability map (illustrative) 207" descr="achievability map (illustrative)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00800" y="5934456"/>
            <a:ext cx="1728216" cy="740664"/>
          </a:xfrm>
          <a:prstGeom prst="rect">
            <a:avLst/>
          </a:prstGeom>
        </p:spPr>
      </p:pic>
      <p:sp>
        <p:nvSpPr>
          <p:cNvPr id="209" name="risk note 208"/>
          <p:cNvSpPr/>
          <p:nvPr/>
        </p:nvSpPr>
        <p:spPr>
          <a:xfrm>
            <a:off x="8211312" y="5961888"/>
            <a:ext cx="1682496" cy="676656"/>
          </a:xfrm>
          <a:prstGeom prst="roundRect">
            <a:avLst>
              <a:gd name="adj" fmla="val 5405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pic>
        <p:nvPicPr>
          <p:cNvPr id="210" name="risk icon 209" descr="risk icon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66176" y="6016752"/>
            <a:ext cx="164592" cy="164592"/>
          </a:xfrm>
          <a:prstGeom prst="rect">
            <a:avLst/>
          </a:prstGeom>
        </p:spPr>
      </p:pic>
      <p:sp>
        <p:nvSpPr>
          <p:cNvPr id="211" name="text 210"/>
          <p:cNvSpPr txBox="1"/>
          <p:nvPr/>
        </p:nvSpPr>
        <p:spPr>
          <a:xfrm>
            <a:off x="8476488" y="598932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Incompatibility is a first-class outcome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&amp; why the frontier breaks down</a:t>
            </a:r>
            <a:endParaRPr lang="en-US" sz="700" dirty="0"/>
          </a:p>
        </p:txBody>
      </p:sp>
      <p:sp>
        <p:nvSpPr>
          <p:cNvPr id="212" name="step arrow 211"/>
          <p:cNvSpPr/>
          <p:nvPr/>
        </p:nvSpPr>
        <p:spPr>
          <a:xfrm>
            <a:off x="9980676" y="612648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213" name="sub-box 212"/>
          <p:cNvSpPr/>
          <p:nvPr/>
        </p:nvSpPr>
        <p:spPr>
          <a:xfrm>
            <a:off x="10094976" y="5733288"/>
            <a:ext cx="1911096" cy="978408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14" name="sub-box title 213"/>
          <p:cNvSpPr txBox="1"/>
          <p:nvPr/>
        </p:nvSpPr>
        <p:spPr>
          <a:xfrm>
            <a:off x="10158984" y="57607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release</a:t>
            </a:r>
            <a:endParaRPr lang="en-US" sz="850" dirty="0"/>
          </a:p>
        </p:txBody>
      </p:sp>
      <p:pic>
        <p:nvPicPr>
          <p:cNvPr id="215" name="output icon 214" descr="output icon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168128" y="5980176"/>
            <a:ext cx="137160" cy="137160"/>
          </a:xfrm>
          <a:prstGeom prst="rect">
            <a:avLst/>
          </a:prstGeom>
        </p:spPr>
      </p:pic>
      <p:sp>
        <p:nvSpPr>
          <p:cNvPr id="216" name="text 215"/>
          <p:cNvSpPr txBox="1"/>
          <p:nvPr/>
        </p:nvSpPr>
        <p:spPr>
          <a:xfrm>
            <a:off x="10351008" y="5961888"/>
            <a:ext cx="1627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guidance</a:t>
            </a:r>
            <a:endParaRPr lang="en-US" sz="680" dirty="0"/>
          </a:p>
        </p:txBody>
      </p:sp>
      <p:pic>
        <p:nvPicPr>
          <p:cNvPr id="217" name="output icon 216" descr="output icon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68128" y="6163056"/>
            <a:ext cx="137160" cy="137160"/>
          </a:xfrm>
          <a:prstGeom prst="rect">
            <a:avLst/>
          </a:prstGeom>
        </p:spPr>
      </p:pic>
      <p:sp>
        <p:nvSpPr>
          <p:cNvPr id="218" name="text 217"/>
          <p:cNvSpPr txBox="1"/>
          <p:nvPr/>
        </p:nvSpPr>
        <p:spPr>
          <a:xfrm>
            <a:off x="10351008" y="6144768"/>
            <a:ext cx="1627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680" dirty="0"/>
          </a:p>
        </p:txBody>
      </p:sp>
      <p:pic>
        <p:nvPicPr>
          <p:cNvPr id="219" name="output icon 218" descr="output icon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68128" y="6345936"/>
            <a:ext cx="137160" cy="137160"/>
          </a:xfrm>
          <a:prstGeom prst="rect">
            <a:avLst/>
          </a:prstGeom>
        </p:spPr>
      </p:pic>
      <p:sp>
        <p:nvSpPr>
          <p:cNvPr id="220" name="text 219"/>
          <p:cNvSpPr txBox="1"/>
          <p:nvPr/>
        </p:nvSpPr>
        <p:spPr>
          <a:xfrm>
            <a:off x="10351008" y="6327648"/>
            <a:ext cx="1627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protocols</a:t>
            </a:r>
            <a:endParaRPr lang="en-US" sz="680" dirty="0"/>
          </a:p>
        </p:txBody>
      </p:sp>
      <p:pic>
        <p:nvPicPr>
          <p:cNvPr id="221" name="output icon 220" descr="output icon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68128" y="6528816"/>
            <a:ext cx="137160" cy="137160"/>
          </a:xfrm>
          <a:prstGeom prst="rect">
            <a:avLst/>
          </a:prstGeom>
        </p:spPr>
      </p:pic>
      <p:sp>
        <p:nvSpPr>
          <p:cNvPr id="222" name="text 221"/>
          <p:cNvSpPr txBox="1"/>
          <p:nvPr/>
        </p:nvSpPr>
        <p:spPr>
          <a:xfrm>
            <a:off x="10351008" y="6510528"/>
            <a:ext cx="16276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Open-access publications</a:t>
            </a:r>
            <a:endParaRPr lang="en-US" sz="680" dirty="0"/>
          </a:p>
        </p:txBody>
      </p:sp>
      <p:sp>
        <p:nvSpPr>
          <p:cNvPr id="223" name="flow down 222"/>
          <p:cNvSpPr/>
          <p:nvPr/>
        </p:nvSpPr>
        <p:spPr>
          <a:xfrm>
            <a:off x="41148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24" name="flow label 223"/>
          <p:cNvSpPr txBox="1"/>
          <p:nvPr/>
        </p:nvSpPr>
        <p:spPr>
          <a:xfrm>
            <a:off x="795528" y="960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properties: irregular sampling, temporal dependence, shift</a:t>
            </a:r>
            <a:endParaRPr lang="en-US" sz="700" dirty="0"/>
          </a:p>
        </p:txBody>
      </p:sp>
      <p:sp>
        <p:nvSpPr>
          <p:cNvPr id="225" name="flow down 224"/>
          <p:cNvSpPr/>
          <p:nvPr/>
        </p:nvSpPr>
        <p:spPr>
          <a:xfrm>
            <a:off x="393192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26" name="flow label 225"/>
          <p:cNvSpPr txBox="1"/>
          <p:nvPr/>
        </p:nvSpPr>
        <p:spPr>
          <a:xfrm>
            <a:off x="4315968" y="960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development data (training &amp; calibration)</a:t>
            </a:r>
            <a:endParaRPr lang="en-US" sz="700" dirty="0"/>
          </a:p>
        </p:txBody>
      </p:sp>
      <p:sp>
        <p:nvSpPr>
          <p:cNvPr id="227" name="flow down 226"/>
          <p:cNvSpPr/>
          <p:nvPr/>
        </p:nvSpPr>
        <p:spPr>
          <a:xfrm>
            <a:off x="918972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28" name="flow label 227"/>
          <p:cNvSpPr txBox="1"/>
          <p:nvPr/>
        </p:nvSpPr>
        <p:spPr>
          <a:xfrm>
            <a:off x="9573768" y="960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hold-out · eICU · West London A&amp;E</a:t>
            </a:r>
            <a:endParaRPr lang="en-US" sz="700" dirty="0"/>
          </a:p>
        </p:txBody>
      </p:sp>
      <p:sp>
        <p:nvSpPr>
          <p:cNvPr id="229" name="flow WP1 to WP2 228"/>
          <p:cNvSpPr/>
          <p:nvPr/>
        </p:nvSpPr>
        <p:spPr>
          <a:xfrm>
            <a:off x="2500884" y="1828800"/>
            <a:ext cx="274320" cy="24688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F(θ) = (f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s.t. coverage ≥ 90%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predefined temporal &amp; site environments E</a:t>
            </a:r>
            <a:endParaRPr lang="en-US" sz="700" dirty="0"/>
          </a:p>
        </p:txBody>
      </p:sp>
      <p:sp>
        <p:nvSpPr>
          <p:cNvPr id="230" name="flow WP1 to WP2 head 229"/>
          <p:cNvSpPr/>
          <p:nvPr/>
        </p:nvSpPr>
        <p:spPr>
          <a:xfrm rot="5400000">
            <a:off x="2610612" y="3012948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31" name="flow WP2 to WP3 230"/>
          <p:cNvSpPr/>
          <p:nvPr/>
        </p:nvSpPr>
        <p:spPr>
          <a:xfrm>
            <a:off x="8622792" y="1783080"/>
            <a:ext cx="274320" cy="13716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Pareto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θ*</a:t>
            </a:r>
            <a:endParaRPr lang="en-US" sz="700" dirty="0"/>
          </a:p>
        </p:txBody>
      </p:sp>
      <p:sp>
        <p:nvSpPr>
          <p:cNvPr id="232" name="flow WP2 to WP3 head 231"/>
          <p:cNvSpPr/>
          <p:nvPr/>
        </p:nvSpPr>
        <p:spPr>
          <a:xfrm rot="5400000">
            <a:off x="8732520" y="2418588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33" name="feedback WP3 to WP2 232"/>
          <p:cNvSpPr/>
          <p:nvPr/>
        </p:nvSpPr>
        <p:spPr>
          <a:xfrm>
            <a:off x="8663940" y="3246120"/>
            <a:ext cx="274320" cy="1097280"/>
          </a:xfrm>
          <a:prstGeom prst="rect">
            <a:avLst/>
          </a:prstGeom>
          <a:solidFill>
            <a:srgbClr val="218B73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700" dirty="0"/>
          </a:p>
        </p:txBody>
      </p:sp>
      <p:sp>
        <p:nvSpPr>
          <p:cNvPr id="234" name="feedback WP3 to WP2 head 233"/>
          <p:cNvSpPr/>
          <p:nvPr/>
        </p:nvSpPr>
        <p:spPr>
          <a:xfrm rot="16200000">
            <a:off x="8407908" y="3744468"/>
            <a:ext cx="420624" cy="100584"/>
          </a:xfrm>
          <a:prstGeom prst="triangle">
            <a:avLst/>
          </a:prstGeom>
          <a:solidFill>
            <a:srgbClr val="218B73"/>
          </a:solidFill>
          <a:ln/>
        </p:spPr>
      </p:sp>
      <p:sp>
        <p:nvSpPr>
          <p:cNvPr id="235" name="flow down 234"/>
          <p:cNvSpPr/>
          <p:nvPr/>
        </p:nvSpPr>
        <p:spPr>
          <a:xfrm>
            <a:off x="3931920" y="4503420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6" name="flow label 235"/>
          <p:cNvSpPr txBox="1"/>
          <p:nvPr/>
        </p:nvSpPr>
        <p:spPr>
          <a:xfrm>
            <a:off x="4315968" y="45125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Pareto candidates (selected solutions)</a:t>
            </a:r>
            <a:endParaRPr lang="en-US" sz="700" dirty="0"/>
          </a:p>
        </p:txBody>
      </p:sp>
      <p:sp>
        <p:nvSpPr>
          <p:cNvPr id="237" name="flow down 236"/>
          <p:cNvSpPr/>
          <p:nvPr/>
        </p:nvSpPr>
        <p:spPr>
          <a:xfrm>
            <a:off x="8247888" y="4503420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8" name="flow label 237"/>
          <p:cNvSpPr txBox="1"/>
          <p:nvPr/>
        </p:nvSpPr>
        <p:spPr>
          <a:xfrm>
            <a:off x="6729984" y="45125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Pareto-frontier structure</a:t>
            </a:r>
            <a:endParaRPr lang="en-US" sz="700" dirty="0"/>
          </a:p>
        </p:txBody>
      </p:sp>
      <p:sp>
        <p:nvSpPr>
          <p:cNvPr id="239" name="flow down 238"/>
          <p:cNvSpPr/>
          <p:nvPr/>
        </p:nvSpPr>
        <p:spPr>
          <a:xfrm>
            <a:off x="10744200" y="4503420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40" name="flow label 239"/>
          <p:cNvSpPr txBox="1"/>
          <p:nvPr/>
        </p:nvSpPr>
        <p:spPr>
          <a:xfrm>
            <a:off x="8769096" y="45125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· performance · coverage</a:t>
            </a:r>
            <a:endParaRPr lang="en-US" sz="700" dirty="0"/>
          </a:p>
        </p:txBody>
      </p:sp>
      <p:sp>
        <p:nvSpPr>
          <p:cNvPr id="241" name="flow WP4 to WP5 240"/>
          <p:cNvSpPr/>
          <p:nvPr/>
        </p:nvSpPr>
        <p:spPr>
          <a:xfrm>
            <a:off x="5934456" y="5138928"/>
            <a:ext cx="274320" cy="1517904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evaluation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242" name="flow WP4 to WP5 head 241"/>
          <p:cNvSpPr/>
          <p:nvPr/>
        </p:nvSpPr>
        <p:spPr>
          <a:xfrm rot="5400000">
            <a:off x="6044184" y="5847588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framework: shared clinical testbed and WP1-WP5</dc:title>
  <dc:subject>PptxGenJS Presentation</dc:subject>
  <dc:creator>PptxGenJS</dc:creator>
  <cp:lastModifiedBy>PptxGenJS</cp:lastModifiedBy>
  <cp:revision>1</cp:revision>
  <dcterms:created xsi:type="dcterms:W3CDTF">2026-10-16T15:58:47Z</dcterms:created>
  <dcterms:modified xsi:type="dcterms:W3CDTF">2026-10-16T15:58:47Z</dcterms:modified>
</cp:coreProperties>
</file>