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图1 流程说明（WP1–WP5 数据流）
WP1 → WP2：四个联合优化目标（预测性能、内在可解释性、时间/站点漂移下的鲁棒性、保形效率）进入 WP2 的“四目标评估”；保形覆盖要求 1−α 进入 WP2 的“覆盖感知约束处理”（硬约束，区分可行/不可行解）。
WP1 ⇢ WP4：临床判断不作为优化目标，在 WP4 中单独评估。
WP2 内部：候选解（模型超参数、可解释性设置、其他设置）→ 四目标评估（在时间与站点漂移下）→ 覆盖约束处理（Coverage ≥ 1−α）→ 进化搜索（非支配+约束感知选择 → 交叉/变异 → 新种群）→ 迭代回到四目标评估；输出 Pareto 前沿与膝点解。
WP2 → WP3：Pareto 解进入可解释性验证（原始输入 → 生理学约束扰动 → 模型响应变化；消融与受控扰动）以及分布漂移下的性能与覆盖评估（MIMIC-IV 时间验证、eICU 跨站点验证）。
WP2 → WP4：选定的 Pareto 输出（预测 + 保形不确定性 + 时间可解释性）与基线输出（点预测 + 事后解释）在相同病例上由 ICU 临床医生结构化比较，评估恰当依赖与临床解读；连续预测任务进一步探索 CPD。
WP2/WP3/WP4 → WP5：优化证据、验证证据、临床评估证据汇总为综合与指导（可行边界与权衡、方法学指导、时间/站点漂移评估规范、开源发布与传播）。
图片与数据来源：
- 临床医生床旁照片：“Clinicians in Intensive Care Unit.jpg”，Calleamanecer，Wikimedia Commons，CC BY-SA 3.0。
- ICU 中央监护站照片：US Navy photo by PH1 Shane T. McCoy，Wikimedia Commons，公有领域。
- 美国地图底图：“Blank US Map (states only).svg”，Heitordp，Wikimedia Commons，CC0。
- 心率曲线/分布：MIMIC-IV Clinical Database Demo v2.2 与 eICU-CRD Demo v2.0.1（PhysioNet，开放获取）中的真实数据；站点点位按 eICU Demo 医院所在区域示意摆放。
- 其余小图为 matplotlib 示意图；图标来自 Font Awesome（react-icons）。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jp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jp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1"/>
          <p:cNvSpPr/>
          <p:nvPr/>
        </p:nvSpPr>
        <p:spPr>
          <a:xfrm>
            <a:off x="109728" y="91440"/>
            <a:ext cx="2395728" cy="3401568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3" name="panel title 2"/>
          <p:cNvSpPr txBox="1"/>
          <p:nvPr/>
        </p:nvSpPr>
        <p:spPr>
          <a:xfrm>
            <a:off x="210312" y="12801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 Constraint Definition (WP1)</a:t>
            </a:r>
            <a:endParaRPr lang="en-US" sz="1300" dirty="0"/>
          </a:p>
        </p:txBody>
      </p:sp>
      <p:sp>
        <p:nvSpPr>
          <p:cNvPr id="4" name="sub-box 3"/>
          <p:cNvSpPr/>
          <p:nvPr/>
        </p:nvSpPr>
        <p:spPr>
          <a:xfrm>
            <a:off x="182880" y="566928"/>
            <a:ext cx="2249424" cy="16459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5" name="sub-box title 4"/>
          <p:cNvSpPr txBox="1"/>
          <p:nvPr/>
        </p:nvSpPr>
        <p:spPr>
          <a:xfrm>
            <a:off x="246888" y="59436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optimisation objectives</a:t>
            </a:r>
            <a:endParaRPr lang="en-US" sz="900" dirty="0"/>
          </a:p>
        </p:txBody>
      </p:sp>
      <p:sp>
        <p:nvSpPr>
          <p:cNvPr id="6" name="objective tile 5"/>
          <p:cNvSpPr/>
          <p:nvPr/>
        </p:nvSpPr>
        <p:spPr>
          <a:xfrm>
            <a:off x="246888" y="813816"/>
            <a:ext cx="1033272" cy="640080"/>
          </a:xfrm>
          <a:prstGeom prst="roundRect">
            <a:avLst>
              <a:gd name="adj" fmla="val 7143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7" name="objective graphic 6" descr="objective graph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850392"/>
            <a:ext cx="941832" cy="365760"/>
          </a:xfrm>
          <a:prstGeom prst="rect">
            <a:avLst/>
          </a:prstGeom>
        </p:spPr>
      </p:pic>
      <p:sp>
        <p:nvSpPr>
          <p:cNvPr id="8" name="objective label 7"/>
          <p:cNvSpPr txBox="1"/>
          <p:nvPr/>
        </p:nvSpPr>
        <p:spPr>
          <a:xfrm>
            <a:off x="274320" y="1225296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performance</a:t>
            </a:r>
            <a:endParaRPr lang="en-US" sz="700" dirty="0"/>
          </a:p>
        </p:txBody>
      </p:sp>
      <p:sp>
        <p:nvSpPr>
          <p:cNvPr id="9" name="objective tile 8"/>
          <p:cNvSpPr/>
          <p:nvPr/>
        </p:nvSpPr>
        <p:spPr>
          <a:xfrm>
            <a:off x="1335024" y="813816"/>
            <a:ext cx="1033272" cy="640080"/>
          </a:xfrm>
          <a:prstGeom prst="roundRect">
            <a:avLst>
              <a:gd name="adj" fmla="val 7143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pic>
        <p:nvPicPr>
          <p:cNvPr id="10" name="objective graphic 9" descr="objective graph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850392"/>
            <a:ext cx="941832" cy="365760"/>
          </a:xfrm>
          <a:prstGeom prst="rect">
            <a:avLst/>
          </a:prstGeom>
        </p:spPr>
      </p:pic>
      <p:sp>
        <p:nvSpPr>
          <p:cNvPr id="11" name="objective label 10"/>
          <p:cNvSpPr txBox="1"/>
          <p:nvPr/>
        </p:nvSpPr>
        <p:spPr>
          <a:xfrm>
            <a:off x="1362456" y="1225296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interpretability</a:t>
            </a:r>
            <a:endParaRPr lang="en-US" sz="700" dirty="0"/>
          </a:p>
        </p:txBody>
      </p:sp>
      <p:sp>
        <p:nvSpPr>
          <p:cNvPr id="12" name="objective tile 11"/>
          <p:cNvSpPr/>
          <p:nvPr/>
        </p:nvSpPr>
        <p:spPr>
          <a:xfrm>
            <a:off x="246888" y="1508760"/>
            <a:ext cx="1033272" cy="640080"/>
          </a:xfrm>
          <a:prstGeom prst="roundRect">
            <a:avLst>
              <a:gd name="adj" fmla="val 7143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pic>
        <p:nvPicPr>
          <p:cNvPr id="13" name="objective graphic 12" descr="objective graphi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545336"/>
            <a:ext cx="941832" cy="365760"/>
          </a:xfrm>
          <a:prstGeom prst="rect">
            <a:avLst/>
          </a:prstGeom>
        </p:spPr>
      </p:pic>
      <p:sp>
        <p:nvSpPr>
          <p:cNvPr id="14" name="objective label 13"/>
          <p:cNvSpPr txBox="1"/>
          <p:nvPr/>
        </p:nvSpPr>
        <p:spPr>
          <a:xfrm>
            <a:off x="274320" y="1920240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under temporal and site shift</a:t>
            </a:r>
            <a:endParaRPr lang="en-US" sz="700" dirty="0"/>
          </a:p>
        </p:txBody>
      </p:sp>
      <p:sp>
        <p:nvSpPr>
          <p:cNvPr id="15" name="objective tile 14"/>
          <p:cNvSpPr/>
          <p:nvPr/>
        </p:nvSpPr>
        <p:spPr>
          <a:xfrm>
            <a:off x="1335024" y="1508760"/>
            <a:ext cx="1033272" cy="640080"/>
          </a:xfrm>
          <a:prstGeom prst="roundRect">
            <a:avLst>
              <a:gd name="adj" fmla="val 7143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6" name="objective graphic 15" descr="objective graphi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744" y="1545336"/>
            <a:ext cx="941832" cy="365760"/>
          </a:xfrm>
          <a:prstGeom prst="rect">
            <a:avLst/>
          </a:prstGeom>
        </p:spPr>
      </p:pic>
      <p:sp>
        <p:nvSpPr>
          <p:cNvPr id="17" name="objective label 16"/>
          <p:cNvSpPr txBox="1"/>
          <p:nvPr/>
        </p:nvSpPr>
        <p:spPr>
          <a:xfrm>
            <a:off x="1362456" y="1920240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efficiency</a:t>
            </a:r>
            <a:endParaRPr lang="en-US" sz="700" dirty="0"/>
          </a:p>
        </p:txBody>
      </p:sp>
      <p:sp>
        <p:nvSpPr>
          <p:cNvPr id="18" name="sub-box 17"/>
          <p:cNvSpPr/>
          <p:nvPr/>
        </p:nvSpPr>
        <p:spPr>
          <a:xfrm>
            <a:off x="182880" y="2276856"/>
            <a:ext cx="2249424" cy="640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9" name="sub-box title 18"/>
          <p:cNvSpPr txBox="1"/>
          <p:nvPr/>
        </p:nvSpPr>
        <p:spPr>
          <a:xfrm>
            <a:off x="246888" y="230428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coverage requirement</a:t>
            </a:r>
            <a:endParaRPr lang="en-US" sz="900" dirty="0"/>
          </a:p>
        </p:txBody>
      </p:sp>
      <p:sp>
        <p:nvSpPr>
          <p:cNvPr id="20" name="coverage tile 19"/>
          <p:cNvSpPr/>
          <p:nvPr/>
        </p:nvSpPr>
        <p:spPr>
          <a:xfrm>
            <a:off x="246888" y="2505456"/>
            <a:ext cx="2121408" cy="365760"/>
          </a:xfrm>
          <a:prstGeom prst="roundRect">
            <a:avLst>
              <a:gd name="adj" fmla="val 12500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solid"/>
          </a:ln>
        </p:spPr>
      </p:sp>
      <p:pic>
        <p:nvPicPr>
          <p:cNvPr id="21" name="coverage graphic 20" descr="coverage graphi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523744"/>
            <a:ext cx="868680" cy="329184"/>
          </a:xfrm>
          <a:prstGeom prst="rect">
            <a:avLst/>
          </a:prstGeom>
        </p:spPr>
      </p:pic>
      <p:sp>
        <p:nvSpPr>
          <p:cNvPr id="22" name="coverage text 21"/>
          <p:cNvSpPr txBox="1"/>
          <p:nvPr/>
        </p:nvSpPr>
        <p:spPr>
          <a:xfrm>
            <a:off x="1170432" y="25237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coverage: 1 − α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P(Y ∈ Ĉ(X)) ≥ 1 − α</a:t>
            </a:r>
            <a:endParaRPr lang="en-US" sz="700" dirty="0"/>
          </a:p>
        </p:txBody>
      </p:sp>
      <p:sp>
        <p:nvSpPr>
          <p:cNvPr id="23" name="sub-box 22"/>
          <p:cNvSpPr/>
          <p:nvPr/>
        </p:nvSpPr>
        <p:spPr>
          <a:xfrm>
            <a:off x="182880" y="2980944"/>
            <a:ext cx="224942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pic>
        <p:nvPicPr>
          <p:cNvPr id="24" name="photo clinicians at bedside 23" descr="photo clinicians at bedsi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" y="3017520"/>
            <a:ext cx="566928" cy="365760"/>
          </a:xfrm>
          <a:prstGeom prst="rect">
            <a:avLst/>
          </a:prstGeom>
        </p:spPr>
      </p:pic>
      <p:sp>
        <p:nvSpPr>
          <p:cNvPr id="25" name="clinical judgement text 24"/>
          <p:cNvSpPr txBox="1"/>
          <p:nvPr/>
        </p:nvSpPr>
        <p:spPr>
          <a:xfrm>
            <a:off x="877824" y="30175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judgement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(assessed separately in WP4)</a:t>
            </a:r>
            <a:endParaRPr lang="en-US" sz="700" dirty="0"/>
          </a:p>
        </p:txBody>
      </p:sp>
      <p:sp>
        <p:nvSpPr>
          <p:cNvPr id="26" name="panel 25"/>
          <p:cNvSpPr/>
          <p:nvPr/>
        </p:nvSpPr>
        <p:spPr>
          <a:xfrm>
            <a:off x="2761488" y="91440"/>
            <a:ext cx="6108192" cy="3401568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27" name="panel title 26"/>
          <p:cNvSpPr txBox="1"/>
          <p:nvPr/>
        </p:nvSpPr>
        <p:spPr>
          <a:xfrm>
            <a:off x="2862072" y="128016"/>
            <a:ext cx="5907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 and Shift-Aware Many-Objective Method Development (WP2)</a:t>
            </a:r>
            <a:endParaRPr lang="en-US" sz="1300" dirty="0"/>
          </a:p>
        </p:txBody>
      </p:sp>
      <p:sp>
        <p:nvSpPr>
          <p:cNvPr id="28" name="sub-box 27"/>
          <p:cNvSpPr/>
          <p:nvPr/>
        </p:nvSpPr>
        <p:spPr>
          <a:xfrm>
            <a:off x="2852928" y="548640"/>
            <a:ext cx="896112" cy="23774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9" name="stage title 28"/>
          <p:cNvSpPr txBox="1"/>
          <p:nvPr/>
        </p:nvSpPr>
        <p:spPr>
          <a:xfrm>
            <a:off x="2889504" y="576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solutions</a:t>
            </a:r>
            <a:endParaRPr lang="en-US" sz="800" dirty="0"/>
          </a:p>
        </p:txBody>
      </p:sp>
      <p:sp>
        <p:nvSpPr>
          <p:cNvPr id="30" name="stage subtitle 29"/>
          <p:cNvSpPr txBox="1"/>
          <p:nvPr/>
        </p:nvSpPr>
        <p:spPr>
          <a:xfrm>
            <a:off x="2889504" y="850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(decision variables)</a:t>
            </a:r>
            <a:endParaRPr lang="en-US" sz="630" dirty="0"/>
          </a:p>
        </p:txBody>
      </p:sp>
      <p:sp>
        <p:nvSpPr>
          <p:cNvPr id="31" name="candidate tile 30"/>
          <p:cNvSpPr/>
          <p:nvPr/>
        </p:nvSpPr>
        <p:spPr>
          <a:xfrm>
            <a:off x="2907792" y="1060704"/>
            <a:ext cx="786384" cy="548640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32" name="candidate icon 31" descr="candidat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1256" y="1115568"/>
            <a:ext cx="219456" cy="219456"/>
          </a:xfrm>
          <a:prstGeom prst="rect">
            <a:avLst/>
          </a:prstGeom>
        </p:spPr>
      </p:pic>
      <p:sp>
        <p:nvSpPr>
          <p:cNvPr id="33" name="candidate label 32"/>
          <p:cNvSpPr txBox="1"/>
          <p:nvPr/>
        </p:nvSpPr>
        <p:spPr>
          <a:xfrm>
            <a:off x="2926080" y="135331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hyperparameters</a:t>
            </a:r>
            <a:endParaRPr lang="en-US" sz="680" dirty="0"/>
          </a:p>
        </p:txBody>
      </p:sp>
      <p:sp>
        <p:nvSpPr>
          <p:cNvPr id="34" name="candidate tile 33"/>
          <p:cNvSpPr/>
          <p:nvPr/>
        </p:nvSpPr>
        <p:spPr>
          <a:xfrm>
            <a:off x="2907792" y="1673352"/>
            <a:ext cx="786384" cy="548640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35" name="candidate icon 34" descr="candidat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1256" y="1728216"/>
            <a:ext cx="219456" cy="219456"/>
          </a:xfrm>
          <a:prstGeom prst="rect">
            <a:avLst/>
          </a:prstGeom>
        </p:spPr>
      </p:pic>
      <p:sp>
        <p:nvSpPr>
          <p:cNvPr id="36" name="candidate label 35"/>
          <p:cNvSpPr txBox="1"/>
          <p:nvPr/>
        </p:nvSpPr>
        <p:spPr>
          <a:xfrm>
            <a:off x="2926080" y="196596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settings</a:t>
            </a:r>
            <a:endParaRPr lang="en-US" sz="680" dirty="0"/>
          </a:p>
        </p:txBody>
      </p:sp>
      <p:sp>
        <p:nvSpPr>
          <p:cNvPr id="37" name="candidate tile 36"/>
          <p:cNvSpPr/>
          <p:nvPr/>
        </p:nvSpPr>
        <p:spPr>
          <a:xfrm>
            <a:off x="2907792" y="2286000"/>
            <a:ext cx="786384" cy="548640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38" name="candidate icon 37" descr="candidat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1256" y="2340864"/>
            <a:ext cx="219456" cy="219456"/>
          </a:xfrm>
          <a:prstGeom prst="rect">
            <a:avLst/>
          </a:prstGeom>
        </p:spPr>
      </p:pic>
      <p:sp>
        <p:nvSpPr>
          <p:cNvPr id="39" name="candidate label 38"/>
          <p:cNvSpPr txBox="1"/>
          <p:nvPr/>
        </p:nvSpPr>
        <p:spPr>
          <a:xfrm>
            <a:off x="2926080" y="257860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 settings</a:t>
            </a:r>
            <a:endParaRPr lang="en-US" sz="680" dirty="0"/>
          </a:p>
        </p:txBody>
      </p:sp>
      <p:sp>
        <p:nvSpPr>
          <p:cNvPr id="40" name="sub-box 39"/>
          <p:cNvSpPr/>
          <p:nvPr/>
        </p:nvSpPr>
        <p:spPr>
          <a:xfrm>
            <a:off x="3886200" y="548640"/>
            <a:ext cx="1133856" cy="237744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41" name="stage title 40"/>
          <p:cNvSpPr txBox="1"/>
          <p:nvPr/>
        </p:nvSpPr>
        <p:spPr>
          <a:xfrm>
            <a:off x="3922776" y="57607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Four-objective evaluation</a:t>
            </a:r>
            <a:endParaRPr lang="en-US" sz="800" dirty="0"/>
          </a:p>
        </p:txBody>
      </p:sp>
      <p:sp>
        <p:nvSpPr>
          <p:cNvPr id="42" name="stage subtitle 41"/>
          <p:cNvSpPr txBox="1"/>
          <p:nvPr/>
        </p:nvSpPr>
        <p:spPr>
          <a:xfrm>
            <a:off x="3922776" y="85039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(under temporal and</a:t>
            </a:r>
            <a:endParaRPr lang="en-US" sz="6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shift)</a:t>
            </a:r>
            <a:endParaRPr lang="en-US" sz="630" dirty="0"/>
          </a:p>
        </p:txBody>
      </p:sp>
      <p:sp>
        <p:nvSpPr>
          <p:cNvPr id="43" name="evaluation tile 42"/>
          <p:cNvSpPr/>
          <p:nvPr/>
        </p:nvSpPr>
        <p:spPr>
          <a:xfrm>
            <a:off x="3941064" y="1060704"/>
            <a:ext cx="1024128" cy="402336"/>
          </a:xfrm>
          <a:prstGeom prst="roundRect">
            <a:avLst>
              <a:gd name="adj" fmla="val 11364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44" name="evaluation icon 43" descr="evaluation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5928" y="1152144"/>
            <a:ext cx="219456" cy="219456"/>
          </a:xfrm>
          <a:prstGeom prst="rect">
            <a:avLst/>
          </a:prstGeom>
        </p:spPr>
      </p:pic>
      <p:sp>
        <p:nvSpPr>
          <p:cNvPr id="45" name="evaluation label 44"/>
          <p:cNvSpPr txBox="1"/>
          <p:nvPr/>
        </p:nvSpPr>
        <p:spPr>
          <a:xfrm>
            <a:off x="4270248" y="10881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performance</a:t>
            </a:r>
            <a:endParaRPr lang="en-US" sz="700" dirty="0"/>
          </a:p>
        </p:txBody>
      </p:sp>
      <p:sp>
        <p:nvSpPr>
          <p:cNvPr id="46" name="evaluation tile 45"/>
          <p:cNvSpPr/>
          <p:nvPr/>
        </p:nvSpPr>
        <p:spPr>
          <a:xfrm>
            <a:off x="3941064" y="1517904"/>
            <a:ext cx="1024128" cy="402336"/>
          </a:xfrm>
          <a:prstGeom prst="roundRect">
            <a:avLst>
              <a:gd name="adj" fmla="val 11364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pic>
        <p:nvPicPr>
          <p:cNvPr id="47" name="evaluation icon 46" descr="evaluation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5928" y="1609344"/>
            <a:ext cx="219456" cy="219456"/>
          </a:xfrm>
          <a:prstGeom prst="rect">
            <a:avLst/>
          </a:prstGeom>
        </p:spPr>
      </p:pic>
      <p:sp>
        <p:nvSpPr>
          <p:cNvPr id="48" name="evaluation label 47"/>
          <p:cNvSpPr txBox="1"/>
          <p:nvPr/>
        </p:nvSpPr>
        <p:spPr>
          <a:xfrm>
            <a:off x="4270248" y="15453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interpretability</a:t>
            </a:r>
            <a:endParaRPr lang="en-US" sz="700" dirty="0"/>
          </a:p>
        </p:txBody>
      </p:sp>
      <p:sp>
        <p:nvSpPr>
          <p:cNvPr id="49" name="evaluation tile 48"/>
          <p:cNvSpPr/>
          <p:nvPr/>
        </p:nvSpPr>
        <p:spPr>
          <a:xfrm>
            <a:off x="3941064" y="1975104"/>
            <a:ext cx="1024128" cy="402336"/>
          </a:xfrm>
          <a:prstGeom prst="roundRect">
            <a:avLst>
              <a:gd name="adj" fmla="val 11364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pic>
        <p:nvPicPr>
          <p:cNvPr id="50" name="evaluation icon 49" descr="evaluation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95928" y="2066544"/>
            <a:ext cx="219456" cy="219456"/>
          </a:xfrm>
          <a:prstGeom prst="rect">
            <a:avLst/>
          </a:prstGeom>
        </p:spPr>
      </p:pic>
      <p:sp>
        <p:nvSpPr>
          <p:cNvPr id="51" name="evaluation label 50"/>
          <p:cNvSpPr txBox="1"/>
          <p:nvPr/>
        </p:nvSpPr>
        <p:spPr>
          <a:xfrm>
            <a:off x="4270248" y="20025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700" dirty="0"/>
          </a:p>
        </p:txBody>
      </p:sp>
      <p:sp>
        <p:nvSpPr>
          <p:cNvPr id="52" name="evaluation tile 51"/>
          <p:cNvSpPr/>
          <p:nvPr/>
        </p:nvSpPr>
        <p:spPr>
          <a:xfrm>
            <a:off x="3941064" y="2432304"/>
            <a:ext cx="1024128" cy="402336"/>
          </a:xfrm>
          <a:prstGeom prst="roundRect">
            <a:avLst>
              <a:gd name="adj" fmla="val 11364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53" name="evaluation icon 52" descr="evaluation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95928" y="2523744"/>
            <a:ext cx="219456" cy="219456"/>
          </a:xfrm>
          <a:prstGeom prst="rect">
            <a:avLst/>
          </a:prstGeom>
        </p:spPr>
      </p:pic>
      <p:sp>
        <p:nvSpPr>
          <p:cNvPr id="54" name="evaluation label 53"/>
          <p:cNvSpPr txBox="1"/>
          <p:nvPr/>
        </p:nvSpPr>
        <p:spPr>
          <a:xfrm>
            <a:off x="4270248" y="2459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efficiency</a:t>
            </a:r>
            <a:endParaRPr lang="en-US" sz="700" dirty="0"/>
          </a:p>
        </p:txBody>
      </p:sp>
      <p:sp>
        <p:nvSpPr>
          <p:cNvPr id="55" name="sub-box 54"/>
          <p:cNvSpPr/>
          <p:nvPr/>
        </p:nvSpPr>
        <p:spPr>
          <a:xfrm>
            <a:off x="5157216" y="548640"/>
            <a:ext cx="1024128" cy="23774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56" name="stage title 55"/>
          <p:cNvSpPr txBox="1"/>
          <p:nvPr/>
        </p:nvSpPr>
        <p:spPr>
          <a:xfrm>
            <a:off x="5193792" y="57607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Coverage-aware constraint handling</a:t>
            </a:r>
            <a:endParaRPr lang="en-US" sz="800" dirty="0"/>
          </a:p>
        </p:txBody>
      </p:sp>
      <p:pic>
        <p:nvPicPr>
          <p:cNvPr id="57" name="feasibility graphic 56" descr="feasibility graphic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3792" y="914400"/>
            <a:ext cx="950976" cy="1444752"/>
          </a:xfrm>
          <a:prstGeom prst="rect">
            <a:avLst/>
          </a:prstGeom>
        </p:spPr>
      </p:pic>
      <p:sp>
        <p:nvSpPr>
          <p:cNvPr id="58" name="constraint tile 57"/>
          <p:cNvSpPr/>
          <p:nvPr/>
        </p:nvSpPr>
        <p:spPr>
          <a:xfrm>
            <a:off x="5212080" y="2432304"/>
            <a:ext cx="914400" cy="420624"/>
          </a:xfrm>
          <a:prstGeom prst="roundRect">
            <a:avLst>
              <a:gd name="adj" fmla="val 10870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9" name="constraint text 58"/>
          <p:cNvSpPr txBox="1"/>
          <p:nvPr/>
        </p:nvSpPr>
        <p:spPr>
          <a:xfrm>
            <a:off x="5230368" y="245059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≥ 1 − α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</a:t>
            </a:r>
            <a:endParaRPr lang="en-US" sz="700" dirty="0"/>
          </a:p>
        </p:txBody>
      </p:sp>
      <p:sp>
        <p:nvSpPr>
          <p:cNvPr id="60" name="sub-box 59"/>
          <p:cNvSpPr/>
          <p:nvPr/>
        </p:nvSpPr>
        <p:spPr>
          <a:xfrm>
            <a:off x="6318504" y="548640"/>
            <a:ext cx="969264" cy="23774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61" name="stage title 60"/>
          <p:cNvSpPr txBox="1"/>
          <p:nvPr/>
        </p:nvSpPr>
        <p:spPr>
          <a:xfrm>
            <a:off x="6355080" y="57607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Evolutionary search</a:t>
            </a:r>
            <a:endParaRPr lang="en-US" sz="800" dirty="0"/>
          </a:p>
        </p:txBody>
      </p:sp>
      <p:sp>
        <p:nvSpPr>
          <p:cNvPr id="62" name="stage subtitle 61"/>
          <p:cNvSpPr txBox="1"/>
          <p:nvPr/>
        </p:nvSpPr>
        <p:spPr>
          <a:xfrm>
            <a:off x="6355080" y="85039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(shift-aware)</a:t>
            </a:r>
            <a:endParaRPr lang="en-US" sz="630" dirty="0"/>
          </a:p>
        </p:txBody>
      </p:sp>
      <p:sp>
        <p:nvSpPr>
          <p:cNvPr id="63" name="search tile 62"/>
          <p:cNvSpPr/>
          <p:nvPr/>
        </p:nvSpPr>
        <p:spPr>
          <a:xfrm>
            <a:off x="6373368" y="1060704"/>
            <a:ext cx="859536" cy="512064"/>
          </a:xfrm>
          <a:prstGeom prst="roundRect">
            <a:avLst>
              <a:gd name="adj" fmla="val 8929"/>
            </a:avLst>
          </a:prstGeom>
          <a:solidFill>
            <a:srgbClr val="FFFCF0"/>
          </a:solidFill>
          <a:ln w="9525">
            <a:solidFill>
              <a:srgbClr val="F0C33C"/>
            </a:solidFill>
            <a:prstDash val="solid"/>
          </a:ln>
        </p:spPr>
      </p:sp>
      <p:pic>
        <p:nvPicPr>
          <p:cNvPr id="64" name="search icon 63" descr="search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28232" y="1115568"/>
            <a:ext cx="155448" cy="155448"/>
          </a:xfrm>
          <a:prstGeom prst="rect">
            <a:avLst/>
          </a:prstGeom>
        </p:spPr>
      </p:pic>
      <p:sp>
        <p:nvSpPr>
          <p:cNvPr id="65" name="search label 64"/>
          <p:cNvSpPr txBox="1"/>
          <p:nvPr/>
        </p:nvSpPr>
        <p:spPr>
          <a:xfrm>
            <a:off x="6611112" y="1097280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66" name="search detail 65"/>
          <p:cNvSpPr txBox="1"/>
          <p:nvPr/>
        </p:nvSpPr>
        <p:spPr>
          <a:xfrm>
            <a:off x="6409944" y="128930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(non-dominated, constraint-aware)</a:t>
            </a:r>
            <a:endParaRPr lang="en-US" sz="630" dirty="0"/>
          </a:p>
        </p:txBody>
      </p:sp>
      <p:sp>
        <p:nvSpPr>
          <p:cNvPr id="67" name="search arrow 66"/>
          <p:cNvSpPr/>
          <p:nvPr/>
        </p:nvSpPr>
        <p:spPr>
          <a:xfrm>
            <a:off x="6739128" y="1586484"/>
            <a:ext cx="128016" cy="91440"/>
          </a:xfrm>
          <a:prstGeom prst="downArrow">
            <a:avLst/>
          </a:prstGeom>
          <a:solidFill>
            <a:srgbClr val="F0C33C"/>
          </a:solidFill>
          <a:ln/>
        </p:spPr>
      </p:sp>
      <p:sp>
        <p:nvSpPr>
          <p:cNvPr id="68" name="search tile 67"/>
          <p:cNvSpPr/>
          <p:nvPr/>
        </p:nvSpPr>
        <p:spPr>
          <a:xfrm>
            <a:off x="6373368" y="1682496"/>
            <a:ext cx="859536" cy="512064"/>
          </a:xfrm>
          <a:prstGeom prst="roundRect">
            <a:avLst>
              <a:gd name="adj" fmla="val 8929"/>
            </a:avLst>
          </a:prstGeom>
          <a:solidFill>
            <a:srgbClr val="FFFCF0"/>
          </a:solidFill>
          <a:ln w="9525">
            <a:solidFill>
              <a:srgbClr val="F0C33C"/>
            </a:solidFill>
            <a:prstDash val="solid"/>
          </a:ln>
        </p:spPr>
      </p:sp>
      <p:pic>
        <p:nvPicPr>
          <p:cNvPr id="69" name="search icon 68" descr="search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8232" y="1737360"/>
            <a:ext cx="155448" cy="155448"/>
          </a:xfrm>
          <a:prstGeom prst="rect">
            <a:avLst/>
          </a:prstGeom>
        </p:spPr>
      </p:pic>
      <p:sp>
        <p:nvSpPr>
          <p:cNvPr id="70" name="search label 69"/>
          <p:cNvSpPr txBox="1"/>
          <p:nvPr/>
        </p:nvSpPr>
        <p:spPr>
          <a:xfrm>
            <a:off x="6611112" y="1719072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</a:t>
            </a:r>
            <a:endParaRPr lang="en-US" sz="750" dirty="0"/>
          </a:p>
        </p:txBody>
      </p:sp>
      <p:sp>
        <p:nvSpPr>
          <p:cNvPr id="71" name="search detail 70"/>
          <p:cNvSpPr txBox="1"/>
          <p:nvPr/>
        </p:nvSpPr>
        <p:spPr>
          <a:xfrm>
            <a:off x="6409944" y="191109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(crossover, mutation)</a:t>
            </a:r>
            <a:endParaRPr lang="en-US" sz="630" dirty="0"/>
          </a:p>
        </p:txBody>
      </p:sp>
      <p:sp>
        <p:nvSpPr>
          <p:cNvPr id="72" name="search arrow 71"/>
          <p:cNvSpPr/>
          <p:nvPr/>
        </p:nvSpPr>
        <p:spPr>
          <a:xfrm>
            <a:off x="6739128" y="2208276"/>
            <a:ext cx="128016" cy="91440"/>
          </a:xfrm>
          <a:prstGeom prst="downArrow">
            <a:avLst/>
          </a:prstGeom>
          <a:solidFill>
            <a:srgbClr val="F0C33C"/>
          </a:solidFill>
          <a:ln/>
        </p:spPr>
      </p:sp>
      <p:sp>
        <p:nvSpPr>
          <p:cNvPr id="73" name="search tile 72"/>
          <p:cNvSpPr/>
          <p:nvPr/>
        </p:nvSpPr>
        <p:spPr>
          <a:xfrm>
            <a:off x="6373368" y="2304288"/>
            <a:ext cx="859536" cy="512064"/>
          </a:xfrm>
          <a:prstGeom prst="roundRect">
            <a:avLst>
              <a:gd name="adj" fmla="val 8929"/>
            </a:avLst>
          </a:prstGeom>
          <a:solidFill>
            <a:srgbClr val="FFFCF0"/>
          </a:solidFill>
          <a:ln w="9525">
            <a:solidFill>
              <a:srgbClr val="F0C33C"/>
            </a:solidFill>
            <a:prstDash val="solid"/>
          </a:ln>
        </p:spPr>
      </p:sp>
      <p:pic>
        <p:nvPicPr>
          <p:cNvPr id="74" name="search icon 73" descr="search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8232" y="2359152"/>
            <a:ext cx="155448" cy="155448"/>
          </a:xfrm>
          <a:prstGeom prst="rect">
            <a:avLst/>
          </a:prstGeom>
        </p:spPr>
      </p:pic>
      <p:sp>
        <p:nvSpPr>
          <p:cNvPr id="75" name="search label 74"/>
          <p:cNvSpPr txBox="1"/>
          <p:nvPr/>
        </p:nvSpPr>
        <p:spPr>
          <a:xfrm>
            <a:off x="6611112" y="2340864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population</a:t>
            </a:r>
            <a:endParaRPr lang="en-US" sz="750" dirty="0"/>
          </a:p>
        </p:txBody>
      </p:sp>
      <p:sp>
        <p:nvSpPr>
          <p:cNvPr id="76" name="search detail 75"/>
          <p:cNvSpPr txBox="1"/>
          <p:nvPr/>
        </p:nvSpPr>
        <p:spPr>
          <a:xfrm>
            <a:off x="6409944" y="25328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(re-evaluated each generation)</a:t>
            </a:r>
            <a:endParaRPr lang="en-US" sz="630" dirty="0"/>
          </a:p>
        </p:txBody>
      </p:sp>
      <p:sp>
        <p:nvSpPr>
          <p:cNvPr id="77" name="sub-box 76"/>
          <p:cNvSpPr/>
          <p:nvPr/>
        </p:nvSpPr>
        <p:spPr>
          <a:xfrm>
            <a:off x="7424928" y="548640"/>
            <a:ext cx="1353312" cy="2377440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78" name="stage title 77"/>
          <p:cNvSpPr txBox="1"/>
          <p:nvPr/>
        </p:nvSpPr>
        <p:spPr>
          <a:xfrm>
            <a:off x="7461504" y="576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Pareto front</a:t>
            </a:r>
            <a:endParaRPr lang="en-US" sz="800" dirty="0"/>
          </a:p>
        </p:txBody>
      </p:sp>
      <p:sp>
        <p:nvSpPr>
          <p:cNvPr id="79" name="stage subtitle 78"/>
          <p:cNvSpPr txBox="1"/>
          <p:nvPr/>
        </p:nvSpPr>
        <p:spPr>
          <a:xfrm>
            <a:off x="7461504" y="850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objectives shown)</a:t>
            </a:r>
            <a:endParaRPr lang="en-US" sz="630" dirty="0"/>
          </a:p>
        </p:txBody>
      </p:sp>
      <p:pic>
        <p:nvPicPr>
          <p:cNvPr id="80" name="Pareto front graphic 79" descr="Pareto front graphic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2360" y="1033272"/>
            <a:ext cx="1298448" cy="1810512"/>
          </a:xfrm>
          <a:prstGeom prst="rect">
            <a:avLst/>
          </a:prstGeom>
        </p:spPr>
      </p:pic>
      <p:sp>
        <p:nvSpPr>
          <p:cNvPr id="81" name="step arrow 80"/>
          <p:cNvSpPr/>
          <p:nvPr/>
        </p:nvSpPr>
        <p:spPr>
          <a:xfrm>
            <a:off x="3758184" y="1645920"/>
            <a:ext cx="118872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82" name="step arrow 81"/>
          <p:cNvSpPr/>
          <p:nvPr/>
        </p:nvSpPr>
        <p:spPr>
          <a:xfrm>
            <a:off x="5029200" y="1645920"/>
            <a:ext cx="118872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83" name="step arrow 82"/>
          <p:cNvSpPr/>
          <p:nvPr/>
        </p:nvSpPr>
        <p:spPr>
          <a:xfrm>
            <a:off x="6190488" y="1645920"/>
            <a:ext cx="118872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84" name="step arrow 83"/>
          <p:cNvSpPr/>
          <p:nvPr/>
        </p:nvSpPr>
        <p:spPr>
          <a:xfrm>
            <a:off x="7296912" y="1645920"/>
            <a:ext cx="118872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85" name="iterate loop 84"/>
          <p:cNvSpPr/>
          <p:nvPr/>
        </p:nvSpPr>
        <p:spPr>
          <a:xfrm>
            <a:off x="6803136" y="2926080"/>
            <a:ext cx="0" cy="292608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86" name="iterate loop 85"/>
          <p:cNvSpPr/>
          <p:nvPr/>
        </p:nvSpPr>
        <p:spPr>
          <a:xfrm flipH="1">
            <a:off x="4453128" y="3218688"/>
            <a:ext cx="2350008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87" name="iterate loop 86"/>
          <p:cNvSpPr/>
          <p:nvPr/>
        </p:nvSpPr>
        <p:spPr>
          <a:xfrm flipV="1">
            <a:off x="4453128" y="2926080"/>
            <a:ext cx="0" cy="292608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88" name="iterate label 87"/>
          <p:cNvSpPr txBox="1"/>
          <p:nvPr/>
        </p:nvSpPr>
        <p:spPr>
          <a:xfrm>
            <a:off x="5079492" y="2971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900" dirty="0"/>
          </a:p>
        </p:txBody>
      </p:sp>
      <p:sp>
        <p:nvSpPr>
          <p:cNvPr id="89" name="panel 88"/>
          <p:cNvSpPr/>
          <p:nvPr/>
        </p:nvSpPr>
        <p:spPr>
          <a:xfrm>
            <a:off x="9125712" y="91440"/>
            <a:ext cx="2953512" cy="3401568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90" name="panel title 89"/>
          <p:cNvSpPr txBox="1"/>
          <p:nvPr/>
        </p:nvSpPr>
        <p:spPr>
          <a:xfrm>
            <a:off x="9226296" y="128016"/>
            <a:ext cx="2752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and Robustness Verification (WP3)</a:t>
            </a:r>
            <a:endParaRPr lang="en-US" sz="1300" dirty="0"/>
          </a:p>
        </p:txBody>
      </p:sp>
      <p:sp>
        <p:nvSpPr>
          <p:cNvPr id="91" name="sub-box 90"/>
          <p:cNvSpPr/>
          <p:nvPr/>
        </p:nvSpPr>
        <p:spPr>
          <a:xfrm>
            <a:off x="9198864" y="566928"/>
            <a:ext cx="2807208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92" name="sub-box title 91"/>
          <p:cNvSpPr txBox="1"/>
          <p:nvPr/>
        </p:nvSpPr>
        <p:spPr>
          <a:xfrm>
            <a:off x="9262872" y="594360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verification</a:t>
            </a:r>
            <a:endParaRPr lang="en-US" sz="900" dirty="0"/>
          </a:p>
        </p:txBody>
      </p:sp>
      <p:sp>
        <p:nvSpPr>
          <p:cNvPr id="93" name="verification tile 92"/>
          <p:cNvSpPr/>
          <p:nvPr/>
        </p:nvSpPr>
        <p:spPr>
          <a:xfrm>
            <a:off x="9253728" y="822960"/>
            <a:ext cx="822960" cy="896112"/>
          </a:xfrm>
          <a:prstGeom prst="roundRect">
            <a:avLst>
              <a:gd name="adj" fmla="val 5556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94" name="verification label 93"/>
          <p:cNvSpPr txBox="1"/>
          <p:nvPr/>
        </p:nvSpPr>
        <p:spPr>
          <a:xfrm>
            <a:off x="9281160" y="84124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input</a:t>
            </a:r>
            <a:endParaRPr lang="en-US" sz="700" dirty="0"/>
          </a:p>
        </p:txBody>
      </p:sp>
      <p:pic>
        <p:nvPicPr>
          <p:cNvPr id="95" name="verification graphic 94" descr="verification graphic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81160" y="1188720"/>
            <a:ext cx="768096" cy="457200"/>
          </a:xfrm>
          <a:prstGeom prst="rect">
            <a:avLst/>
          </a:prstGeom>
        </p:spPr>
      </p:pic>
      <p:sp>
        <p:nvSpPr>
          <p:cNvPr id="96" name="verification arrow 95"/>
          <p:cNvSpPr/>
          <p:nvPr/>
        </p:nvSpPr>
        <p:spPr>
          <a:xfrm>
            <a:off x="10090404" y="1344168"/>
            <a:ext cx="86868" cy="146304"/>
          </a:xfrm>
          <a:prstGeom prst="rightArrow">
            <a:avLst/>
          </a:prstGeom>
          <a:solidFill>
            <a:srgbClr val="218B73"/>
          </a:solidFill>
          <a:ln/>
        </p:spPr>
      </p:sp>
      <p:sp>
        <p:nvSpPr>
          <p:cNvPr id="97" name="verification tile 96"/>
          <p:cNvSpPr/>
          <p:nvPr/>
        </p:nvSpPr>
        <p:spPr>
          <a:xfrm>
            <a:off x="10190988" y="822960"/>
            <a:ext cx="822960" cy="896112"/>
          </a:xfrm>
          <a:prstGeom prst="roundRect">
            <a:avLst>
              <a:gd name="adj" fmla="val 5556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98" name="verification label 97"/>
          <p:cNvSpPr txBox="1"/>
          <p:nvPr/>
        </p:nvSpPr>
        <p:spPr>
          <a:xfrm>
            <a:off x="10218420" y="8412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perturbation</a:t>
            </a:r>
            <a:endParaRPr lang="en-US" sz="700" dirty="0"/>
          </a:p>
        </p:txBody>
      </p:sp>
      <p:sp>
        <p:nvSpPr>
          <p:cNvPr id="99" name="verification sublabel 98"/>
          <p:cNvSpPr txBox="1"/>
          <p:nvPr/>
        </p:nvSpPr>
        <p:spPr>
          <a:xfrm>
            <a:off x="10209276" y="1051560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(physiology-informed)</a:t>
            </a:r>
            <a:endParaRPr lang="en-US" sz="580" dirty="0"/>
          </a:p>
        </p:txBody>
      </p:sp>
      <p:pic>
        <p:nvPicPr>
          <p:cNvPr id="100" name="verification graphic 99" descr="verification graphic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18420" y="1188720"/>
            <a:ext cx="768096" cy="457200"/>
          </a:xfrm>
          <a:prstGeom prst="rect">
            <a:avLst/>
          </a:prstGeom>
        </p:spPr>
      </p:pic>
      <p:sp>
        <p:nvSpPr>
          <p:cNvPr id="101" name="verification arrow 100"/>
          <p:cNvSpPr/>
          <p:nvPr/>
        </p:nvSpPr>
        <p:spPr>
          <a:xfrm>
            <a:off x="11027664" y="1344168"/>
            <a:ext cx="86868" cy="146304"/>
          </a:xfrm>
          <a:prstGeom prst="rightArrow">
            <a:avLst/>
          </a:prstGeom>
          <a:solidFill>
            <a:srgbClr val="218B73"/>
          </a:solidFill>
          <a:ln/>
        </p:spPr>
      </p:sp>
      <p:sp>
        <p:nvSpPr>
          <p:cNvPr id="102" name="verification tile 101"/>
          <p:cNvSpPr/>
          <p:nvPr/>
        </p:nvSpPr>
        <p:spPr>
          <a:xfrm>
            <a:off x="11128248" y="822960"/>
            <a:ext cx="822960" cy="896112"/>
          </a:xfrm>
          <a:prstGeom prst="roundRect">
            <a:avLst>
              <a:gd name="adj" fmla="val 5556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03" name="verification label 102"/>
          <p:cNvSpPr txBox="1"/>
          <p:nvPr/>
        </p:nvSpPr>
        <p:spPr>
          <a:xfrm>
            <a:off x="11155680" y="84124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model response</a:t>
            </a:r>
            <a:endParaRPr lang="en-US" sz="700" dirty="0"/>
          </a:p>
        </p:txBody>
      </p:sp>
      <p:pic>
        <p:nvPicPr>
          <p:cNvPr id="104" name="verification graphic 103" descr="verification graphic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55680" y="1188720"/>
            <a:ext cx="768096" cy="457200"/>
          </a:xfrm>
          <a:prstGeom prst="rect">
            <a:avLst/>
          </a:prstGeom>
        </p:spPr>
      </p:pic>
      <p:sp>
        <p:nvSpPr>
          <p:cNvPr id="105" name="caption 104"/>
          <p:cNvSpPr txBox="1"/>
          <p:nvPr/>
        </p:nvSpPr>
        <p:spPr>
          <a:xfrm>
            <a:off x="9244584" y="1737360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tests and controlled perturbations</a:t>
            </a:r>
            <a:endParaRPr lang="en-US" sz="750" dirty="0"/>
          </a:p>
        </p:txBody>
      </p:sp>
      <p:sp>
        <p:nvSpPr>
          <p:cNvPr id="106" name="sub-box 105"/>
          <p:cNvSpPr/>
          <p:nvPr/>
        </p:nvSpPr>
        <p:spPr>
          <a:xfrm>
            <a:off x="9198864" y="2020824"/>
            <a:ext cx="2807208" cy="139903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07" name="sub-box title 106"/>
          <p:cNvSpPr txBox="1"/>
          <p:nvPr/>
        </p:nvSpPr>
        <p:spPr>
          <a:xfrm>
            <a:off x="9262872" y="2048256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coverage under distribution shift</a:t>
            </a:r>
            <a:endParaRPr lang="en-US" sz="850" dirty="0"/>
          </a:p>
        </p:txBody>
      </p:sp>
      <p:sp>
        <p:nvSpPr>
          <p:cNvPr id="108" name="dataset tile 107"/>
          <p:cNvSpPr/>
          <p:nvPr/>
        </p:nvSpPr>
        <p:spPr>
          <a:xfrm>
            <a:off x="9253728" y="2267712"/>
            <a:ext cx="1316736" cy="786384"/>
          </a:xfrm>
          <a:prstGeom prst="roundRect">
            <a:avLst>
              <a:gd name="adj" fmla="val 5814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sp>
        <p:nvSpPr>
          <p:cNvPr id="109" name="dataset label 108"/>
          <p:cNvSpPr txBox="1"/>
          <p:nvPr/>
        </p:nvSpPr>
        <p:spPr>
          <a:xfrm>
            <a:off x="9281160" y="22860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</a:t>
            </a:r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(temporal validation)</a:t>
            </a:r>
            <a:endParaRPr lang="en-US" sz="700" dirty="0"/>
          </a:p>
        </p:txBody>
      </p:sp>
      <p:pic>
        <p:nvPicPr>
          <p:cNvPr id="110" name="dataset graphic 109" descr="dataset graphic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99448" y="2487168"/>
            <a:ext cx="1225296" cy="420624"/>
          </a:xfrm>
          <a:prstGeom prst="rect">
            <a:avLst/>
          </a:prstGeom>
        </p:spPr>
      </p:pic>
      <p:sp>
        <p:nvSpPr>
          <p:cNvPr id="111" name="dataset tile 110"/>
          <p:cNvSpPr/>
          <p:nvPr/>
        </p:nvSpPr>
        <p:spPr>
          <a:xfrm>
            <a:off x="10634472" y="2267712"/>
            <a:ext cx="1316736" cy="786384"/>
          </a:xfrm>
          <a:prstGeom prst="roundRect">
            <a:avLst>
              <a:gd name="adj" fmla="val 5814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sp>
        <p:nvSpPr>
          <p:cNvPr id="112" name="dataset label 111"/>
          <p:cNvSpPr txBox="1"/>
          <p:nvPr/>
        </p:nvSpPr>
        <p:spPr>
          <a:xfrm>
            <a:off x="10661904" y="22860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eICU </a:t>
            </a:r>
            <a:pPr algn="ctr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(cross-site validation)</a:t>
            </a:r>
            <a:endParaRPr lang="en-US" sz="700" dirty="0"/>
          </a:p>
        </p:txBody>
      </p:sp>
      <p:pic>
        <p:nvPicPr>
          <p:cNvPr id="113" name="dataset graphic 112" descr="dataset graphic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80192" y="2487168"/>
            <a:ext cx="1225296" cy="420624"/>
          </a:xfrm>
          <a:prstGeom prst="rect">
            <a:avLst/>
          </a:prstGeom>
        </p:spPr>
      </p:pic>
      <p:sp>
        <p:nvSpPr>
          <p:cNvPr id="114" name="evaluation tile 113"/>
          <p:cNvSpPr/>
          <p:nvPr/>
        </p:nvSpPr>
        <p:spPr>
          <a:xfrm>
            <a:off x="9253728" y="3108960"/>
            <a:ext cx="2697480" cy="256032"/>
          </a:xfrm>
          <a:prstGeom prst="roundRect">
            <a:avLst>
              <a:gd name="adj" fmla="val 17857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115" name="caption 114"/>
          <p:cNvSpPr txBox="1"/>
          <p:nvPr/>
        </p:nvSpPr>
        <p:spPr>
          <a:xfrm>
            <a:off x="9281160" y="3118104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predictive performance and conformal coverage</a:t>
            </a:r>
            <a:endParaRPr lang="en-US" sz="750" dirty="0"/>
          </a:p>
        </p:txBody>
      </p:sp>
      <p:sp>
        <p:nvSpPr>
          <p:cNvPr id="116" name="panel 115"/>
          <p:cNvSpPr/>
          <p:nvPr/>
        </p:nvSpPr>
        <p:spPr>
          <a:xfrm>
            <a:off x="109728" y="3822192"/>
            <a:ext cx="5833872" cy="2944368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17" name="panel title 116"/>
          <p:cNvSpPr txBox="1"/>
          <p:nvPr/>
        </p:nvSpPr>
        <p:spPr>
          <a:xfrm>
            <a:off x="210312" y="3858768"/>
            <a:ext cx="563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Evaluation (WP4)</a:t>
            </a:r>
            <a:endParaRPr lang="en-US" sz="1300" dirty="0"/>
          </a:p>
        </p:txBody>
      </p:sp>
      <p:sp>
        <p:nvSpPr>
          <p:cNvPr id="118" name="sub-box 117"/>
          <p:cNvSpPr/>
          <p:nvPr/>
        </p:nvSpPr>
        <p:spPr>
          <a:xfrm>
            <a:off x="182880" y="4206240"/>
            <a:ext cx="2615184" cy="2487168"/>
          </a:xfrm>
          <a:prstGeom prst="roundRect">
            <a:avLst>
              <a:gd name="adj" fmla="val 1103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19" name="sub-box title 118"/>
          <p:cNvSpPr txBox="1"/>
          <p:nvPr/>
        </p:nvSpPr>
        <p:spPr>
          <a:xfrm>
            <a:off x="246888" y="42336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Compare outputs</a:t>
            </a:r>
            <a:endParaRPr lang="en-US" sz="900" dirty="0"/>
          </a:p>
        </p:txBody>
      </p:sp>
      <p:sp>
        <p:nvSpPr>
          <p:cNvPr id="120" name="output tile 119"/>
          <p:cNvSpPr/>
          <p:nvPr/>
        </p:nvSpPr>
        <p:spPr>
          <a:xfrm>
            <a:off x="237744" y="4462272"/>
            <a:ext cx="1252728" cy="2167128"/>
          </a:xfrm>
          <a:prstGeom prst="roundRect">
            <a:avLst>
              <a:gd name="adj" fmla="val 3650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121" name="output title 120"/>
          <p:cNvSpPr txBox="1"/>
          <p:nvPr/>
        </p:nvSpPr>
        <p:spPr>
          <a:xfrm>
            <a:off x="274320" y="449884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output</a:t>
            </a:r>
            <a:endParaRPr lang="en-US" sz="800" dirty="0"/>
          </a:p>
        </p:txBody>
      </p:sp>
      <p:sp>
        <p:nvSpPr>
          <p:cNvPr id="122" name="output description 121"/>
          <p:cNvSpPr txBox="1"/>
          <p:nvPr/>
        </p:nvSpPr>
        <p:spPr>
          <a:xfrm>
            <a:off x="274320" y="468172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prediction</a:t>
            </a:r>
            <a:endParaRPr lang="en-US" sz="6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(single risk score)</a:t>
            </a:r>
            <a:endParaRPr lang="en-US" sz="650" dirty="0"/>
          </a:p>
        </p:txBody>
      </p:sp>
      <p:sp>
        <p:nvSpPr>
          <p:cNvPr id="123" name="risk box 122"/>
          <p:cNvSpPr/>
          <p:nvPr/>
        </p:nvSpPr>
        <p:spPr>
          <a:xfrm>
            <a:off x="329184" y="5029200"/>
            <a:ext cx="10698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24" name="risk value 123"/>
          <p:cNvSpPr txBox="1"/>
          <p:nvPr/>
        </p:nvSpPr>
        <p:spPr>
          <a:xfrm>
            <a:off x="329184" y="502920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0.28</a:t>
            </a:r>
            <a:endParaRPr lang="en-US" sz="700" dirty="0"/>
          </a:p>
        </p:txBody>
      </p:sp>
      <p:sp>
        <p:nvSpPr>
          <p:cNvPr id="125" name="explanation description 124"/>
          <p:cNvSpPr txBox="1"/>
          <p:nvPr/>
        </p:nvSpPr>
        <p:spPr>
          <a:xfrm>
            <a:off x="274320" y="544982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explanation</a:t>
            </a:r>
            <a:endParaRPr lang="en-US" sz="6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feature importance)</a:t>
            </a:r>
            <a:endParaRPr lang="en-US" sz="650" dirty="0"/>
          </a:p>
        </p:txBody>
      </p:sp>
      <p:pic>
        <p:nvPicPr>
          <p:cNvPr id="126" name="explanation graphic 125" descr="explanation graphic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1752" y="5806440"/>
            <a:ext cx="1124712" cy="731520"/>
          </a:xfrm>
          <a:prstGeom prst="rect">
            <a:avLst/>
          </a:prstGeom>
        </p:spPr>
      </p:pic>
      <p:sp>
        <p:nvSpPr>
          <p:cNvPr id="127" name="output tile 126"/>
          <p:cNvSpPr/>
          <p:nvPr/>
        </p:nvSpPr>
        <p:spPr>
          <a:xfrm>
            <a:off x="1545336" y="4462272"/>
            <a:ext cx="1252728" cy="2167128"/>
          </a:xfrm>
          <a:prstGeom prst="roundRect">
            <a:avLst>
              <a:gd name="adj" fmla="val 3650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sp>
        <p:nvSpPr>
          <p:cNvPr id="128" name="output title 127"/>
          <p:cNvSpPr txBox="1"/>
          <p:nvPr/>
        </p:nvSpPr>
        <p:spPr>
          <a:xfrm>
            <a:off x="1581912" y="449884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Pareto output</a:t>
            </a:r>
            <a:endParaRPr lang="en-US" sz="800" dirty="0"/>
          </a:p>
        </p:txBody>
      </p:sp>
      <p:sp>
        <p:nvSpPr>
          <p:cNvPr id="129" name="output description 128"/>
          <p:cNvSpPr txBox="1"/>
          <p:nvPr/>
        </p:nvSpPr>
        <p:spPr>
          <a:xfrm>
            <a:off x="1581912" y="468172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+ conformal uncertainty</a:t>
            </a:r>
            <a:endParaRPr lang="en-US" sz="6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(interval / band / set)</a:t>
            </a:r>
            <a:endParaRPr lang="en-US" sz="650" dirty="0"/>
          </a:p>
        </p:txBody>
      </p:sp>
      <p:sp>
        <p:nvSpPr>
          <p:cNvPr id="130" name="risk box 129"/>
          <p:cNvSpPr/>
          <p:nvPr/>
        </p:nvSpPr>
        <p:spPr>
          <a:xfrm>
            <a:off x="1636776" y="5029200"/>
            <a:ext cx="10698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3C88BD"/>
            </a:solidFill>
            <a:prstDash val="solid"/>
          </a:ln>
        </p:spPr>
      </p:sp>
      <p:sp>
        <p:nvSpPr>
          <p:cNvPr id="131" name="risk value 130"/>
          <p:cNvSpPr txBox="1"/>
          <p:nvPr/>
        </p:nvSpPr>
        <p:spPr>
          <a:xfrm>
            <a:off x="1636776" y="502920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0.28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(95% CI: 0.12 – 0.46)</a:t>
            </a:r>
            <a:endParaRPr lang="en-US" sz="700" dirty="0"/>
          </a:p>
        </p:txBody>
      </p:sp>
      <p:sp>
        <p:nvSpPr>
          <p:cNvPr id="132" name="explanation description 131"/>
          <p:cNvSpPr txBox="1"/>
          <p:nvPr/>
        </p:nvSpPr>
        <p:spPr>
          <a:xfrm>
            <a:off x="1581912" y="544982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temporal explanation</a:t>
            </a:r>
            <a:endParaRPr lang="en-US" sz="6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salient features over time)</a:t>
            </a:r>
            <a:endParaRPr lang="en-US" sz="650" dirty="0"/>
          </a:p>
        </p:txBody>
      </p:sp>
      <p:pic>
        <p:nvPicPr>
          <p:cNvPr id="133" name="explanation graphic 132" descr="explanation graphic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09344" y="5806440"/>
            <a:ext cx="1124712" cy="731520"/>
          </a:xfrm>
          <a:prstGeom prst="rect">
            <a:avLst/>
          </a:prstGeom>
        </p:spPr>
      </p:pic>
      <p:sp>
        <p:nvSpPr>
          <p:cNvPr id="134" name="sub-box 133"/>
          <p:cNvSpPr/>
          <p:nvPr/>
        </p:nvSpPr>
        <p:spPr>
          <a:xfrm>
            <a:off x="2935224" y="4206240"/>
            <a:ext cx="1700784" cy="1444752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35" name="sub-box title 134"/>
          <p:cNvSpPr txBox="1"/>
          <p:nvPr/>
        </p:nvSpPr>
        <p:spPr>
          <a:xfrm>
            <a:off x="2999232" y="4233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Structured ICU clinician evaluation</a:t>
            </a:r>
            <a:endParaRPr lang="en-US" sz="900" dirty="0"/>
          </a:p>
        </p:txBody>
      </p:sp>
      <p:pic>
        <p:nvPicPr>
          <p:cNvPr id="136" name="photo ICU clinicians at workstation 135" descr="photo ICU clinicians at workstation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99232" y="4535424"/>
            <a:ext cx="676656" cy="475488"/>
          </a:xfrm>
          <a:prstGeom prst="rect">
            <a:avLst/>
          </a:prstGeom>
        </p:spPr>
      </p:pic>
      <p:sp>
        <p:nvSpPr>
          <p:cNvPr id="137" name="evaluation text 136"/>
          <p:cNvSpPr txBox="1"/>
          <p:nvPr/>
        </p:nvSpPr>
        <p:spPr>
          <a:xfrm>
            <a:off x="3721608" y="4535424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clinical cases / scenarios</a:t>
            </a:r>
            <a:endParaRPr lang="en-US" sz="700" dirty="0"/>
          </a:p>
        </p:txBody>
      </p:sp>
      <p:sp>
        <p:nvSpPr>
          <p:cNvPr id="138" name="case tile 137"/>
          <p:cNvSpPr/>
          <p:nvPr/>
        </p:nvSpPr>
        <p:spPr>
          <a:xfrm>
            <a:off x="2999232" y="5056632"/>
            <a:ext cx="694944" cy="365760"/>
          </a:xfrm>
          <a:prstGeom prst="roundRect">
            <a:avLst>
              <a:gd name="adj" fmla="val 12500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39" name="case icon 138" descr="case icon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44952" y="5157216"/>
            <a:ext cx="164592" cy="164592"/>
          </a:xfrm>
          <a:prstGeom prst="rect">
            <a:avLst/>
          </a:prstGeom>
        </p:spPr>
      </p:pic>
      <p:sp>
        <p:nvSpPr>
          <p:cNvPr id="140" name="case label 139"/>
          <p:cNvSpPr txBox="1"/>
          <p:nvPr/>
        </p:nvSpPr>
        <p:spPr>
          <a:xfrm>
            <a:off x="3236976" y="507492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6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</a:t>
            </a:r>
            <a:endParaRPr lang="en-US" sz="650" dirty="0"/>
          </a:p>
        </p:txBody>
      </p:sp>
      <p:sp>
        <p:nvSpPr>
          <p:cNvPr id="141" name="case tile 140"/>
          <p:cNvSpPr/>
          <p:nvPr/>
        </p:nvSpPr>
        <p:spPr>
          <a:xfrm>
            <a:off x="3877056" y="5056632"/>
            <a:ext cx="694944" cy="365760"/>
          </a:xfrm>
          <a:prstGeom prst="roundRect">
            <a:avLst>
              <a:gd name="adj" fmla="val 12500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42" name="case icon 141" descr="case icon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22776" y="5157216"/>
            <a:ext cx="164592" cy="164592"/>
          </a:xfrm>
          <a:prstGeom prst="rect">
            <a:avLst/>
          </a:prstGeom>
        </p:spPr>
      </p:pic>
      <p:sp>
        <p:nvSpPr>
          <p:cNvPr id="143" name="case label 142"/>
          <p:cNvSpPr txBox="1"/>
          <p:nvPr/>
        </p:nvSpPr>
        <p:spPr>
          <a:xfrm>
            <a:off x="4114800" y="507492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650" dirty="0"/>
          </a:p>
        </p:txBody>
      </p:sp>
      <p:sp>
        <p:nvSpPr>
          <p:cNvPr id="144" name="case arrow 143"/>
          <p:cNvSpPr/>
          <p:nvPr/>
        </p:nvSpPr>
        <p:spPr>
          <a:xfrm>
            <a:off x="3730752" y="5184648"/>
            <a:ext cx="109728" cy="109728"/>
          </a:xfrm>
          <a:prstGeom prst="rightArrow">
            <a:avLst/>
          </a:prstGeom>
          <a:solidFill>
            <a:srgbClr val="1F3A5F"/>
          </a:solidFill>
          <a:ln/>
        </p:spPr>
      </p:sp>
      <p:sp>
        <p:nvSpPr>
          <p:cNvPr id="145" name="evaluation caption 144"/>
          <p:cNvSpPr txBox="1"/>
          <p:nvPr/>
        </p:nvSpPr>
        <p:spPr>
          <a:xfrm>
            <a:off x="2980944" y="544982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two output formats</a:t>
            </a:r>
            <a:endParaRPr lang="en-US" sz="680" dirty="0"/>
          </a:p>
        </p:txBody>
      </p:sp>
      <p:sp>
        <p:nvSpPr>
          <p:cNvPr id="146" name="sub-box 145"/>
          <p:cNvSpPr/>
          <p:nvPr/>
        </p:nvSpPr>
        <p:spPr>
          <a:xfrm>
            <a:off x="4773168" y="4206240"/>
            <a:ext cx="1097280" cy="14447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47" name="sub-box title 146"/>
          <p:cNvSpPr txBox="1"/>
          <p:nvPr/>
        </p:nvSpPr>
        <p:spPr>
          <a:xfrm>
            <a:off x="4837176" y="42336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Assess</a:t>
            </a:r>
            <a:endParaRPr lang="en-US" sz="900" dirty="0"/>
          </a:p>
        </p:txBody>
      </p:sp>
      <p:sp>
        <p:nvSpPr>
          <p:cNvPr id="148" name="assess tile 147"/>
          <p:cNvSpPr/>
          <p:nvPr/>
        </p:nvSpPr>
        <p:spPr>
          <a:xfrm>
            <a:off x="4837176" y="4462272"/>
            <a:ext cx="969264" cy="530352"/>
          </a:xfrm>
          <a:prstGeom prst="roundRect">
            <a:avLst>
              <a:gd name="adj" fmla="val 8621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49" name="assess icon 148" descr="assess icon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21224" y="4507992"/>
            <a:ext cx="201168" cy="201168"/>
          </a:xfrm>
          <a:prstGeom prst="rect">
            <a:avLst/>
          </a:prstGeom>
        </p:spPr>
      </p:pic>
      <p:sp>
        <p:nvSpPr>
          <p:cNvPr id="150" name="assess label 149"/>
          <p:cNvSpPr txBox="1"/>
          <p:nvPr/>
        </p:nvSpPr>
        <p:spPr>
          <a:xfrm>
            <a:off x="4855464" y="472744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reliance</a:t>
            </a:r>
            <a:endParaRPr lang="en-US" sz="680" dirty="0"/>
          </a:p>
        </p:txBody>
      </p:sp>
      <p:sp>
        <p:nvSpPr>
          <p:cNvPr id="151" name="assess tile 150"/>
          <p:cNvSpPr/>
          <p:nvPr/>
        </p:nvSpPr>
        <p:spPr>
          <a:xfrm>
            <a:off x="4837176" y="5047488"/>
            <a:ext cx="969264" cy="530352"/>
          </a:xfrm>
          <a:prstGeom prst="roundRect">
            <a:avLst>
              <a:gd name="adj" fmla="val 8621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52" name="assess icon 151" descr="assess icon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21224" y="5093208"/>
            <a:ext cx="201168" cy="201168"/>
          </a:xfrm>
          <a:prstGeom prst="rect">
            <a:avLst/>
          </a:prstGeom>
        </p:spPr>
      </p:pic>
      <p:sp>
        <p:nvSpPr>
          <p:cNvPr id="153" name="assess label 152"/>
          <p:cNvSpPr txBox="1"/>
          <p:nvPr/>
        </p:nvSpPr>
        <p:spPr>
          <a:xfrm>
            <a:off x="4855464" y="531266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interpretation</a:t>
            </a:r>
            <a:endParaRPr lang="en-US" sz="680" dirty="0"/>
          </a:p>
        </p:txBody>
      </p:sp>
      <p:sp>
        <p:nvSpPr>
          <p:cNvPr id="154" name="step arrow 153"/>
          <p:cNvSpPr/>
          <p:nvPr/>
        </p:nvSpPr>
        <p:spPr>
          <a:xfrm>
            <a:off x="2807208" y="4800600"/>
            <a:ext cx="118872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55" name="step arrow 154"/>
          <p:cNvSpPr/>
          <p:nvPr/>
        </p:nvSpPr>
        <p:spPr>
          <a:xfrm>
            <a:off x="4649724" y="4800600"/>
            <a:ext cx="118872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56" name="CPD box 155"/>
          <p:cNvSpPr/>
          <p:nvPr/>
        </p:nvSpPr>
        <p:spPr>
          <a:xfrm>
            <a:off x="2935224" y="5724144"/>
            <a:ext cx="2935224" cy="969264"/>
          </a:xfrm>
          <a:prstGeom prst="roundRect">
            <a:avLst>
              <a:gd name="adj" fmla="val 2830"/>
            </a:avLst>
          </a:prstGeom>
          <a:solidFill>
            <a:srgbClr val="F7F4FB"/>
          </a:solidFill>
          <a:ln w="12700">
            <a:solidFill>
              <a:srgbClr val="8E6CC0"/>
            </a:solidFill>
            <a:prstDash val="dash"/>
          </a:ln>
        </p:spPr>
      </p:sp>
      <p:sp>
        <p:nvSpPr>
          <p:cNvPr id="157" name="CPD title 156"/>
          <p:cNvSpPr txBox="1"/>
          <p:nvPr/>
        </p:nvSpPr>
        <p:spPr>
          <a:xfrm>
            <a:off x="2980944" y="5751576"/>
            <a:ext cx="2843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prediction tasks → explore CPDs for decision support</a:t>
            </a:r>
            <a:endParaRPr lang="en-US" sz="700" dirty="0"/>
          </a:p>
        </p:txBody>
      </p:sp>
      <p:pic>
        <p:nvPicPr>
          <p:cNvPr id="158" name="CPD input graphic 157" descr="CPD input graphic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008376" y="5961888"/>
            <a:ext cx="841248" cy="548640"/>
          </a:xfrm>
          <a:prstGeom prst="rect">
            <a:avLst/>
          </a:prstGeom>
        </p:spPr>
      </p:pic>
      <p:sp>
        <p:nvSpPr>
          <p:cNvPr id="159" name="CPD arrow 158"/>
          <p:cNvSpPr/>
          <p:nvPr/>
        </p:nvSpPr>
        <p:spPr>
          <a:xfrm>
            <a:off x="3904488" y="6172200"/>
            <a:ext cx="164592" cy="128016"/>
          </a:xfrm>
          <a:prstGeom prst="rightArrow">
            <a:avLst/>
          </a:prstGeom>
          <a:solidFill>
            <a:srgbClr val="1F3A5F"/>
          </a:solidFill>
          <a:ln/>
        </p:spPr>
      </p:sp>
      <p:sp>
        <p:nvSpPr>
          <p:cNvPr id="160" name="CPD label 159"/>
          <p:cNvSpPr txBox="1"/>
          <p:nvPr/>
        </p:nvSpPr>
        <p:spPr>
          <a:xfrm>
            <a:off x="4087368" y="60716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CPDs</a:t>
            </a:r>
            <a:endParaRPr lang="en-US" sz="750" dirty="0"/>
          </a:p>
        </p:txBody>
      </p:sp>
      <p:pic>
        <p:nvPicPr>
          <p:cNvPr id="161" name="CPD fan chart 160" descr="CPD fan chart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36008" y="5943600"/>
            <a:ext cx="1097280" cy="585216"/>
          </a:xfrm>
          <a:prstGeom prst="rect">
            <a:avLst/>
          </a:prstGeom>
        </p:spPr>
      </p:pic>
      <p:sp>
        <p:nvSpPr>
          <p:cNvPr id="162" name="CPD caption 161"/>
          <p:cNvSpPr txBox="1"/>
          <p:nvPr/>
        </p:nvSpPr>
        <p:spPr>
          <a:xfrm>
            <a:off x="4636008" y="651967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5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predictive distribution</a:t>
            </a:r>
            <a:endParaRPr lang="en-US" sz="550" dirty="0"/>
          </a:p>
        </p:txBody>
      </p:sp>
      <p:sp>
        <p:nvSpPr>
          <p:cNvPr id="163" name="panel 162"/>
          <p:cNvSpPr/>
          <p:nvPr/>
        </p:nvSpPr>
        <p:spPr>
          <a:xfrm>
            <a:off x="6199632" y="3822192"/>
            <a:ext cx="5879592" cy="2944368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64" name="panel title 163"/>
          <p:cNvSpPr txBox="1"/>
          <p:nvPr/>
        </p:nvSpPr>
        <p:spPr>
          <a:xfrm>
            <a:off x="6300216" y="3858768"/>
            <a:ext cx="5678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Integration and Guidance (WP5)</a:t>
            </a:r>
            <a:endParaRPr lang="en-US" sz="1300" dirty="0"/>
          </a:p>
        </p:txBody>
      </p:sp>
      <p:sp>
        <p:nvSpPr>
          <p:cNvPr id="165" name="evidence tile 164"/>
          <p:cNvSpPr/>
          <p:nvPr/>
        </p:nvSpPr>
        <p:spPr>
          <a:xfrm>
            <a:off x="6291072" y="4206240"/>
            <a:ext cx="1837944" cy="1152144"/>
          </a:xfrm>
          <a:prstGeom prst="roundRect">
            <a:avLst>
              <a:gd name="adj" fmla="val 3968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sp>
        <p:nvSpPr>
          <p:cNvPr id="166" name="evidence title 165"/>
          <p:cNvSpPr txBox="1"/>
          <p:nvPr/>
        </p:nvSpPr>
        <p:spPr>
          <a:xfrm>
            <a:off x="6327648" y="424281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evaluation evidence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WP4)</a:t>
            </a:r>
            <a:endParaRPr lang="en-US" sz="700" dirty="0"/>
          </a:p>
        </p:txBody>
      </p:sp>
      <p:sp>
        <p:nvSpPr>
          <p:cNvPr id="167" name="evidence bullets 166"/>
          <p:cNvSpPr txBox="1"/>
          <p:nvPr/>
        </p:nvSpPr>
        <p:spPr>
          <a:xfrm>
            <a:off x="6345936" y="4590288"/>
            <a:ext cx="1133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feedback</a:t>
            </a:r>
            <a:endParaRPr lang="en-US" sz="7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reliance</a:t>
            </a:r>
            <a:endParaRPr lang="en-US" sz="7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interpretation</a:t>
            </a:r>
            <a:endParaRPr lang="en-US" sz="700" dirty="0"/>
          </a:p>
        </p:txBody>
      </p:sp>
      <p:pic>
        <p:nvPicPr>
          <p:cNvPr id="168" name="evidence graphic 167" descr="evidence graphic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79792" y="4709160"/>
            <a:ext cx="603504" cy="464515"/>
          </a:xfrm>
          <a:prstGeom prst="rect">
            <a:avLst/>
          </a:prstGeom>
        </p:spPr>
      </p:pic>
      <p:sp>
        <p:nvSpPr>
          <p:cNvPr id="169" name="evidence tile 168"/>
          <p:cNvSpPr/>
          <p:nvPr/>
        </p:nvSpPr>
        <p:spPr>
          <a:xfrm>
            <a:off x="8220456" y="4206240"/>
            <a:ext cx="1837944" cy="1152144"/>
          </a:xfrm>
          <a:prstGeom prst="roundRect">
            <a:avLst>
              <a:gd name="adj" fmla="val 3968"/>
            </a:avLst>
          </a:prstGeom>
          <a:solidFill>
            <a:srgbClr val="FFFCF0"/>
          </a:solidFill>
          <a:ln w="9525">
            <a:solidFill>
              <a:srgbClr val="F0C33C"/>
            </a:solidFill>
            <a:prstDash val="solid"/>
          </a:ln>
        </p:spPr>
      </p:sp>
      <p:sp>
        <p:nvSpPr>
          <p:cNvPr id="170" name="evidence title 169"/>
          <p:cNvSpPr txBox="1"/>
          <p:nvPr/>
        </p:nvSpPr>
        <p:spPr>
          <a:xfrm>
            <a:off x="8257032" y="424281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8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evidence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WP2)</a:t>
            </a:r>
            <a:endParaRPr lang="en-US" sz="700" dirty="0"/>
          </a:p>
        </p:txBody>
      </p:sp>
      <p:sp>
        <p:nvSpPr>
          <p:cNvPr id="171" name="evidence bullets 170"/>
          <p:cNvSpPr txBox="1"/>
          <p:nvPr/>
        </p:nvSpPr>
        <p:spPr>
          <a:xfrm>
            <a:off x="8275320" y="4590288"/>
            <a:ext cx="1133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trade-offs</a:t>
            </a:r>
            <a:endParaRPr lang="en-US" sz="7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solutions</a:t>
            </a:r>
            <a:endParaRPr lang="en-US" sz="7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structure</a:t>
            </a:r>
            <a:endParaRPr lang="en-US" sz="700" dirty="0"/>
          </a:p>
        </p:txBody>
      </p:sp>
      <p:pic>
        <p:nvPicPr>
          <p:cNvPr id="172" name="evidence graphic 171" descr="evidence graphic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409176" y="4709160"/>
            <a:ext cx="603504" cy="464515"/>
          </a:xfrm>
          <a:prstGeom prst="rect">
            <a:avLst/>
          </a:prstGeom>
        </p:spPr>
      </p:pic>
      <p:sp>
        <p:nvSpPr>
          <p:cNvPr id="173" name="evidence tile 172"/>
          <p:cNvSpPr/>
          <p:nvPr/>
        </p:nvSpPr>
        <p:spPr>
          <a:xfrm>
            <a:off x="10149840" y="4206240"/>
            <a:ext cx="1837944" cy="1152144"/>
          </a:xfrm>
          <a:prstGeom prst="roundRect">
            <a:avLst>
              <a:gd name="adj" fmla="val 3968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74" name="evidence title 173"/>
          <p:cNvSpPr txBox="1"/>
          <p:nvPr/>
        </p:nvSpPr>
        <p:spPr>
          <a:xfrm>
            <a:off x="10186416" y="424281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evidence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WP3)</a:t>
            </a:r>
            <a:endParaRPr lang="en-US" sz="700" dirty="0"/>
          </a:p>
        </p:txBody>
      </p:sp>
      <p:sp>
        <p:nvSpPr>
          <p:cNvPr id="175" name="evidence bullets 174"/>
          <p:cNvSpPr txBox="1"/>
          <p:nvPr/>
        </p:nvSpPr>
        <p:spPr>
          <a:xfrm>
            <a:off x="10204704" y="4590288"/>
            <a:ext cx="1133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 tests</a:t>
            </a:r>
            <a:endParaRPr lang="en-US" sz="7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shift</a:t>
            </a:r>
            <a:endParaRPr lang="en-US" sz="7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under shift</a:t>
            </a:r>
            <a:endParaRPr lang="en-US" sz="700" dirty="0"/>
          </a:p>
        </p:txBody>
      </p:sp>
      <p:pic>
        <p:nvPicPr>
          <p:cNvPr id="176" name="evidence graphic 175" descr="evidence graphic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338560" y="4709160"/>
            <a:ext cx="603504" cy="464515"/>
          </a:xfrm>
          <a:prstGeom prst="rect">
            <a:avLst/>
          </a:prstGeom>
        </p:spPr>
      </p:pic>
      <p:sp>
        <p:nvSpPr>
          <p:cNvPr id="177" name="merge connector 176"/>
          <p:cNvSpPr/>
          <p:nvPr/>
        </p:nvSpPr>
        <p:spPr>
          <a:xfrm>
            <a:off x="7210044" y="5358384"/>
            <a:ext cx="0" cy="128016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178" name="merge connector 177"/>
          <p:cNvSpPr/>
          <p:nvPr/>
        </p:nvSpPr>
        <p:spPr>
          <a:xfrm>
            <a:off x="9139428" y="5358384"/>
            <a:ext cx="0" cy="128016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179" name="merge connector 178"/>
          <p:cNvSpPr/>
          <p:nvPr/>
        </p:nvSpPr>
        <p:spPr>
          <a:xfrm>
            <a:off x="11068812" y="5358384"/>
            <a:ext cx="0" cy="128016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180" name="merge connector 179"/>
          <p:cNvSpPr/>
          <p:nvPr/>
        </p:nvSpPr>
        <p:spPr>
          <a:xfrm>
            <a:off x="7210044" y="5486400"/>
            <a:ext cx="3858768" cy="0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181" name="merge connector 180"/>
          <p:cNvSpPr/>
          <p:nvPr/>
        </p:nvSpPr>
        <p:spPr>
          <a:xfrm>
            <a:off x="9139428" y="5486400"/>
            <a:ext cx="0" cy="128016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82" name="synthesis box 181"/>
          <p:cNvSpPr/>
          <p:nvPr/>
        </p:nvSpPr>
        <p:spPr>
          <a:xfrm>
            <a:off x="6291072" y="5614416"/>
            <a:ext cx="5696712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3C88BD"/>
            </a:solidFill>
            <a:prstDash val="solid"/>
          </a:ln>
        </p:spPr>
      </p:sp>
      <p:sp>
        <p:nvSpPr>
          <p:cNvPr id="183" name="synthesis title 182"/>
          <p:cNvSpPr txBox="1"/>
          <p:nvPr/>
        </p:nvSpPr>
        <p:spPr>
          <a:xfrm>
            <a:off x="6382512" y="565099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and guidance</a:t>
            </a:r>
            <a:endParaRPr lang="en-US" sz="950" dirty="0"/>
          </a:p>
        </p:txBody>
      </p:sp>
      <p:sp>
        <p:nvSpPr>
          <p:cNvPr id="184" name="synthesis item 183"/>
          <p:cNvSpPr/>
          <p:nvPr/>
        </p:nvSpPr>
        <p:spPr>
          <a:xfrm>
            <a:off x="6492240" y="5916168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185" name="synthesis icon 184" descr="synthesis icon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56248" y="5971032"/>
            <a:ext cx="201168" cy="201168"/>
          </a:xfrm>
          <a:prstGeom prst="rect">
            <a:avLst/>
          </a:prstGeom>
        </p:spPr>
      </p:pic>
      <p:sp>
        <p:nvSpPr>
          <p:cNvPr id="186" name="synthesis label 185"/>
          <p:cNvSpPr txBox="1"/>
          <p:nvPr/>
        </p:nvSpPr>
        <p:spPr>
          <a:xfrm>
            <a:off x="6821424" y="59344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limits and trade-offs</a:t>
            </a:r>
            <a:endParaRPr lang="en-US" sz="750" dirty="0"/>
          </a:p>
        </p:txBody>
      </p:sp>
      <p:sp>
        <p:nvSpPr>
          <p:cNvPr id="187" name="synthesis item 186"/>
          <p:cNvSpPr/>
          <p:nvPr/>
        </p:nvSpPr>
        <p:spPr>
          <a:xfrm>
            <a:off x="9281160" y="5916168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188" name="synthesis icon 187" descr="synthesis icon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345168" y="5971032"/>
            <a:ext cx="201168" cy="201168"/>
          </a:xfrm>
          <a:prstGeom prst="rect">
            <a:avLst/>
          </a:prstGeom>
        </p:spPr>
      </p:pic>
      <p:sp>
        <p:nvSpPr>
          <p:cNvPr id="189" name="synthesis label 188"/>
          <p:cNvSpPr txBox="1"/>
          <p:nvPr/>
        </p:nvSpPr>
        <p:spPr>
          <a:xfrm>
            <a:off x="9610344" y="59344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 guidance</a:t>
            </a:r>
            <a:endParaRPr lang="en-US" sz="750" dirty="0"/>
          </a:p>
        </p:txBody>
      </p:sp>
      <p:sp>
        <p:nvSpPr>
          <p:cNvPr id="190" name="synthesis item 189"/>
          <p:cNvSpPr/>
          <p:nvPr/>
        </p:nvSpPr>
        <p:spPr>
          <a:xfrm>
            <a:off x="6492240" y="6281928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191" name="synthesis icon 190" descr="synthesis icon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56248" y="6336792"/>
            <a:ext cx="201168" cy="201168"/>
          </a:xfrm>
          <a:prstGeom prst="rect">
            <a:avLst/>
          </a:prstGeom>
        </p:spPr>
      </p:pic>
      <p:sp>
        <p:nvSpPr>
          <p:cNvPr id="192" name="synthesis label 191"/>
          <p:cNvSpPr txBox="1"/>
          <p:nvPr/>
        </p:nvSpPr>
        <p:spPr>
          <a:xfrm>
            <a:off x="6821424" y="6300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 for temporal and site shift</a:t>
            </a:r>
            <a:endParaRPr lang="en-US" sz="750" dirty="0"/>
          </a:p>
        </p:txBody>
      </p:sp>
      <p:sp>
        <p:nvSpPr>
          <p:cNvPr id="193" name="synthesis item 192"/>
          <p:cNvSpPr/>
          <p:nvPr/>
        </p:nvSpPr>
        <p:spPr>
          <a:xfrm>
            <a:off x="9281160" y="6281928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194" name="synthesis icon 193" descr="synthesis icon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345168" y="6336792"/>
            <a:ext cx="201168" cy="201168"/>
          </a:xfrm>
          <a:prstGeom prst="rect">
            <a:avLst/>
          </a:prstGeom>
        </p:spPr>
      </p:pic>
      <p:sp>
        <p:nvSpPr>
          <p:cNvPr id="195" name="synthesis label 194"/>
          <p:cNvSpPr txBox="1"/>
          <p:nvPr/>
        </p:nvSpPr>
        <p:spPr>
          <a:xfrm>
            <a:off x="9610344" y="6300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release and dissemination</a:t>
            </a:r>
            <a:endParaRPr lang="en-US" sz="750" dirty="0"/>
          </a:p>
        </p:txBody>
      </p:sp>
      <p:sp>
        <p:nvSpPr>
          <p:cNvPr id="196" name="flow WP1 to WP2 195"/>
          <p:cNvSpPr/>
          <p:nvPr/>
        </p:nvSpPr>
        <p:spPr>
          <a:xfrm>
            <a:off x="2528316" y="1115568"/>
            <a:ext cx="210312" cy="137160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97" name="flow WP2 to WP3 196"/>
          <p:cNvSpPr/>
          <p:nvPr/>
        </p:nvSpPr>
        <p:spPr>
          <a:xfrm>
            <a:off x="8892540" y="1115568"/>
            <a:ext cx="210312" cy="137160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98" name="flow WP4 to WP5 197"/>
          <p:cNvSpPr/>
          <p:nvPr/>
        </p:nvSpPr>
        <p:spPr>
          <a:xfrm>
            <a:off x="5966460" y="4297680"/>
            <a:ext cx="210312" cy="100584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99" name="link WP1 to WP4 198"/>
          <p:cNvSpPr/>
          <p:nvPr/>
        </p:nvSpPr>
        <p:spPr>
          <a:xfrm>
            <a:off x="932688" y="3525012"/>
            <a:ext cx="420624" cy="27432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0" name="flow label 199"/>
          <p:cNvSpPr txBox="1"/>
          <p:nvPr/>
        </p:nvSpPr>
        <p:spPr>
          <a:xfrm>
            <a:off x="1408176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judgement → assessed in WP4</a:t>
            </a:r>
            <a:endParaRPr lang="en-US" sz="700" dirty="0"/>
          </a:p>
        </p:txBody>
      </p:sp>
      <p:sp>
        <p:nvSpPr>
          <p:cNvPr id="201" name="flow WP2 to WP4 200"/>
          <p:cNvSpPr/>
          <p:nvPr/>
        </p:nvSpPr>
        <p:spPr>
          <a:xfrm>
            <a:off x="3931920" y="3525012"/>
            <a:ext cx="420624" cy="274320"/>
          </a:xfrm>
          <a:prstGeom prst="downArrow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2" name="flow label 201"/>
          <p:cNvSpPr txBox="1"/>
          <p:nvPr/>
        </p:nvSpPr>
        <p:spPr>
          <a:xfrm>
            <a:off x="4407408" y="3529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Pareto output</a:t>
            </a:r>
            <a:endParaRPr lang="en-US" sz="700" dirty="0"/>
          </a:p>
        </p:txBody>
      </p:sp>
      <p:sp>
        <p:nvSpPr>
          <p:cNvPr id="203" name="flow WP2 to WP5 202"/>
          <p:cNvSpPr/>
          <p:nvPr/>
        </p:nvSpPr>
        <p:spPr>
          <a:xfrm>
            <a:off x="8229600" y="3525012"/>
            <a:ext cx="420624" cy="274320"/>
          </a:xfrm>
          <a:prstGeom prst="downArrow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4" name="flow label 203"/>
          <p:cNvSpPr txBox="1"/>
          <p:nvPr/>
        </p:nvSpPr>
        <p:spPr>
          <a:xfrm>
            <a:off x="6784848" y="35295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evidence</a:t>
            </a:r>
            <a:endParaRPr lang="en-US" sz="700" dirty="0"/>
          </a:p>
        </p:txBody>
      </p:sp>
      <p:sp>
        <p:nvSpPr>
          <p:cNvPr id="205" name="flow WP3 to WP5 204"/>
          <p:cNvSpPr/>
          <p:nvPr/>
        </p:nvSpPr>
        <p:spPr>
          <a:xfrm>
            <a:off x="10789920" y="3525012"/>
            <a:ext cx="420624" cy="274320"/>
          </a:xfrm>
          <a:prstGeom prst="downArrow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6" name="flow label 205"/>
          <p:cNvSpPr txBox="1"/>
          <p:nvPr/>
        </p:nvSpPr>
        <p:spPr>
          <a:xfrm>
            <a:off x="9345168" y="35295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evidence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Many-objective conformal ICU prediction - project framework</dc:title>
  <dc:subject>PptxGenJS Presentation</dc:subject>
  <dc:creator>PptxGenJS</dc:creator>
  <cp:lastModifiedBy>PptxGenJS</cp:lastModifiedBy>
  <cp:revision>1</cp:revision>
  <dcterms:created xsi:type="dcterms:W3CDTF">2026-10-14T14:51:49Z</dcterms:created>
  <dcterms:modified xsi:type="dcterms:W3CDTF">2026-10-14T14:51:49Z</dcterms:modified>
</cp:coreProperties>
</file>