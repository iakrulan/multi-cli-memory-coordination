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图1（v2）流程与过程量说明
共享临床时间序列测试平台（M1–24 全程）：主任务 = 用入 ICU 前 48 h 不规则采样的生理/实验室观测预测随后 24 h 死亡（二分类）；补充任务 = 西伦敦医院 A&amp;E 等待时间预测（回归）；连续结局用于 CPD。数据：MIMIC-IV（开发 + 时间外推验证）、eICU（独立跨医院验证）、West London A&amp;E（连续任务）。仅使用回顾性、去标识化数据。
测试平台 → WP1：数据特性（不规则采样、纵向依赖、分布漂移）；→ WP2：MIMIC-IV 开发数据（训练与校准）；→ WP3：时间外推集、eICU、A&amp;E。
WP1（M1–6）→ WP2：目标向量 F(θ) = (f1 预测损失, f2 特征贡献的稀疏性与时间稳定性, f3 预定义时间/站点漂移下的最差组损失, f4 预测集大小/区间宽度)，约束：边际覆盖率 ≥ 90%（时间序列/非可交换校准，按亚组与站点复核），以及预定义的漂移环境 E。
WP2（M3–14）：候选种群 θ → 在每个环境 e∈E 上评估 F(θ) 与覆盖率 c → 覆盖约束选择 + 环境感知鲁棒排序（+ WP3 忠实度反馈）→ 交叉/变异生成新种群并迭代；输出 Pareto 前沿刻画（联合改进区、膝点区、漂移下前沿变化）、代表性候选解，并与现有多目标方法对比。
WP2 → WP3：选定的 Pareto 解 θ*；WP3 → WP2：解释忠实度结果，用于改进 f2 可解释性代理与候选选择。
WP3（M8–22）：① 忠实度——消融 + 基于简单生理模型的受控扰动（预先设定期望方向与时间位置），用归因–响应相关和删除/插入保真度量化；② 性能与覆盖——MIMIC-IV 开发/时间外推、eICU 跨医院、A&amp;E 连续任务。
WP2 → WP4：代表性 Pareto 候选解。WP4（M14–22）：ICU 医生在三种条件下审阅平衡的去标识化病例（A 点预测；B 点预测 + 事后解释；C 联合优化输出 + 保形不确定性），结局 = 依赖决策准确性、置信度校准、感知可解释性、决策时间及定性意见；连续任务探索 CPD 支持不同决策规则。
WP2/WP3/WP4 → WP5（M20–24）：优化、验证、临床证据整合为“可联合实现性”图谱（联合可实现 / 权衡 / 失效，随时间与站点漂移变化）；不相容被视为一等结果；输出方法学指导、算法、评估规范与开放获取论文。
图中前沿、相关矩阵、覆盖率柱、可实现性图谱等为示意（illustrative），非结果。
图片与数据来源：
- ICU 中央监护站照片：US Navy photo by PH1 Shane T. McCoy，Wikimedia Commons，公有领域。
- A&amp;E 入口照片：“Entrance to the Accident and Emergency Department, Bradford Infirmary”，Humphrey Bolton，geograph.org.uk / Wikimedia Commons，CC BY-SA 2.0。
- 美国地图底图：“Blank US Map (states only).svg”，Heitordp，Wikimedia Commons，CC0；站点按 eICU Demo 医院所属区域示意摆放。
- 生命体征曲线/不规则采样示意：MIMIC-IV Clinical Database Demo v2.2、eICU-CRD Demo v2.0.1（PhysioNet，开放获取）中的真实数据。
- 图标：Font Awesome（react-icons）。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jp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testbed 1"/>
          <p:cNvSpPr/>
          <p:nvPr/>
        </p:nvSpPr>
        <p:spPr>
          <a:xfrm>
            <a:off x="109728" y="73152"/>
            <a:ext cx="11969496" cy="914400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3" name="testbed title 2"/>
          <p:cNvSpPr txBox="1"/>
          <p:nvPr/>
        </p:nvSpPr>
        <p:spPr>
          <a:xfrm>
            <a:off x="219456" y="1097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clinical</a:t>
            </a:r>
            <a:endParaRPr lang="en-US" sz="17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testbed</a:t>
            </a:r>
            <a:endParaRPr lang="en-US" sz="1700" dirty="0"/>
          </a:p>
        </p:txBody>
      </p:sp>
      <p:sp>
        <p:nvSpPr>
          <p:cNvPr id="4" name="month pill 3"/>
          <p:cNvSpPr/>
          <p:nvPr/>
        </p:nvSpPr>
        <p:spPr>
          <a:xfrm>
            <a:off x="219456" y="658368"/>
            <a:ext cx="170078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5" name="text 4"/>
          <p:cNvSpPr txBox="1"/>
          <p:nvPr/>
        </p:nvSpPr>
        <p:spPr>
          <a:xfrm>
            <a:off x="219456" y="6583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throughout M1–24</a:t>
            </a:r>
            <a:endParaRPr lang="en-US" sz="950" dirty="0"/>
          </a:p>
        </p:txBody>
      </p:sp>
      <p:sp>
        <p:nvSpPr>
          <p:cNvPr id="6" name="task card 5"/>
          <p:cNvSpPr/>
          <p:nvPr/>
        </p:nvSpPr>
        <p:spPr>
          <a:xfrm>
            <a:off x="2487168" y="137160"/>
            <a:ext cx="3611880" cy="7863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7" name="primary task 6"/>
          <p:cNvSpPr txBox="1"/>
          <p:nvPr/>
        </p:nvSpPr>
        <p:spPr>
          <a:xfrm>
            <a:off x="2560320" y="17373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task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 ICU mortality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</a:t>
            </a:r>
            <a:endParaRPr lang="en-US" sz="950" dirty="0"/>
          </a:p>
        </p:txBody>
      </p:sp>
      <p:sp>
        <p:nvSpPr>
          <p:cNvPr id="8" name="text 7"/>
          <p:cNvSpPr txBox="1"/>
          <p:nvPr/>
        </p:nvSpPr>
        <p:spPr>
          <a:xfrm>
            <a:off x="3730752" y="15087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48 h (irregular)</a:t>
            </a:r>
            <a:endParaRPr lang="en-US" sz="900" dirty="0"/>
          </a:p>
        </p:txBody>
      </p:sp>
      <p:sp>
        <p:nvSpPr>
          <p:cNvPr id="9" name="text 8"/>
          <p:cNvSpPr txBox="1"/>
          <p:nvPr/>
        </p:nvSpPr>
        <p:spPr>
          <a:xfrm>
            <a:off x="5266944" y="150876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24 h</a:t>
            </a:r>
            <a:endParaRPr lang="en-US" sz="900" dirty="0"/>
          </a:p>
        </p:txBody>
      </p:sp>
      <p:pic>
        <p:nvPicPr>
          <p:cNvPr id="10" name="first 48 h of irregular ICU observations (real MIMIC-IV demo stay) and 24-h outcome window 9" descr="first 48 h of irregular ICU observations (real MIMIC-IV demo stay) and 24-h outcome wind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752" y="301752"/>
            <a:ext cx="2304288" cy="615391"/>
          </a:xfrm>
          <a:prstGeom prst="rect">
            <a:avLst/>
          </a:prstGeom>
        </p:spPr>
      </p:pic>
      <p:sp>
        <p:nvSpPr>
          <p:cNvPr id="11" name="task card 10"/>
          <p:cNvSpPr/>
          <p:nvPr/>
        </p:nvSpPr>
        <p:spPr>
          <a:xfrm>
            <a:off x="6172200" y="137160"/>
            <a:ext cx="2121408" cy="7863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pic>
        <p:nvPicPr>
          <p:cNvPr id="12" name="photo: NHS A&amp;E department entrance 11" descr="photo: NHS A&amp;E department entr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"/>
            <a:ext cx="914400" cy="676656"/>
          </a:xfrm>
          <a:prstGeom prst="rect">
            <a:avLst/>
          </a:prstGeom>
        </p:spPr>
      </p:pic>
      <p:sp>
        <p:nvSpPr>
          <p:cNvPr id="13" name="complementary task 12"/>
          <p:cNvSpPr txBox="1"/>
          <p:nvPr/>
        </p:nvSpPr>
        <p:spPr>
          <a:xfrm>
            <a:off x="7187184" y="173736"/>
            <a:ext cx="1069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A&amp;E waiting time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CPDs</a:t>
            </a:r>
            <a:endParaRPr lang="en-US" sz="950" dirty="0"/>
          </a:p>
        </p:txBody>
      </p:sp>
      <p:sp>
        <p:nvSpPr>
          <p:cNvPr id="14" name="dataset card 13"/>
          <p:cNvSpPr/>
          <p:nvPr/>
        </p:nvSpPr>
        <p:spPr>
          <a:xfrm>
            <a:off x="8366760" y="137160"/>
            <a:ext cx="1792224" cy="7863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5" name="MIMIC-IV 14"/>
          <p:cNvSpPr txBox="1"/>
          <p:nvPr/>
        </p:nvSpPr>
        <p:spPr>
          <a:xfrm>
            <a:off x="8430768" y="173736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+ temporal test</a:t>
            </a:r>
            <a:endParaRPr lang="en-US" sz="950" dirty="0"/>
          </a:p>
        </p:txBody>
      </p:sp>
      <p:pic>
        <p:nvPicPr>
          <p:cNvPr id="16" name="MIMIC-IV development vs temporal hold-out 15" descr="MIMIC-IV development vs temporal hold-ou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649224"/>
            <a:ext cx="1645920" cy="182880"/>
          </a:xfrm>
          <a:prstGeom prst="rect">
            <a:avLst/>
          </a:prstGeom>
        </p:spPr>
      </p:pic>
      <p:sp>
        <p:nvSpPr>
          <p:cNvPr id="17" name="dataset card 16"/>
          <p:cNvSpPr/>
          <p:nvPr/>
        </p:nvSpPr>
        <p:spPr>
          <a:xfrm>
            <a:off x="10232136" y="137160"/>
            <a:ext cx="1773936" cy="7863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8" name="eICU 17"/>
          <p:cNvSpPr txBox="1"/>
          <p:nvPr/>
        </p:nvSpPr>
        <p:spPr>
          <a:xfrm>
            <a:off x="10296144" y="173736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eICU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cross-hospital test</a:t>
            </a:r>
            <a:endParaRPr lang="en-US" sz="950" dirty="0"/>
          </a:p>
        </p:txBody>
      </p:sp>
      <p:pic>
        <p:nvPicPr>
          <p:cNvPr id="19" name="eICU hospitals across the US 18" descr="eICU hospitals across the 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329184"/>
            <a:ext cx="731520" cy="448056"/>
          </a:xfrm>
          <a:prstGeom prst="rect">
            <a:avLst/>
          </a:prstGeom>
        </p:spPr>
      </p:pic>
      <p:sp>
        <p:nvSpPr>
          <p:cNvPr id="20" name="panel WP1 19"/>
          <p:cNvSpPr/>
          <p:nvPr/>
        </p:nvSpPr>
        <p:spPr>
          <a:xfrm>
            <a:off x="109728" y="1188720"/>
            <a:ext cx="2697480" cy="3035808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21" name="panel title 20"/>
          <p:cNvSpPr txBox="1"/>
          <p:nvPr/>
        </p:nvSpPr>
        <p:spPr>
          <a:xfrm>
            <a:off x="219456" y="1234440"/>
            <a:ext cx="2478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 </a:t>
            </a:r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</a:t>
            </a:r>
            <a:endParaRPr lang="en-US" sz="17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Definition</a:t>
            </a:r>
            <a:endParaRPr lang="en-US" sz="1700" dirty="0"/>
          </a:p>
        </p:txBody>
      </p:sp>
      <p:sp>
        <p:nvSpPr>
          <p:cNvPr id="22" name="month pill 21"/>
          <p:cNvSpPr/>
          <p:nvPr/>
        </p:nvSpPr>
        <p:spPr>
          <a:xfrm>
            <a:off x="2245766" y="1266444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23" name="months 22"/>
          <p:cNvSpPr txBox="1"/>
          <p:nvPr/>
        </p:nvSpPr>
        <p:spPr>
          <a:xfrm>
            <a:off x="2245766" y="12664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M1–6</a:t>
            </a:r>
            <a:endParaRPr lang="en-US" sz="900" dirty="0"/>
          </a:p>
        </p:txBody>
      </p:sp>
      <p:sp>
        <p:nvSpPr>
          <p:cNvPr id="24" name="objective tile 23"/>
          <p:cNvSpPr/>
          <p:nvPr/>
        </p:nvSpPr>
        <p:spPr>
          <a:xfrm>
            <a:off x="182880" y="1810512"/>
            <a:ext cx="1243584" cy="731520"/>
          </a:xfrm>
          <a:prstGeom prst="roundRect">
            <a:avLst>
              <a:gd name="adj" fmla="val 5000"/>
            </a:avLst>
          </a:prstGeom>
          <a:solidFill>
            <a:srgbClr val="F1F6FC"/>
          </a:solidFill>
          <a:ln w="12700">
            <a:solidFill>
              <a:srgbClr val="3C88BD"/>
            </a:solidFill>
            <a:prstDash val="solid"/>
          </a:ln>
        </p:spPr>
      </p:sp>
      <p:sp>
        <p:nvSpPr>
          <p:cNvPr id="25" name="step number 24"/>
          <p:cNvSpPr/>
          <p:nvPr/>
        </p:nvSpPr>
        <p:spPr>
          <a:xfrm>
            <a:off x="219456" y="18470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C88BD"/>
          </a:solidFill>
          <a:ln/>
        </p:spPr>
      </p:sp>
      <p:sp>
        <p:nvSpPr>
          <p:cNvPr id="26" name="step number text 25"/>
          <p:cNvSpPr txBox="1"/>
          <p:nvPr/>
        </p:nvSpPr>
        <p:spPr>
          <a:xfrm>
            <a:off x="219456" y="1847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pic>
        <p:nvPicPr>
          <p:cNvPr id="27" name="objective graphic 26" descr="objective graphi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1856232"/>
            <a:ext cx="1033272" cy="365760"/>
          </a:xfrm>
          <a:prstGeom prst="rect">
            <a:avLst/>
          </a:prstGeom>
        </p:spPr>
      </p:pic>
      <p:sp>
        <p:nvSpPr>
          <p:cNvPr id="28" name="objective label 27"/>
          <p:cNvSpPr txBox="1"/>
          <p:nvPr/>
        </p:nvSpPr>
        <p:spPr>
          <a:xfrm>
            <a:off x="219456" y="22494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loss</a:t>
            </a:r>
            <a:endParaRPr lang="en-US" sz="950" dirty="0"/>
          </a:p>
        </p:txBody>
      </p:sp>
      <p:sp>
        <p:nvSpPr>
          <p:cNvPr id="29" name="objective tile 28"/>
          <p:cNvSpPr/>
          <p:nvPr/>
        </p:nvSpPr>
        <p:spPr>
          <a:xfrm>
            <a:off x="1490472" y="1810512"/>
            <a:ext cx="1243584" cy="731520"/>
          </a:xfrm>
          <a:prstGeom prst="roundRect">
            <a:avLst>
              <a:gd name="adj" fmla="val 5000"/>
            </a:avLst>
          </a:prstGeom>
          <a:solidFill>
            <a:srgbClr val="F2F9F6"/>
          </a:solidFill>
          <a:ln w="12700">
            <a:solidFill>
              <a:srgbClr val="218B73"/>
            </a:solidFill>
            <a:prstDash val="solid"/>
          </a:ln>
        </p:spPr>
      </p:sp>
      <p:sp>
        <p:nvSpPr>
          <p:cNvPr id="30" name="step number 29"/>
          <p:cNvSpPr/>
          <p:nvPr/>
        </p:nvSpPr>
        <p:spPr>
          <a:xfrm>
            <a:off x="1527048" y="18470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18B73"/>
          </a:solidFill>
          <a:ln/>
        </p:spPr>
      </p:sp>
      <p:sp>
        <p:nvSpPr>
          <p:cNvPr id="31" name="step number text 30"/>
          <p:cNvSpPr txBox="1"/>
          <p:nvPr/>
        </p:nvSpPr>
        <p:spPr>
          <a:xfrm>
            <a:off x="1527048" y="1847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pic>
        <p:nvPicPr>
          <p:cNvPr id="32" name="objective graphic 31" descr="objective graphi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4208" y="1856232"/>
            <a:ext cx="1033272" cy="365760"/>
          </a:xfrm>
          <a:prstGeom prst="rect">
            <a:avLst/>
          </a:prstGeom>
        </p:spPr>
      </p:pic>
      <p:sp>
        <p:nvSpPr>
          <p:cNvPr id="33" name="objective label 32"/>
          <p:cNvSpPr txBox="1"/>
          <p:nvPr/>
        </p:nvSpPr>
        <p:spPr>
          <a:xfrm>
            <a:off x="1527048" y="22494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Sparsity &amp; stability</a:t>
            </a:r>
            <a:endParaRPr lang="en-US" sz="950" dirty="0"/>
          </a:p>
        </p:txBody>
      </p:sp>
      <p:sp>
        <p:nvSpPr>
          <p:cNvPr id="34" name="objective tile 33"/>
          <p:cNvSpPr/>
          <p:nvPr/>
        </p:nvSpPr>
        <p:spPr>
          <a:xfrm>
            <a:off x="182880" y="2596896"/>
            <a:ext cx="1243584" cy="731520"/>
          </a:xfrm>
          <a:prstGeom prst="roundRect">
            <a:avLst>
              <a:gd name="adj" fmla="val 5000"/>
            </a:avLst>
          </a:prstGeom>
          <a:solidFill>
            <a:srgbClr val="F7F4FB"/>
          </a:solidFill>
          <a:ln w="12700">
            <a:solidFill>
              <a:srgbClr val="8E6CC0"/>
            </a:solidFill>
            <a:prstDash val="solid"/>
          </a:ln>
        </p:spPr>
      </p:sp>
      <p:sp>
        <p:nvSpPr>
          <p:cNvPr id="35" name="step number 34"/>
          <p:cNvSpPr/>
          <p:nvPr/>
        </p:nvSpPr>
        <p:spPr>
          <a:xfrm>
            <a:off x="219456" y="26334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8E6CC0"/>
          </a:solidFill>
          <a:ln/>
        </p:spPr>
      </p:sp>
      <p:sp>
        <p:nvSpPr>
          <p:cNvPr id="36" name="step number text 35"/>
          <p:cNvSpPr txBox="1"/>
          <p:nvPr/>
        </p:nvSpPr>
        <p:spPr>
          <a:xfrm>
            <a:off x="219456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pic>
        <p:nvPicPr>
          <p:cNvPr id="37" name="objective graphic 36" descr="objective graphi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" y="2642616"/>
            <a:ext cx="1033272" cy="365760"/>
          </a:xfrm>
          <a:prstGeom prst="rect">
            <a:avLst/>
          </a:prstGeom>
        </p:spPr>
      </p:pic>
      <p:sp>
        <p:nvSpPr>
          <p:cNvPr id="38" name="objective label 37"/>
          <p:cNvSpPr txBox="1"/>
          <p:nvPr/>
        </p:nvSpPr>
        <p:spPr>
          <a:xfrm>
            <a:off x="219456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Worst-group loss</a:t>
            </a:r>
            <a:endParaRPr lang="en-US" sz="950" dirty="0"/>
          </a:p>
        </p:txBody>
      </p:sp>
      <p:sp>
        <p:nvSpPr>
          <p:cNvPr id="39" name="objective tile 38"/>
          <p:cNvSpPr/>
          <p:nvPr/>
        </p:nvSpPr>
        <p:spPr>
          <a:xfrm>
            <a:off x="1490472" y="2596896"/>
            <a:ext cx="1243584" cy="731520"/>
          </a:xfrm>
          <a:prstGeom prst="roundRect">
            <a:avLst>
              <a:gd name="adj" fmla="val 5000"/>
            </a:avLst>
          </a:prstGeom>
          <a:solidFill>
            <a:srgbClr val="FDF1E8"/>
          </a:solidFill>
          <a:ln w="12700">
            <a:solidFill>
              <a:srgbClr val="D9773F"/>
            </a:solidFill>
            <a:prstDash val="solid"/>
          </a:ln>
        </p:spPr>
      </p:sp>
      <p:sp>
        <p:nvSpPr>
          <p:cNvPr id="40" name="step number 39"/>
          <p:cNvSpPr/>
          <p:nvPr/>
        </p:nvSpPr>
        <p:spPr>
          <a:xfrm>
            <a:off x="1527048" y="26334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D9773F"/>
          </a:solidFill>
          <a:ln/>
        </p:spPr>
      </p:sp>
      <p:sp>
        <p:nvSpPr>
          <p:cNvPr id="41" name="step number text 40"/>
          <p:cNvSpPr txBox="1"/>
          <p:nvPr/>
        </p:nvSpPr>
        <p:spPr>
          <a:xfrm>
            <a:off x="1527048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pic>
        <p:nvPicPr>
          <p:cNvPr id="42" name="objective graphic 41" descr="objective graphic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4208" y="2642616"/>
            <a:ext cx="1033272" cy="365760"/>
          </a:xfrm>
          <a:prstGeom prst="rect">
            <a:avLst/>
          </a:prstGeom>
        </p:spPr>
      </p:pic>
      <p:sp>
        <p:nvSpPr>
          <p:cNvPr id="43" name="objective label 42"/>
          <p:cNvSpPr txBox="1"/>
          <p:nvPr/>
        </p:nvSpPr>
        <p:spPr>
          <a:xfrm>
            <a:off x="1527048" y="303580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size / width</a:t>
            </a:r>
            <a:endParaRPr lang="en-US" sz="950" dirty="0"/>
          </a:p>
        </p:txBody>
      </p:sp>
      <p:sp>
        <p:nvSpPr>
          <p:cNvPr id="44" name="constraint tile 43"/>
          <p:cNvSpPr/>
          <p:nvPr/>
        </p:nvSpPr>
        <p:spPr>
          <a:xfrm>
            <a:off x="182880" y="3383280"/>
            <a:ext cx="2551176" cy="310896"/>
          </a:xfrm>
          <a:prstGeom prst="roundRect">
            <a:avLst>
              <a:gd name="adj" fmla="val 11765"/>
            </a:avLst>
          </a:prstGeom>
          <a:solidFill>
            <a:srgbClr val="FBEDE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5" name="constraint icon 44" descr="constraint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" y="3438144"/>
            <a:ext cx="201168" cy="201168"/>
          </a:xfrm>
          <a:prstGeom prst="rect">
            <a:avLst/>
          </a:prstGeom>
        </p:spPr>
      </p:pic>
      <p:sp>
        <p:nvSpPr>
          <p:cNvPr id="46" name="text 45"/>
          <p:cNvSpPr txBox="1"/>
          <p:nvPr/>
        </p:nvSpPr>
        <p:spPr>
          <a:xfrm>
            <a:off x="502920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Constraint: coverage ≥ 90%</a:t>
            </a:r>
            <a:endParaRPr lang="en-US" sz="1050" dirty="0"/>
          </a:p>
        </p:txBody>
      </p:sp>
      <p:sp>
        <p:nvSpPr>
          <p:cNvPr id="47" name="WP1 output 46"/>
          <p:cNvSpPr/>
          <p:nvPr/>
        </p:nvSpPr>
        <p:spPr>
          <a:xfrm>
            <a:off x="182880" y="3749040"/>
            <a:ext cx="2551176" cy="402336"/>
          </a:xfrm>
          <a:prstGeom prst="roundRect">
            <a:avLst>
              <a:gd name="adj" fmla="val 11364"/>
            </a:avLst>
          </a:prstGeom>
          <a:solidFill>
            <a:srgbClr val="1F3A5F"/>
          </a:solidFill>
          <a:ln/>
        </p:spPr>
      </p:sp>
      <p:sp>
        <p:nvSpPr>
          <p:cNvPr id="48" name="output text 47"/>
          <p:cNvSpPr txBox="1"/>
          <p:nvPr/>
        </p:nvSpPr>
        <p:spPr>
          <a:xfrm>
            <a:off x="274320" y="3749040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</a:t>
            </a:r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objectives + coverage constraint</a:t>
            </a:r>
            <a:endParaRPr lang="en-US" sz="1050" dirty="0"/>
          </a:p>
        </p:txBody>
      </p:sp>
      <p:sp>
        <p:nvSpPr>
          <p:cNvPr id="49" name="panel WP2 48"/>
          <p:cNvSpPr/>
          <p:nvPr/>
        </p:nvSpPr>
        <p:spPr>
          <a:xfrm>
            <a:off x="3118104" y="1188720"/>
            <a:ext cx="5458968" cy="3035808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50" name="panel title 49"/>
          <p:cNvSpPr txBox="1"/>
          <p:nvPr/>
        </p:nvSpPr>
        <p:spPr>
          <a:xfrm>
            <a:off x="3227832" y="1234440"/>
            <a:ext cx="5239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 </a:t>
            </a:r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Many-Objective Method Development</a:t>
            </a:r>
            <a:endParaRPr lang="en-US" sz="1700" dirty="0"/>
          </a:p>
        </p:txBody>
      </p:sp>
      <p:sp>
        <p:nvSpPr>
          <p:cNvPr id="51" name="month pill 50"/>
          <p:cNvSpPr/>
          <p:nvPr/>
        </p:nvSpPr>
        <p:spPr>
          <a:xfrm>
            <a:off x="7677302" y="1266444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52" name="months 51"/>
          <p:cNvSpPr txBox="1"/>
          <p:nvPr/>
        </p:nvSpPr>
        <p:spPr>
          <a:xfrm>
            <a:off x="7677302" y="12664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M3–14</a:t>
            </a:r>
            <a:endParaRPr lang="en-US" sz="900" dirty="0"/>
          </a:p>
        </p:txBody>
      </p:sp>
      <p:sp>
        <p:nvSpPr>
          <p:cNvPr id="53" name="step box 52"/>
          <p:cNvSpPr/>
          <p:nvPr/>
        </p:nvSpPr>
        <p:spPr>
          <a:xfrm>
            <a:off x="3191256" y="1700784"/>
            <a:ext cx="960120" cy="16276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54" name="step number 53"/>
          <p:cNvSpPr/>
          <p:nvPr/>
        </p:nvSpPr>
        <p:spPr>
          <a:xfrm>
            <a:off x="3227832" y="174650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55" name="step number text 54"/>
          <p:cNvSpPr txBox="1"/>
          <p:nvPr/>
        </p:nvSpPr>
        <p:spPr>
          <a:xfrm>
            <a:off x="3227832" y="1746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56" name="text 55"/>
          <p:cNvSpPr txBox="1"/>
          <p:nvPr/>
        </p:nvSpPr>
        <p:spPr>
          <a:xfrm>
            <a:off x="3474720" y="17282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models</a:t>
            </a:r>
            <a:endParaRPr lang="en-US" sz="950" dirty="0"/>
          </a:p>
        </p:txBody>
      </p:sp>
      <p:pic>
        <p:nvPicPr>
          <p:cNvPr id="57" name="population of candidate models 56" descr="population of candidate model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6976" y="2139696"/>
            <a:ext cx="868680" cy="749808"/>
          </a:xfrm>
          <a:prstGeom prst="rect">
            <a:avLst/>
          </a:prstGeom>
        </p:spPr>
      </p:pic>
      <p:sp>
        <p:nvSpPr>
          <p:cNvPr id="58" name="text 57"/>
          <p:cNvSpPr txBox="1"/>
          <p:nvPr/>
        </p:nvSpPr>
        <p:spPr>
          <a:xfrm>
            <a:off x="3218688" y="296265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θ</a:t>
            </a:r>
            <a:endParaRPr lang="en-US" sz="950" dirty="0"/>
          </a:p>
        </p:txBody>
      </p:sp>
      <p:sp>
        <p:nvSpPr>
          <p:cNvPr id="59" name="step box 58"/>
          <p:cNvSpPr/>
          <p:nvPr/>
        </p:nvSpPr>
        <p:spPr>
          <a:xfrm>
            <a:off x="4270248" y="1700784"/>
            <a:ext cx="1143000" cy="1627632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60" name="step number 59"/>
          <p:cNvSpPr/>
          <p:nvPr/>
        </p:nvSpPr>
        <p:spPr>
          <a:xfrm>
            <a:off x="4306824" y="174650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61" name="step number text 60"/>
          <p:cNvSpPr txBox="1"/>
          <p:nvPr/>
        </p:nvSpPr>
        <p:spPr>
          <a:xfrm>
            <a:off x="4306824" y="1746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1"/>
          <p:cNvSpPr txBox="1"/>
          <p:nvPr/>
        </p:nvSpPr>
        <p:spPr>
          <a:xfrm>
            <a:off x="4553712" y="172821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under shift</a:t>
            </a:r>
            <a:endParaRPr lang="en-US" sz="950" dirty="0"/>
          </a:p>
        </p:txBody>
      </p:sp>
      <p:sp>
        <p:nvSpPr>
          <p:cNvPr id="63" name="score row 62"/>
          <p:cNvSpPr/>
          <p:nvPr/>
        </p:nvSpPr>
        <p:spPr>
          <a:xfrm>
            <a:off x="4325112" y="2103120"/>
            <a:ext cx="1033272" cy="210312"/>
          </a:xfrm>
          <a:prstGeom prst="roundRect">
            <a:avLst>
              <a:gd name="adj" fmla="val 17391"/>
            </a:avLst>
          </a:prstGeom>
          <a:solidFill>
            <a:srgbClr val="F1F6FC"/>
          </a:solidFill>
          <a:ln w="12700">
            <a:solidFill>
              <a:srgbClr val="3C88BD"/>
            </a:solidFill>
            <a:prstDash val="solid"/>
          </a:ln>
        </p:spPr>
      </p:sp>
      <p:pic>
        <p:nvPicPr>
          <p:cNvPr id="64" name="score icon 63" descr="scor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1688" y="2130552"/>
            <a:ext cx="155448" cy="155448"/>
          </a:xfrm>
          <a:prstGeom prst="rect">
            <a:avLst/>
          </a:prstGeom>
        </p:spPr>
      </p:pic>
      <p:sp>
        <p:nvSpPr>
          <p:cNvPr id="65" name="text 64"/>
          <p:cNvSpPr txBox="1"/>
          <p:nvPr/>
        </p:nvSpPr>
        <p:spPr>
          <a:xfrm>
            <a:off x="4553712" y="2103120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00" dirty="0"/>
          </a:p>
        </p:txBody>
      </p:sp>
      <p:sp>
        <p:nvSpPr>
          <p:cNvPr id="66" name="score row 65"/>
          <p:cNvSpPr/>
          <p:nvPr/>
        </p:nvSpPr>
        <p:spPr>
          <a:xfrm>
            <a:off x="4325112" y="2345436"/>
            <a:ext cx="1033272" cy="210312"/>
          </a:xfrm>
          <a:prstGeom prst="roundRect">
            <a:avLst>
              <a:gd name="adj" fmla="val 17391"/>
            </a:avLst>
          </a:prstGeom>
          <a:solidFill>
            <a:srgbClr val="F2F9F6"/>
          </a:solidFill>
          <a:ln w="12700">
            <a:solidFill>
              <a:srgbClr val="218B73"/>
            </a:solidFill>
            <a:prstDash val="solid"/>
          </a:ln>
        </p:spPr>
      </p:sp>
      <p:pic>
        <p:nvPicPr>
          <p:cNvPr id="67" name="score icon 66" descr="scor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61688" y="2372868"/>
            <a:ext cx="155448" cy="155448"/>
          </a:xfrm>
          <a:prstGeom prst="rect">
            <a:avLst/>
          </a:prstGeom>
        </p:spPr>
      </p:pic>
      <p:sp>
        <p:nvSpPr>
          <p:cNvPr id="68" name="text 67"/>
          <p:cNvSpPr txBox="1"/>
          <p:nvPr/>
        </p:nvSpPr>
        <p:spPr>
          <a:xfrm>
            <a:off x="4553712" y="2345436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Sparsity</a:t>
            </a:r>
            <a:endParaRPr lang="en-US" sz="900" dirty="0"/>
          </a:p>
        </p:txBody>
      </p:sp>
      <p:sp>
        <p:nvSpPr>
          <p:cNvPr id="69" name="score row 68"/>
          <p:cNvSpPr/>
          <p:nvPr/>
        </p:nvSpPr>
        <p:spPr>
          <a:xfrm>
            <a:off x="4325112" y="2587752"/>
            <a:ext cx="1033272" cy="210312"/>
          </a:xfrm>
          <a:prstGeom prst="roundRect">
            <a:avLst>
              <a:gd name="adj" fmla="val 17391"/>
            </a:avLst>
          </a:prstGeom>
          <a:solidFill>
            <a:srgbClr val="F7F4FB"/>
          </a:solidFill>
          <a:ln w="12700">
            <a:solidFill>
              <a:srgbClr val="8E6CC0"/>
            </a:solidFill>
            <a:prstDash val="solid"/>
          </a:ln>
        </p:spPr>
      </p:sp>
      <p:pic>
        <p:nvPicPr>
          <p:cNvPr id="70" name="score icon 69" descr="score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61688" y="2615184"/>
            <a:ext cx="155448" cy="155448"/>
          </a:xfrm>
          <a:prstGeom prst="rect">
            <a:avLst/>
          </a:prstGeom>
        </p:spPr>
      </p:pic>
      <p:sp>
        <p:nvSpPr>
          <p:cNvPr id="71" name="text 70"/>
          <p:cNvSpPr txBox="1"/>
          <p:nvPr/>
        </p:nvSpPr>
        <p:spPr>
          <a:xfrm>
            <a:off x="4553712" y="2587752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Worst-group</a:t>
            </a:r>
            <a:endParaRPr lang="en-US" sz="900" dirty="0"/>
          </a:p>
        </p:txBody>
      </p:sp>
      <p:sp>
        <p:nvSpPr>
          <p:cNvPr id="72" name="score row 71"/>
          <p:cNvSpPr/>
          <p:nvPr/>
        </p:nvSpPr>
        <p:spPr>
          <a:xfrm>
            <a:off x="4325112" y="2830068"/>
            <a:ext cx="1033272" cy="210312"/>
          </a:xfrm>
          <a:prstGeom prst="roundRect">
            <a:avLst>
              <a:gd name="adj" fmla="val 17391"/>
            </a:avLst>
          </a:prstGeom>
          <a:solidFill>
            <a:srgbClr val="FDF1E8"/>
          </a:solidFill>
          <a:ln w="12700">
            <a:solidFill>
              <a:srgbClr val="D9773F"/>
            </a:solidFill>
            <a:prstDash val="solid"/>
          </a:ln>
        </p:spPr>
      </p:sp>
      <p:pic>
        <p:nvPicPr>
          <p:cNvPr id="73" name="score icon 72" descr="score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1688" y="2857500"/>
            <a:ext cx="155448" cy="155448"/>
          </a:xfrm>
          <a:prstGeom prst="rect">
            <a:avLst/>
          </a:prstGeom>
        </p:spPr>
      </p:pic>
      <p:sp>
        <p:nvSpPr>
          <p:cNvPr id="74" name="text 73"/>
          <p:cNvSpPr txBox="1"/>
          <p:nvPr/>
        </p:nvSpPr>
        <p:spPr>
          <a:xfrm>
            <a:off x="4553712" y="2830068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size</a:t>
            </a:r>
            <a:endParaRPr lang="en-US" sz="900" dirty="0"/>
          </a:p>
        </p:txBody>
      </p:sp>
      <p:sp>
        <p:nvSpPr>
          <p:cNvPr id="75" name="score row 74"/>
          <p:cNvSpPr/>
          <p:nvPr/>
        </p:nvSpPr>
        <p:spPr>
          <a:xfrm>
            <a:off x="4325112" y="3072384"/>
            <a:ext cx="1033272" cy="210312"/>
          </a:xfrm>
          <a:prstGeom prst="roundRect">
            <a:avLst>
              <a:gd name="adj" fmla="val 17391"/>
            </a:avLst>
          </a:prstGeom>
          <a:solidFill>
            <a:srgbClr val="FBEDEB"/>
          </a:solidFill>
          <a:ln w="12700">
            <a:solidFill>
              <a:srgbClr val="C0392B"/>
            </a:solidFill>
            <a:prstDash val="dash"/>
          </a:ln>
        </p:spPr>
      </p:sp>
      <p:pic>
        <p:nvPicPr>
          <p:cNvPr id="76" name="score icon 75" descr="score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1688" y="3099816"/>
            <a:ext cx="155448" cy="155448"/>
          </a:xfrm>
          <a:prstGeom prst="rect">
            <a:avLst/>
          </a:prstGeom>
        </p:spPr>
      </p:pic>
      <p:sp>
        <p:nvSpPr>
          <p:cNvPr id="77" name="text 76"/>
          <p:cNvSpPr txBox="1"/>
          <p:nvPr/>
        </p:nvSpPr>
        <p:spPr>
          <a:xfrm>
            <a:off x="4553712" y="3072384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900" dirty="0"/>
          </a:p>
        </p:txBody>
      </p:sp>
      <p:sp>
        <p:nvSpPr>
          <p:cNvPr id="78" name="step box 77"/>
          <p:cNvSpPr/>
          <p:nvPr/>
        </p:nvSpPr>
        <p:spPr>
          <a:xfrm>
            <a:off x="5532120" y="1700784"/>
            <a:ext cx="1143000" cy="1627632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79" name="step number 78"/>
          <p:cNvSpPr/>
          <p:nvPr/>
        </p:nvSpPr>
        <p:spPr>
          <a:xfrm>
            <a:off x="5568696" y="174650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80" name="step number text 79"/>
          <p:cNvSpPr txBox="1"/>
          <p:nvPr/>
        </p:nvSpPr>
        <p:spPr>
          <a:xfrm>
            <a:off x="5568696" y="1746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80"/>
          <p:cNvSpPr txBox="1"/>
          <p:nvPr/>
        </p:nvSpPr>
        <p:spPr>
          <a:xfrm>
            <a:off x="5815584" y="172821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&amp; robust selection</a:t>
            </a:r>
            <a:endParaRPr lang="en-US" sz="950" dirty="0"/>
          </a:p>
        </p:txBody>
      </p:sp>
      <p:pic>
        <p:nvPicPr>
          <p:cNvPr id="82" name="coverage-constrained selection 81" descr="coverage-constrained selecti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7840" y="2103120"/>
            <a:ext cx="1005840" cy="795528"/>
          </a:xfrm>
          <a:prstGeom prst="rect">
            <a:avLst/>
          </a:prstGeom>
        </p:spPr>
      </p:pic>
      <p:sp>
        <p:nvSpPr>
          <p:cNvPr id="83" name="text 82"/>
          <p:cNvSpPr txBox="1"/>
          <p:nvPr/>
        </p:nvSpPr>
        <p:spPr>
          <a:xfrm>
            <a:off x="5605272" y="228600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900" dirty="0"/>
          </a:p>
        </p:txBody>
      </p:sp>
      <p:sp>
        <p:nvSpPr>
          <p:cNvPr id="84" name="text 83"/>
          <p:cNvSpPr txBox="1"/>
          <p:nvPr/>
        </p:nvSpPr>
        <p:spPr>
          <a:xfrm>
            <a:off x="5550408" y="2907792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worst-env. ranking</a:t>
            </a:r>
            <a:endParaRPr lang="en-US" sz="900" dirty="0"/>
          </a:p>
        </p:txBody>
      </p:sp>
      <p:sp>
        <p:nvSpPr>
          <p:cNvPr id="85" name="text 84"/>
          <p:cNvSpPr txBox="1"/>
          <p:nvPr/>
        </p:nvSpPr>
        <p:spPr>
          <a:xfrm>
            <a:off x="5550408" y="3099816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WP3 feedback</a:t>
            </a:r>
            <a:endParaRPr lang="en-US" sz="900" dirty="0"/>
          </a:p>
        </p:txBody>
      </p:sp>
      <p:sp>
        <p:nvSpPr>
          <p:cNvPr id="86" name="step box 85"/>
          <p:cNvSpPr/>
          <p:nvPr/>
        </p:nvSpPr>
        <p:spPr>
          <a:xfrm>
            <a:off x="6793992" y="1700784"/>
            <a:ext cx="1709928" cy="1627632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87" name="step number 86"/>
          <p:cNvSpPr/>
          <p:nvPr/>
        </p:nvSpPr>
        <p:spPr>
          <a:xfrm>
            <a:off x="6830568" y="174650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88" name="step number text 87"/>
          <p:cNvSpPr txBox="1"/>
          <p:nvPr/>
        </p:nvSpPr>
        <p:spPr>
          <a:xfrm>
            <a:off x="6830568" y="1746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89" name="text 88"/>
          <p:cNvSpPr txBox="1"/>
          <p:nvPr/>
        </p:nvSpPr>
        <p:spPr>
          <a:xfrm>
            <a:off x="7095744" y="17282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frontier</a:t>
            </a:r>
            <a:endParaRPr lang="en-US" sz="1050" dirty="0"/>
          </a:p>
        </p:txBody>
      </p:sp>
      <p:pic>
        <p:nvPicPr>
          <p:cNvPr id="90" name="Pareto frontier with knee region and front under shift 89" descr="Pareto frontier with knee region and front under shif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48856" y="2002536"/>
            <a:ext cx="1600200" cy="960120"/>
          </a:xfrm>
          <a:prstGeom prst="rect">
            <a:avLst/>
          </a:prstGeom>
        </p:spPr>
      </p:pic>
      <p:sp>
        <p:nvSpPr>
          <p:cNvPr id="91" name="text 90"/>
          <p:cNvSpPr txBox="1"/>
          <p:nvPr/>
        </p:nvSpPr>
        <p:spPr>
          <a:xfrm>
            <a:off x="7004304" y="26517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</a:t>
            </a:r>
            <a:endParaRPr lang="en-US" sz="900" dirty="0"/>
          </a:p>
        </p:txBody>
      </p:sp>
      <p:sp>
        <p:nvSpPr>
          <p:cNvPr id="92" name="text 91"/>
          <p:cNvSpPr txBox="1"/>
          <p:nvPr/>
        </p:nvSpPr>
        <p:spPr>
          <a:xfrm>
            <a:off x="6858000" y="2962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E0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</a:t>
            </a:r>
            <a:endParaRPr lang="en-US" sz="9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</a:t>
            </a:r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under shift</a:t>
            </a:r>
            <a:endParaRPr lang="en-US" sz="900" dirty="0"/>
          </a:p>
        </p:txBody>
      </p:sp>
      <p:sp>
        <p:nvSpPr>
          <p:cNvPr id="93" name="step arrow 92"/>
          <p:cNvSpPr/>
          <p:nvPr/>
        </p:nvSpPr>
        <p:spPr>
          <a:xfrm>
            <a:off x="4160520" y="2395728"/>
            <a:ext cx="100584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94" name="step arrow 93"/>
          <p:cNvSpPr/>
          <p:nvPr/>
        </p:nvSpPr>
        <p:spPr>
          <a:xfrm>
            <a:off x="5422392" y="2395728"/>
            <a:ext cx="100584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95" name="step arrow 94"/>
          <p:cNvSpPr/>
          <p:nvPr/>
        </p:nvSpPr>
        <p:spPr>
          <a:xfrm>
            <a:off x="6684264" y="2395728"/>
            <a:ext cx="100584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96" name="connector 95"/>
          <p:cNvSpPr/>
          <p:nvPr/>
        </p:nvSpPr>
        <p:spPr>
          <a:xfrm>
            <a:off x="6103620" y="3328416"/>
            <a:ext cx="0" cy="13716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97" name="connector 96"/>
          <p:cNvSpPr/>
          <p:nvPr/>
        </p:nvSpPr>
        <p:spPr>
          <a:xfrm flipH="1">
            <a:off x="3671316" y="3465576"/>
            <a:ext cx="2432304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98" name="connector 97"/>
          <p:cNvSpPr/>
          <p:nvPr/>
        </p:nvSpPr>
        <p:spPr>
          <a:xfrm flipV="1">
            <a:off x="3671316" y="3328416"/>
            <a:ext cx="0" cy="13716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99" name="text 98"/>
          <p:cNvSpPr txBox="1"/>
          <p:nvPr/>
        </p:nvSpPr>
        <p:spPr>
          <a:xfrm>
            <a:off x="374904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Iterate: crossover + mutation</a:t>
            </a:r>
            <a:endParaRPr lang="en-US" sz="950" dirty="0"/>
          </a:p>
        </p:txBody>
      </p:sp>
      <p:sp>
        <p:nvSpPr>
          <p:cNvPr id="100" name="benchmark chip 99"/>
          <p:cNvSpPr/>
          <p:nvPr/>
        </p:nvSpPr>
        <p:spPr>
          <a:xfrm>
            <a:off x="6793992" y="3383280"/>
            <a:ext cx="1709928" cy="292608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01" name="text 100"/>
          <p:cNvSpPr txBox="1"/>
          <p:nvPr/>
        </p:nvSpPr>
        <p:spPr>
          <a:xfrm>
            <a:off x="6812280" y="338328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vs SOTA methods</a:t>
            </a:r>
            <a:endParaRPr lang="en-US" sz="900" dirty="0"/>
          </a:p>
        </p:txBody>
      </p:sp>
      <p:sp>
        <p:nvSpPr>
          <p:cNvPr id="102" name="WP2 output 101"/>
          <p:cNvSpPr/>
          <p:nvPr/>
        </p:nvSpPr>
        <p:spPr>
          <a:xfrm>
            <a:off x="3191256" y="3749040"/>
            <a:ext cx="5312664" cy="402336"/>
          </a:xfrm>
          <a:prstGeom prst="roundRect">
            <a:avLst>
              <a:gd name="adj" fmla="val 11364"/>
            </a:avLst>
          </a:prstGeom>
          <a:solidFill>
            <a:srgbClr val="1F3A5F"/>
          </a:solidFill>
          <a:ln/>
        </p:spPr>
      </p:sp>
      <p:sp>
        <p:nvSpPr>
          <p:cNvPr id="103" name="output text 102"/>
          <p:cNvSpPr txBox="1"/>
          <p:nvPr/>
        </p:nvSpPr>
        <p:spPr>
          <a:xfrm>
            <a:off x="3282696" y="3749040"/>
            <a:ext cx="5129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</a:t>
            </a:r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frontier + representative solutions θ*</a:t>
            </a:r>
            <a:endParaRPr lang="en-US" sz="1050" dirty="0"/>
          </a:p>
        </p:txBody>
      </p:sp>
      <p:sp>
        <p:nvSpPr>
          <p:cNvPr id="104" name="panel WP3 103"/>
          <p:cNvSpPr/>
          <p:nvPr/>
        </p:nvSpPr>
        <p:spPr>
          <a:xfrm>
            <a:off x="8887968" y="1188720"/>
            <a:ext cx="3191256" cy="3035808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05" name="panel title 104"/>
          <p:cNvSpPr txBox="1"/>
          <p:nvPr/>
        </p:nvSpPr>
        <p:spPr>
          <a:xfrm>
            <a:off x="8997696" y="123444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WP3 </a:t>
            </a:r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Verification</a:t>
            </a:r>
            <a:endParaRPr lang="en-US" sz="17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External Validation</a:t>
            </a:r>
            <a:endParaRPr lang="en-US" sz="1700" dirty="0"/>
          </a:p>
        </p:txBody>
      </p:sp>
      <p:sp>
        <p:nvSpPr>
          <p:cNvPr id="106" name="month pill 105"/>
          <p:cNvSpPr/>
          <p:nvPr/>
        </p:nvSpPr>
        <p:spPr>
          <a:xfrm>
            <a:off x="11455603" y="1513332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107" name="months 106"/>
          <p:cNvSpPr txBox="1"/>
          <p:nvPr/>
        </p:nvSpPr>
        <p:spPr>
          <a:xfrm>
            <a:off x="11455603" y="15133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M8–22</a:t>
            </a:r>
            <a:endParaRPr lang="en-US" sz="900" dirty="0"/>
          </a:p>
        </p:txBody>
      </p:sp>
      <p:sp>
        <p:nvSpPr>
          <p:cNvPr id="108" name="faithfulness tile 107"/>
          <p:cNvSpPr/>
          <p:nvPr/>
        </p:nvSpPr>
        <p:spPr>
          <a:xfrm>
            <a:off x="8961120" y="1810512"/>
            <a:ext cx="3044952" cy="969264"/>
          </a:xfrm>
          <a:prstGeom prst="roundRect">
            <a:avLst>
              <a:gd name="adj" fmla="val 3774"/>
            </a:avLst>
          </a:prstGeom>
          <a:solidFill>
            <a:srgbClr val="F2F9F6"/>
          </a:solidFill>
          <a:ln w="12700">
            <a:solidFill>
              <a:srgbClr val="218B73"/>
            </a:solidFill>
            <a:prstDash val="solid"/>
          </a:ln>
        </p:spPr>
      </p:sp>
      <p:sp>
        <p:nvSpPr>
          <p:cNvPr id="109" name="text 108"/>
          <p:cNvSpPr txBox="1"/>
          <p:nvPr/>
        </p:nvSpPr>
        <p:spPr>
          <a:xfrm>
            <a:off x="9025128" y="1828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Explanation faithfulness</a:t>
            </a:r>
            <a:endParaRPr lang="en-US" sz="1050" dirty="0"/>
          </a:p>
        </p:txBody>
      </p:sp>
      <p:pic>
        <p:nvPicPr>
          <p:cNvPr id="110" name="faithfulness graphic 109" descr="faithfulness graphic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5128" y="2066544"/>
            <a:ext cx="914400" cy="479146"/>
          </a:xfrm>
          <a:prstGeom prst="rect">
            <a:avLst/>
          </a:prstGeom>
        </p:spPr>
      </p:pic>
      <p:sp>
        <p:nvSpPr>
          <p:cNvPr id="111" name="text 110"/>
          <p:cNvSpPr txBox="1"/>
          <p:nvPr/>
        </p:nvSpPr>
        <p:spPr>
          <a:xfrm>
            <a:off x="9025128" y="2560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</a:t>
            </a:r>
            <a:endParaRPr lang="en-US" sz="900" dirty="0"/>
          </a:p>
        </p:txBody>
      </p:sp>
      <p:pic>
        <p:nvPicPr>
          <p:cNvPr id="112" name="faithfulness graphic 111" descr="faithfulness graphic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1824" y="2066544"/>
            <a:ext cx="914400" cy="479146"/>
          </a:xfrm>
          <a:prstGeom prst="rect">
            <a:avLst/>
          </a:prstGeom>
        </p:spPr>
      </p:pic>
      <p:sp>
        <p:nvSpPr>
          <p:cNvPr id="113" name="text 112"/>
          <p:cNvSpPr txBox="1"/>
          <p:nvPr/>
        </p:nvSpPr>
        <p:spPr>
          <a:xfrm>
            <a:off x="10021824" y="2560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900" dirty="0"/>
          </a:p>
        </p:txBody>
      </p:sp>
      <p:pic>
        <p:nvPicPr>
          <p:cNvPr id="114" name="faithfulness graphic 113" descr="faithfulness graphic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18520" y="2066544"/>
            <a:ext cx="914400" cy="479146"/>
          </a:xfrm>
          <a:prstGeom prst="rect">
            <a:avLst/>
          </a:prstGeom>
        </p:spPr>
      </p:pic>
      <p:sp>
        <p:nvSpPr>
          <p:cNvPr id="115" name="text 114"/>
          <p:cNvSpPr txBox="1"/>
          <p:nvPr/>
        </p:nvSpPr>
        <p:spPr>
          <a:xfrm>
            <a:off x="11018520" y="2560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</a:t>
            </a:r>
            <a:endParaRPr lang="en-US" sz="900" dirty="0"/>
          </a:p>
        </p:txBody>
      </p:sp>
      <p:sp>
        <p:nvSpPr>
          <p:cNvPr id="116" name="shift tile 115"/>
          <p:cNvSpPr/>
          <p:nvPr/>
        </p:nvSpPr>
        <p:spPr>
          <a:xfrm>
            <a:off x="8961120" y="2834640"/>
            <a:ext cx="3044952" cy="859536"/>
          </a:xfrm>
          <a:prstGeom prst="roundRect">
            <a:avLst>
              <a:gd name="adj" fmla="val 4255"/>
            </a:avLst>
          </a:prstGeom>
          <a:solidFill>
            <a:srgbClr val="F7F4FB"/>
          </a:solidFill>
          <a:ln w="12700">
            <a:solidFill>
              <a:srgbClr val="8E6CC0"/>
            </a:solidFill>
            <a:prstDash val="solid"/>
          </a:ln>
        </p:spPr>
      </p:sp>
      <p:sp>
        <p:nvSpPr>
          <p:cNvPr id="117" name="text 116"/>
          <p:cNvSpPr txBox="1"/>
          <p:nvPr/>
        </p:nvSpPr>
        <p:spPr>
          <a:xfrm>
            <a:off x="9025128" y="28529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Performance &amp; coverage under shift</a:t>
            </a:r>
            <a:endParaRPr lang="en-US" sz="1050" dirty="0"/>
          </a:p>
        </p:txBody>
      </p:sp>
      <p:sp>
        <p:nvSpPr>
          <p:cNvPr id="118" name="validation chip 117"/>
          <p:cNvSpPr/>
          <p:nvPr/>
        </p:nvSpPr>
        <p:spPr>
          <a:xfrm>
            <a:off x="9034272" y="3099816"/>
            <a:ext cx="111556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C88BD"/>
            </a:solidFill>
            <a:prstDash val="solid"/>
          </a:ln>
        </p:spPr>
      </p:sp>
      <p:sp>
        <p:nvSpPr>
          <p:cNvPr id="119" name="text 118"/>
          <p:cNvSpPr txBox="1"/>
          <p:nvPr/>
        </p:nvSpPr>
        <p:spPr>
          <a:xfrm>
            <a:off x="9034272" y="309981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temporal</a:t>
            </a:r>
            <a:endParaRPr lang="en-US" sz="900" dirty="0"/>
          </a:p>
        </p:txBody>
      </p:sp>
      <p:sp>
        <p:nvSpPr>
          <p:cNvPr id="120" name="validation chip 119"/>
          <p:cNvSpPr/>
          <p:nvPr/>
        </p:nvSpPr>
        <p:spPr>
          <a:xfrm>
            <a:off x="10250424" y="3099816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8B73"/>
            </a:solidFill>
            <a:prstDash val="solid"/>
          </a:ln>
        </p:spPr>
      </p:sp>
      <p:sp>
        <p:nvSpPr>
          <p:cNvPr id="121" name="text 120"/>
          <p:cNvSpPr txBox="1"/>
          <p:nvPr/>
        </p:nvSpPr>
        <p:spPr>
          <a:xfrm>
            <a:off x="10250424" y="30998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eICU cross-site</a:t>
            </a:r>
            <a:endParaRPr lang="en-US" sz="900" dirty="0"/>
          </a:p>
        </p:txBody>
      </p:sp>
      <p:sp>
        <p:nvSpPr>
          <p:cNvPr id="122" name="validation chip 121"/>
          <p:cNvSpPr/>
          <p:nvPr/>
        </p:nvSpPr>
        <p:spPr>
          <a:xfrm>
            <a:off x="11311128" y="309981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773F"/>
            </a:solidFill>
            <a:prstDash val="solid"/>
          </a:ln>
        </p:spPr>
      </p:sp>
      <p:sp>
        <p:nvSpPr>
          <p:cNvPr id="123" name="text 122"/>
          <p:cNvSpPr txBox="1"/>
          <p:nvPr/>
        </p:nvSpPr>
        <p:spPr>
          <a:xfrm>
            <a:off x="11311128" y="30998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A&amp;E</a:t>
            </a:r>
            <a:endParaRPr lang="en-US" sz="900" dirty="0"/>
          </a:p>
        </p:txBody>
      </p:sp>
      <p:pic>
        <p:nvPicPr>
          <p:cNvPr id="124" name="coverage per environment vs 90% target 123" descr="coverage per environment vs 90% target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25128" y="3355848"/>
            <a:ext cx="2926080" cy="310896"/>
          </a:xfrm>
          <a:prstGeom prst="rect">
            <a:avLst/>
          </a:prstGeom>
        </p:spPr>
      </p:pic>
      <p:sp>
        <p:nvSpPr>
          <p:cNvPr id="125" name="WP3 output 124"/>
          <p:cNvSpPr/>
          <p:nvPr/>
        </p:nvSpPr>
        <p:spPr>
          <a:xfrm>
            <a:off x="8961120" y="3749040"/>
            <a:ext cx="3044952" cy="402336"/>
          </a:xfrm>
          <a:prstGeom prst="roundRect">
            <a:avLst>
              <a:gd name="adj" fmla="val 11364"/>
            </a:avLst>
          </a:prstGeom>
          <a:solidFill>
            <a:srgbClr val="1F3A5F"/>
          </a:solidFill>
          <a:ln/>
        </p:spPr>
      </p:sp>
      <p:sp>
        <p:nvSpPr>
          <p:cNvPr id="126" name="output text 125"/>
          <p:cNvSpPr txBox="1"/>
          <p:nvPr/>
        </p:nvSpPr>
        <p:spPr>
          <a:xfrm>
            <a:off x="9052560" y="3749040"/>
            <a:ext cx="2862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</a:t>
            </a:r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solutions + faithfulness &amp; coverage evidence</a:t>
            </a:r>
            <a:endParaRPr lang="en-US" sz="1050" dirty="0"/>
          </a:p>
        </p:txBody>
      </p:sp>
      <p:sp>
        <p:nvSpPr>
          <p:cNvPr id="127" name="panel WP4 126"/>
          <p:cNvSpPr/>
          <p:nvPr/>
        </p:nvSpPr>
        <p:spPr>
          <a:xfrm>
            <a:off x="109728" y="4498848"/>
            <a:ext cx="5815584" cy="2286000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28" name="panel title 127"/>
          <p:cNvSpPr txBox="1"/>
          <p:nvPr/>
        </p:nvSpPr>
        <p:spPr>
          <a:xfrm>
            <a:off x="219456" y="4544568"/>
            <a:ext cx="5596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WP4 </a:t>
            </a:r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and Uncertainty Evaluation</a:t>
            </a:r>
            <a:endParaRPr lang="en-US" sz="1700" dirty="0"/>
          </a:p>
        </p:txBody>
      </p:sp>
      <p:sp>
        <p:nvSpPr>
          <p:cNvPr id="129" name="month pill 128"/>
          <p:cNvSpPr/>
          <p:nvPr/>
        </p:nvSpPr>
        <p:spPr>
          <a:xfrm>
            <a:off x="4440326" y="4576572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130" name="months 129"/>
          <p:cNvSpPr txBox="1"/>
          <p:nvPr/>
        </p:nvSpPr>
        <p:spPr>
          <a:xfrm>
            <a:off x="4440326" y="45765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M14–22</a:t>
            </a:r>
            <a:endParaRPr lang="en-US" sz="900" dirty="0"/>
          </a:p>
        </p:txBody>
      </p:sp>
      <p:sp>
        <p:nvSpPr>
          <p:cNvPr id="131" name="step box 130"/>
          <p:cNvSpPr/>
          <p:nvPr/>
        </p:nvSpPr>
        <p:spPr>
          <a:xfrm>
            <a:off x="182880" y="4956048"/>
            <a:ext cx="1106424" cy="13716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32" name="step number 131"/>
          <p:cNvSpPr/>
          <p:nvPr/>
        </p:nvSpPr>
        <p:spPr>
          <a:xfrm>
            <a:off x="219456" y="500176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133" name="step number text 132"/>
          <p:cNvSpPr txBox="1"/>
          <p:nvPr/>
        </p:nvSpPr>
        <p:spPr>
          <a:xfrm>
            <a:off x="219456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pic>
        <p:nvPicPr>
          <p:cNvPr id="134" name="photo: ICU clinicians at a monitoring workstation 133" descr="photo: ICU clinicians at a monitoring workstati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7744" y="5276088"/>
            <a:ext cx="996696" cy="664769"/>
          </a:xfrm>
          <a:prstGeom prst="rect">
            <a:avLst/>
          </a:prstGeom>
        </p:spPr>
      </p:pic>
      <p:sp>
        <p:nvSpPr>
          <p:cNvPr id="135" name="text 134"/>
          <p:cNvSpPr txBox="1"/>
          <p:nvPr/>
        </p:nvSpPr>
        <p:spPr>
          <a:xfrm>
            <a:off x="475488" y="4983480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clinicians</a:t>
            </a:r>
            <a:endParaRPr lang="en-US" sz="950" dirty="0"/>
          </a:p>
        </p:txBody>
      </p:sp>
      <p:sp>
        <p:nvSpPr>
          <p:cNvPr id="136" name="text 135"/>
          <p:cNvSpPr txBox="1"/>
          <p:nvPr/>
        </p:nvSpPr>
        <p:spPr>
          <a:xfrm>
            <a:off x="210312" y="59618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de-identified cases</a:t>
            </a:r>
            <a:endParaRPr lang="en-US" sz="900" dirty="0"/>
          </a:p>
        </p:txBody>
      </p:sp>
      <p:sp>
        <p:nvSpPr>
          <p:cNvPr id="137" name="step box 136"/>
          <p:cNvSpPr/>
          <p:nvPr/>
        </p:nvSpPr>
        <p:spPr>
          <a:xfrm>
            <a:off x="1399032" y="4956048"/>
            <a:ext cx="2267712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38" name="step number 137"/>
          <p:cNvSpPr/>
          <p:nvPr/>
        </p:nvSpPr>
        <p:spPr>
          <a:xfrm>
            <a:off x="1435608" y="500176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139" name="step number text 138"/>
          <p:cNvSpPr txBox="1"/>
          <p:nvPr/>
        </p:nvSpPr>
        <p:spPr>
          <a:xfrm>
            <a:off x="1435608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0" name="text 139"/>
          <p:cNvSpPr txBox="1"/>
          <p:nvPr/>
        </p:nvSpPr>
        <p:spPr>
          <a:xfrm>
            <a:off x="1700784" y="49834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output conditions</a:t>
            </a:r>
            <a:endParaRPr lang="en-US" sz="1000" dirty="0"/>
          </a:p>
        </p:txBody>
      </p:sp>
      <p:sp>
        <p:nvSpPr>
          <p:cNvPr id="141" name="condition card 140"/>
          <p:cNvSpPr/>
          <p:nvPr/>
        </p:nvSpPr>
        <p:spPr>
          <a:xfrm>
            <a:off x="1453896" y="5266944"/>
            <a:ext cx="704088" cy="1005840"/>
          </a:xfrm>
          <a:prstGeom prst="roundRect">
            <a:avLst>
              <a:gd name="adj" fmla="val 5195"/>
            </a:avLst>
          </a:prstGeom>
          <a:solidFill>
            <a:srgbClr val="F6F8FA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42" name="condition label 141"/>
          <p:cNvSpPr txBox="1"/>
          <p:nvPr/>
        </p:nvSpPr>
        <p:spPr>
          <a:xfrm>
            <a:off x="1463040" y="5303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143" name="risk scale 142"/>
          <p:cNvSpPr/>
          <p:nvPr/>
        </p:nvSpPr>
        <p:spPr>
          <a:xfrm>
            <a:off x="1527048" y="5669280"/>
            <a:ext cx="557784" cy="45720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44" name="risk marker 143"/>
          <p:cNvSpPr/>
          <p:nvPr/>
        </p:nvSpPr>
        <p:spPr>
          <a:xfrm>
            <a:off x="1672255" y="5628132"/>
            <a:ext cx="21946" cy="12801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5" name="text 144"/>
          <p:cNvSpPr txBox="1"/>
          <p:nvPr/>
        </p:nvSpPr>
        <p:spPr>
          <a:xfrm>
            <a:off x="1453896" y="5815584"/>
            <a:ext cx="704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1400" dirty="0"/>
          </a:p>
        </p:txBody>
      </p:sp>
      <p:sp>
        <p:nvSpPr>
          <p:cNvPr id="146" name="condition card 145"/>
          <p:cNvSpPr/>
          <p:nvPr/>
        </p:nvSpPr>
        <p:spPr>
          <a:xfrm>
            <a:off x="2194560" y="5266944"/>
            <a:ext cx="704088" cy="1005840"/>
          </a:xfrm>
          <a:prstGeom prst="roundRect">
            <a:avLst>
              <a:gd name="adj" fmla="val 5195"/>
            </a:avLst>
          </a:prstGeom>
          <a:solidFill>
            <a:srgbClr val="F1F6FC"/>
          </a:solidFill>
          <a:ln w="12700">
            <a:solidFill>
              <a:srgbClr val="3C88BD"/>
            </a:solidFill>
            <a:prstDash val="solid"/>
          </a:ln>
        </p:spPr>
      </p:sp>
      <p:sp>
        <p:nvSpPr>
          <p:cNvPr id="147" name="condition label 146"/>
          <p:cNvSpPr txBox="1"/>
          <p:nvPr/>
        </p:nvSpPr>
        <p:spPr>
          <a:xfrm>
            <a:off x="2203704" y="5303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Post-hoc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900" dirty="0"/>
          </a:p>
        </p:txBody>
      </p:sp>
      <p:sp>
        <p:nvSpPr>
          <p:cNvPr id="148" name="risk scale 147"/>
          <p:cNvSpPr/>
          <p:nvPr/>
        </p:nvSpPr>
        <p:spPr>
          <a:xfrm>
            <a:off x="2267712" y="5669280"/>
            <a:ext cx="557784" cy="45720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49" name="risk marker 148"/>
          <p:cNvSpPr/>
          <p:nvPr/>
        </p:nvSpPr>
        <p:spPr>
          <a:xfrm>
            <a:off x="2412919" y="5628132"/>
            <a:ext cx="21946" cy="128016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150" name="explanation shown to clinicians 149" descr="explanation shown to clinicians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44852" y="5833872"/>
            <a:ext cx="603504" cy="365760"/>
          </a:xfrm>
          <a:prstGeom prst="rect">
            <a:avLst/>
          </a:prstGeom>
        </p:spPr>
      </p:pic>
      <p:sp>
        <p:nvSpPr>
          <p:cNvPr id="151" name="condition card 150"/>
          <p:cNvSpPr/>
          <p:nvPr/>
        </p:nvSpPr>
        <p:spPr>
          <a:xfrm>
            <a:off x="2935224" y="5266944"/>
            <a:ext cx="704088" cy="1005840"/>
          </a:xfrm>
          <a:prstGeom prst="roundRect">
            <a:avLst>
              <a:gd name="adj" fmla="val 5195"/>
            </a:avLst>
          </a:prstGeom>
          <a:solidFill>
            <a:srgbClr val="F2F9F6"/>
          </a:solidFill>
          <a:ln w="12700">
            <a:solidFill>
              <a:srgbClr val="218B73"/>
            </a:solidFill>
            <a:prstDash val="solid"/>
          </a:ln>
        </p:spPr>
      </p:sp>
      <p:sp>
        <p:nvSpPr>
          <p:cNvPr id="152" name="condition label 151"/>
          <p:cNvSpPr txBox="1"/>
          <p:nvPr/>
        </p:nvSpPr>
        <p:spPr>
          <a:xfrm>
            <a:off x="2944368" y="5303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Conformal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900" dirty="0"/>
          </a:p>
        </p:txBody>
      </p:sp>
      <p:sp>
        <p:nvSpPr>
          <p:cNvPr id="153" name="risk scale 152"/>
          <p:cNvSpPr/>
          <p:nvPr/>
        </p:nvSpPr>
        <p:spPr>
          <a:xfrm>
            <a:off x="3008376" y="5669280"/>
            <a:ext cx="557784" cy="45720"/>
          </a:xfrm>
          <a:prstGeom prst="rect">
            <a:avLst/>
          </a:prstGeom>
          <a:solidFill>
            <a:srgbClr val="D9DEE5"/>
          </a:solidFill>
          <a:ln/>
        </p:spPr>
      </p:sp>
      <p:sp>
        <p:nvSpPr>
          <p:cNvPr id="154" name="conformal interval 153"/>
          <p:cNvSpPr/>
          <p:nvPr/>
        </p:nvSpPr>
        <p:spPr>
          <a:xfrm>
            <a:off x="3075310" y="5641848"/>
            <a:ext cx="189647" cy="100584"/>
          </a:xfrm>
          <a:prstGeom prst="rect">
            <a:avLst/>
          </a:prstGeom>
          <a:solidFill>
            <a:srgbClr val="8CC9B4"/>
          </a:solidFill>
          <a:ln/>
        </p:spPr>
      </p:sp>
      <p:sp>
        <p:nvSpPr>
          <p:cNvPr id="155" name="risk marker 154"/>
          <p:cNvSpPr/>
          <p:nvPr/>
        </p:nvSpPr>
        <p:spPr>
          <a:xfrm>
            <a:off x="3153583" y="5628132"/>
            <a:ext cx="21946" cy="128016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156" name="explanation shown to clinicians 155" descr="explanation shown to clinicians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85516" y="5833872"/>
            <a:ext cx="603504" cy="365760"/>
          </a:xfrm>
          <a:prstGeom prst="rect">
            <a:avLst/>
          </a:prstGeom>
        </p:spPr>
      </p:pic>
      <p:sp>
        <p:nvSpPr>
          <p:cNvPr id="157" name="step box 156"/>
          <p:cNvSpPr/>
          <p:nvPr/>
        </p:nvSpPr>
        <p:spPr>
          <a:xfrm>
            <a:off x="3776472" y="4956048"/>
            <a:ext cx="1188720" cy="13716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58" name="step number 157"/>
          <p:cNvSpPr/>
          <p:nvPr/>
        </p:nvSpPr>
        <p:spPr>
          <a:xfrm>
            <a:off x="3813048" y="500176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159" name="step number text 158"/>
          <p:cNvSpPr txBox="1"/>
          <p:nvPr/>
        </p:nvSpPr>
        <p:spPr>
          <a:xfrm>
            <a:off x="3813048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60" name="text 159"/>
          <p:cNvSpPr txBox="1"/>
          <p:nvPr/>
        </p:nvSpPr>
        <p:spPr>
          <a:xfrm>
            <a:off x="4078224" y="4983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000" dirty="0"/>
          </a:p>
        </p:txBody>
      </p:sp>
      <p:pic>
        <p:nvPicPr>
          <p:cNvPr id="161" name="outcome icon 160" descr="outcome icon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22192" y="5330952"/>
            <a:ext cx="164592" cy="164592"/>
          </a:xfrm>
          <a:prstGeom prst="rect">
            <a:avLst/>
          </a:prstGeom>
        </p:spPr>
      </p:pic>
      <p:sp>
        <p:nvSpPr>
          <p:cNvPr id="162" name="text 161"/>
          <p:cNvSpPr txBox="1"/>
          <p:nvPr/>
        </p:nvSpPr>
        <p:spPr>
          <a:xfrm>
            <a:off x="4023360" y="530352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</a:t>
            </a:r>
            <a:endParaRPr lang="en-US" sz="900" dirty="0"/>
          </a:p>
        </p:txBody>
      </p:sp>
      <p:pic>
        <p:nvPicPr>
          <p:cNvPr id="163" name="outcome icon 162" descr="outcome icon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22192" y="5577840"/>
            <a:ext cx="164592" cy="164592"/>
          </a:xfrm>
          <a:prstGeom prst="rect">
            <a:avLst/>
          </a:prstGeom>
        </p:spPr>
      </p:pic>
      <p:sp>
        <p:nvSpPr>
          <p:cNvPr id="164" name="text 163"/>
          <p:cNvSpPr txBox="1"/>
          <p:nvPr/>
        </p:nvSpPr>
        <p:spPr>
          <a:xfrm>
            <a:off x="4023360" y="55504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900" dirty="0"/>
          </a:p>
        </p:txBody>
      </p:sp>
      <p:pic>
        <p:nvPicPr>
          <p:cNvPr id="165" name="outcome icon 164" descr="outcome icon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22192" y="5824728"/>
            <a:ext cx="164592" cy="164592"/>
          </a:xfrm>
          <a:prstGeom prst="rect">
            <a:avLst/>
          </a:prstGeom>
        </p:spPr>
      </p:pic>
      <p:sp>
        <p:nvSpPr>
          <p:cNvPr id="166" name="text 165"/>
          <p:cNvSpPr txBox="1"/>
          <p:nvPr/>
        </p:nvSpPr>
        <p:spPr>
          <a:xfrm>
            <a:off x="4023360" y="579729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pic>
        <p:nvPicPr>
          <p:cNvPr id="167" name="outcome icon 166" descr="outcome icon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22192" y="6071616"/>
            <a:ext cx="164592" cy="164592"/>
          </a:xfrm>
          <a:prstGeom prst="rect">
            <a:avLst/>
          </a:prstGeom>
        </p:spPr>
      </p:pic>
      <p:sp>
        <p:nvSpPr>
          <p:cNvPr id="168" name="text 167"/>
          <p:cNvSpPr txBox="1"/>
          <p:nvPr/>
        </p:nvSpPr>
        <p:spPr>
          <a:xfrm>
            <a:off x="4023360" y="604418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169" name="step box 168"/>
          <p:cNvSpPr/>
          <p:nvPr/>
        </p:nvSpPr>
        <p:spPr>
          <a:xfrm>
            <a:off x="5074920" y="4956048"/>
            <a:ext cx="777240" cy="13716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70" name="step number 169"/>
          <p:cNvSpPr/>
          <p:nvPr/>
        </p:nvSpPr>
        <p:spPr>
          <a:xfrm>
            <a:off x="5111496" y="500176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171" name="step number text 170"/>
          <p:cNvSpPr txBox="1"/>
          <p:nvPr/>
        </p:nvSpPr>
        <p:spPr>
          <a:xfrm>
            <a:off x="5111496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72" name="text 171"/>
          <p:cNvSpPr txBox="1"/>
          <p:nvPr/>
        </p:nvSpPr>
        <p:spPr>
          <a:xfrm>
            <a:off x="5376672" y="49834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CPDs</a:t>
            </a:r>
            <a:endParaRPr lang="en-US" sz="1000" dirty="0"/>
          </a:p>
        </p:txBody>
      </p:sp>
      <p:pic>
        <p:nvPicPr>
          <p:cNvPr id="173" name="conformal predictive distribution, P(wait &gt; 4 h) 172" descr="conformal predictive distribution, P(wait &gt; 4 h)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11496" y="5285232"/>
            <a:ext cx="713232" cy="588874"/>
          </a:xfrm>
          <a:prstGeom prst="rect">
            <a:avLst/>
          </a:prstGeom>
        </p:spPr>
      </p:pic>
      <p:sp>
        <p:nvSpPr>
          <p:cNvPr id="174" name="text 173"/>
          <p:cNvSpPr txBox="1"/>
          <p:nvPr/>
        </p:nvSpPr>
        <p:spPr>
          <a:xfrm>
            <a:off x="5093208" y="5907024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rules</a:t>
            </a:r>
            <a:endParaRPr lang="en-US" sz="900" dirty="0"/>
          </a:p>
        </p:txBody>
      </p:sp>
      <p:sp>
        <p:nvSpPr>
          <p:cNvPr id="175" name="step arrow 174"/>
          <p:cNvSpPr/>
          <p:nvPr/>
        </p:nvSpPr>
        <p:spPr>
          <a:xfrm>
            <a:off x="1293876" y="5541264"/>
            <a:ext cx="100584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76" name="step arrow 175"/>
          <p:cNvSpPr/>
          <p:nvPr/>
        </p:nvSpPr>
        <p:spPr>
          <a:xfrm>
            <a:off x="3671316" y="5541264"/>
            <a:ext cx="100584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77" name="step arrow 176"/>
          <p:cNvSpPr/>
          <p:nvPr/>
        </p:nvSpPr>
        <p:spPr>
          <a:xfrm>
            <a:off x="4969764" y="5541264"/>
            <a:ext cx="100584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178" name="WP4 output 177"/>
          <p:cNvSpPr/>
          <p:nvPr/>
        </p:nvSpPr>
        <p:spPr>
          <a:xfrm>
            <a:off x="182880" y="6382512"/>
            <a:ext cx="5669280" cy="347472"/>
          </a:xfrm>
          <a:prstGeom prst="roundRect">
            <a:avLst>
              <a:gd name="adj" fmla="val 13158"/>
            </a:avLst>
          </a:prstGeom>
          <a:solidFill>
            <a:srgbClr val="1F3A5F"/>
          </a:solidFill>
          <a:ln/>
        </p:spPr>
      </p:sp>
      <p:sp>
        <p:nvSpPr>
          <p:cNvPr id="179" name="output text 178"/>
          <p:cNvSpPr txBox="1"/>
          <p:nvPr/>
        </p:nvSpPr>
        <p:spPr>
          <a:xfrm>
            <a:off x="274320" y="63825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</a:t>
            </a:r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on appropriate reliance &amp; clinical interpretation</a:t>
            </a:r>
            <a:endParaRPr lang="en-US" sz="1050" dirty="0"/>
          </a:p>
        </p:txBody>
      </p:sp>
      <p:sp>
        <p:nvSpPr>
          <p:cNvPr id="180" name="panel WP5 179"/>
          <p:cNvSpPr/>
          <p:nvPr/>
        </p:nvSpPr>
        <p:spPr>
          <a:xfrm>
            <a:off x="6236208" y="4498848"/>
            <a:ext cx="5843016" cy="2286000"/>
          </a:xfrm>
          <a:prstGeom prst="rect">
            <a:avLst/>
          </a:prstGeom>
          <a:solidFill>
            <a:srgbClr val="F2F2F2"/>
          </a:solidFill>
          <a:ln w="38100">
            <a:solidFill>
              <a:srgbClr val="657D9D"/>
            </a:solidFill>
            <a:prstDash val="solid"/>
          </a:ln>
        </p:spPr>
      </p:sp>
      <p:sp>
        <p:nvSpPr>
          <p:cNvPr id="181" name="panel title 180"/>
          <p:cNvSpPr txBox="1"/>
          <p:nvPr/>
        </p:nvSpPr>
        <p:spPr>
          <a:xfrm>
            <a:off x="6345936" y="4544568"/>
            <a:ext cx="5623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WP5 </a:t>
            </a:r>
            <a:pPr algn="l" indent="0" marL="0">
              <a:lnSpc>
                <a:spcPct val="88000"/>
              </a:lnSpc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Integration and Guidance</a:t>
            </a:r>
            <a:endParaRPr lang="en-US" sz="1700" dirty="0"/>
          </a:p>
        </p:txBody>
      </p:sp>
      <p:sp>
        <p:nvSpPr>
          <p:cNvPr id="182" name="month pill 181"/>
          <p:cNvSpPr/>
          <p:nvPr/>
        </p:nvSpPr>
        <p:spPr>
          <a:xfrm>
            <a:off x="10566806" y="4576572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57D9D"/>
            </a:solidFill>
            <a:prstDash val="solid"/>
          </a:ln>
        </p:spPr>
      </p:sp>
      <p:sp>
        <p:nvSpPr>
          <p:cNvPr id="183" name="months 182"/>
          <p:cNvSpPr txBox="1"/>
          <p:nvPr/>
        </p:nvSpPr>
        <p:spPr>
          <a:xfrm>
            <a:off x="10566806" y="45765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1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M20–24</a:t>
            </a:r>
            <a:endParaRPr lang="en-US" sz="900" dirty="0"/>
          </a:p>
        </p:txBody>
      </p:sp>
      <p:sp>
        <p:nvSpPr>
          <p:cNvPr id="184" name="evidence chip 183"/>
          <p:cNvSpPr/>
          <p:nvPr/>
        </p:nvSpPr>
        <p:spPr>
          <a:xfrm>
            <a:off x="6309360" y="4956048"/>
            <a:ext cx="1847088" cy="292608"/>
          </a:xfrm>
          <a:prstGeom prst="roundRect">
            <a:avLst>
              <a:gd name="adj" fmla="val 12500"/>
            </a:avLst>
          </a:prstGeom>
          <a:solidFill>
            <a:srgbClr val="FDF1E8"/>
          </a:solidFill>
          <a:ln w="12700">
            <a:solidFill>
              <a:srgbClr val="D9773F"/>
            </a:solidFill>
            <a:prstDash val="solid"/>
          </a:ln>
        </p:spPr>
      </p:sp>
      <p:sp>
        <p:nvSpPr>
          <p:cNvPr id="185" name="text 184"/>
          <p:cNvSpPr txBox="1"/>
          <p:nvPr/>
        </p:nvSpPr>
        <p:spPr>
          <a:xfrm>
            <a:off x="6309360" y="49560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B85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(WP4)</a:t>
            </a:r>
            <a:endParaRPr lang="en-US" sz="1000" dirty="0"/>
          </a:p>
        </p:txBody>
      </p:sp>
      <p:sp>
        <p:nvSpPr>
          <p:cNvPr id="186" name="evidence chip 185"/>
          <p:cNvSpPr/>
          <p:nvPr/>
        </p:nvSpPr>
        <p:spPr>
          <a:xfrm>
            <a:off x="8229600" y="4956048"/>
            <a:ext cx="1847088" cy="292608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87" name="text 186"/>
          <p:cNvSpPr txBox="1"/>
          <p:nvPr/>
        </p:nvSpPr>
        <p:spPr>
          <a:xfrm>
            <a:off x="8229600" y="49560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(WP2)</a:t>
            </a:r>
            <a:endParaRPr lang="en-US" sz="1000" dirty="0"/>
          </a:p>
        </p:txBody>
      </p:sp>
      <p:sp>
        <p:nvSpPr>
          <p:cNvPr id="188" name="evidence chip 187"/>
          <p:cNvSpPr/>
          <p:nvPr/>
        </p:nvSpPr>
        <p:spPr>
          <a:xfrm>
            <a:off x="10149840" y="4956048"/>
            <a:ext cx="1847088" cy="292608"/>
          </a:xfrm>
          <a:prstGeom prst="roundRect">
            <a:avLst>
              <a:gd name="adj" fmla="val 12500"/>
            </a:avLst>
          </a:prstGeom>
          <a:solidFill>
            <a:srgbClr val="F2F9F6"/>
          </a:solidFill>
          <a:ln w="12700">
            <a:solidFill>
              <a:srgbClr val="218B73"/>
            </a:solidFill>
            <a:prstDash val="solid"/>
          </a:ln>
        </p:spPr>
      </p:sp>
      <p:sp>
        <p:nvSpPr>
          <p:cNvPr id="189" name="text 188"/>
          <p:cNvSpPr txBox="1"/>
          <p:nvPr/>
        </p:nvSpPr>
        <p:spPr>
          <a:xfrm>
            <a:off x="10149840" y="49560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A6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(WP3)</a:t>
            </a:r>
            <a:endParaRPr lang="en-US" sz="1000" dirty="0"/>
          </a:p>
        </p:txBody>
      </p:sp>
      <p:sp>
        <p:nvSpPr>
          <p:cNvPr id="190" name="connector 189"/>
          <p:cNvSpPr/>
          <p:nvPr/>
        </p:nvSpPr>
        <p:spPr>
          <a:xfrm>
            <a:off x="7232904" y="5248656"/>
            <a:ext cx="0" cy="82296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91" name="connector 190"/>
          <p:cNvSpPr/>
          <p:nvPr/>
        </p:nvSpPr>
        <p:spPr>
          <a:xfrm>
            <a:off x="9153144" y="5248656"/>
            <a:ext cx="0" cy="82296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92" name="connector 191"/>
          <p:cNvSpPr/>
          <p:nvPr/>
        </p:nvSpPr>
        <p:spPr>
          <a:xfrm>
            <a:off x="11073384" y="5248656"/>
            <a:ext cx="0" cy="82296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93" name="connector 192"/>
          <p:cNvSpPr/>
          <p:nvPr/>
        </p:nvSpPr>
        <p:spPr>
          <a:xfrm>
            <a:off x="7232904" y="5330952"/>
            <a:ext cx="38404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94" name="connector 193"/>
          <p:cNvSpPr/>
          <p:nvPr/>
        </p:nvSpPr>
        <p:spPr>
          <a:xfrm>
            <a:off x="8065008" y="5330952"/>
            <a:ext cx="0" cy="82296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95" name="integration box 194"/>
          <p:cNvSpPr/>
          <p:nvPr/>
        </p:nvSpPr>
        <p:spPr>
          <a:xfrm>
            <a:off x="6309360" y="5413248"/>
            <a:ext cx="35204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96" name="text 195"/>
          <p:cNvSpPr txBox="1"/>
          <p:nvPr/>
        </p:nvSpPr>
        <p:spPr>
          <a:xfrm>
            <a:off x="6373368" y="54315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properties jointly achievable?</a:t>
            </a:r>
            <a:endParaRPr lang="en-US" sz="1000" dirty="0"/>
          </a:p>
        </p:txBody>
      </p:sp>
      <p:pic>
        <p:nvPicPr>
          <p:cNvPr id="197" name="joint-achievability map (property pairs x shift settings) 196" descr="joint-achievability map (property pairs x shift settings)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82512" y="5669280"/>
            <a:ext cx="1371600" cy="645566"/>
          </a:xfrm>
          <a:prstGeom prst="rect">
            <a:avLst/>
          </a:prstGeom>
        </p:spPr>
      </p:pic>
      <p:sp>
        <p:nvSpPr>
          <p:cNvPr id="198" name="legend swatch 197"/>
          <p:cNvSpPr/>
          <p:nvPr/>
        </p:nvSpPr>
        <p:spPr>
          <a:xfrm>
            <a:off x="7882128" y="5705856"/>
            <a:ext cx="146304" cy="128016"/>
          </a:xfrm>
          <a:prstGeom prst="rect">
            <a:avLst/>
          </a:prstGeom>
          <a:solidFill>
            <a:srgbClr val="7CC4A4"/>
          </a:solidFill>
          <a:ln/>
        </p:spPr>
      </p:sp>
      <p:sp>
        <p:nvSpPr>
          <p:cNvPr id="199" name="text 198"/>
          <p:cNvSpPr txBox="1"/>
          <p:nvPr/>
        </p:nvSpPr>
        <p:spPr>
          <a:xfrm>
            <a:off x="8083296" y="56692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jointly achievable</a:t>
            </a:r>
            <a:endParaRPr lang="en-US" sz="900" dirty="0"/>
          </a:p>
        </p:txBody>
      </p:sp>
      <p:sp>
        <p:nvSpPr>
          <p:cNvPr id="200" name="legend swatch 199"/>
          <p:cNvSpPr/>
          <p:nvPr/>
        </p:nvSpPr>
        <p:spPr>
          <a:xfrm>
            <a:off x="7882128" y="5907024"/>
            <a:ext cx="146304" cy="128016"/>
          </a:xfrm>
          <a:prstGeom prst="rect">
            <a:avLst/>
          </a:prstGeom>
          <a:solidFill>
            <a:srgbClr val="F3C969"/>
          </a:solidFill>
          <a:ln/>
        </p:spPr>
      </p:sp>
      <p:sp>
        <p:nvSpPr>
          <p:cNvPr id="201" name="text 200"/>
          <p:cNvSpPr txBox="1"/>
          <p:nvPr/>
        </p:nvSpPr>
        <p:spPr>
          <a:xfrm>
            <a:off x="8083296" y="5870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900" dirty="0"/>
          </a:p>
        </p:txBody>
      </p:sp>
      <p:sp>
        <p:nvSpPr>
          <p:cNvPr id="202" name="legend swatch 201"/>
          <p:cNvSpPr/>
          <p:nvPr/>
        </p:nvSpPr>
        <p:spPr>
          <a:xfrm>
            <a:off x="7882128" y="6108192"/>
            <a:ext cx="146304" cy="128016"/>
          </a:xfrm>
          <a:prstGeom prst="rect">
            <a:avLst/>
          </a:prstGeom>
          <a:solidFill>
            <a:srgbClr val="E3746A"/>
          </a:solidFill>
          <a:ln/>
        </p:spPr>
      </p:sp>
      <p:sp>
        <p:nvSpPr>
          <p:cNvPr id="203" name="text 202"/>
          <p:cNvSpPr txBox="1"/>
          <p:nvPr/>
        </p:nvSpPr>
        <p:spPr>
          <a:xfrm>
            <a:off x="8083296" y="60716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(reported)</a:t>
            </a:r>
            <a:endParaRPr lang="en-US" sz="900" dirty="0"/>
          </a:p>
        </p:txBody>
      </p:sp>
      <p:sp>
        <p:nvSpPr>
          <p:cNvPr id="204" name="step arrow 203"/>
          <p:cNvSpPr/>
          <p:nvPr/>
        </p:nvSpPr>
        <p:spPr>
          <a:xfrm>
            <a:off x="9848088" y="5760720"/>
            <a:ext cx="100584" cy="201168"/>
          </a:xfrm>
          <a:prstGeom prst="rightArrow">
            <a:avLst/>
          </a:prstGeom>
          <a:solidFill>
            <a:srgbClr val="99A8BD"/>
          </a:solidFill>
          <a:ln w="6350">
            <a:solidFill>
              <a:srgbClr val="51647E"/>
            </a:solidFill>
            <a:prstDash val="solid"/>
          </a:ln>
        </p:spPr>
      </p:sp>
      <p:sp>
        <p:nvSpPr>
          <p:cNvPr id="205" name="release box 204"/>
          <p:cNvSpPr/>
          <p:nvPr/>
        </p:nvSpPr>
        <p:spPr>
          <a:xfrm>
            <a:off x="9966960" y="5413248"/>
            <a:ext cx="2029968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06" name="text 205"/>
          <p:cNvSpPr txBox="1"/>
          <p:nvPr/>
        </p:nvSpPr>
        <p:spPr>
          <a:xfrm>
            <a:off x="10030968" y="54315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release</a:t>
            </a:r>
            <a:endParaRPr lang="en-US" sz="1000" dirty="0"/>
          </a:p>
        </p:txBody>
      </p:sp>
      <p:pic>
        <p:nvPicPr>
          <p:cNvPr id="207" name="release icon 206" descr="release icon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30968" y="5733288"/>
            <a:ext cx="182880" cy="182880"/>
          </a:xfrm>
          <a:prstGeom prst="rect">
            <a:avLst/>
          </a:prstGeom>
        </p:spPr>
      </p:pic>
      <p:sp>
        <p:nvSpPr>
          <p:cNvPr id="208" name="text 207"/>
          <p:cNvSpPr txBox="1"/>
          <p:nvPr/>
        </p:nvSpPr>
        <p:spPr>
          <a:xfrm>
            <a:off x="10250424" y="570585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950" dirty="0"/>
          </a:p>
        </p:txBody>
      </p:sp>
      <p:pic>
        <p:nvPicPr>
          <p:cNvPr id="209" name="release icon 208" descr="release icon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018520" y="5733288"/>
            <a:ext cx="182880" cy="182880"/>
          </a:xfrm>
          <a:prstGeom prst="rect">
            <a:avLst/>
          </a:prstGeom>
        </p:spPr>
      </p:pic>
      <p:sp>
        <p:nvSpPr>
          <p:cNvPr id="210" name="text 209"/>
          <p:cNvSpPr txBox="1"/>
          <p:nvPr/>
        </p:nvSpPr>
        <p:spPr>
          <a:xfrm>
            <a:off x="11237976" y="570585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950" dirty="0"/>
          </a:p>
        </p:txBody>
      </p:sp>
      <p:pic>
        <p:nvPicPr>
          <p:cNvPr id="211" name="release icon 210" descr="release icon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30968" y="6025896"/>
            <a:ext cx="182880" cy="182880"/>
          </a:xfrm>
          <a:prstGeom prst="rect">
            <a:avLst/>
          </a:prstGeom>
        </p:spPr>
      </p:pic>
      <p:sp>
        <p:nvSpPr>
          <p:cNvPr id="212" name="text 211"/>
          <p:cNvSpPr txBox="1"/>
          <p:nvPr/>
        </p:nvSpPr>
        <p:spPr>
          <a:xfrm>
            <a:off x="10250424" y="599846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n-US" sz="950" dirty="0"/>
          </a:p>
        </p:txBody>
      </p:sp>
      <p:pic>
        <p:nvPicPr>
          <p:cNvPr id="213" name="release icon 212" descr="release icon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018520" y="6025896"/>
            <a:ext cx="182880" cy="182880"/>
          </a:xfrm>
          <a:prstGeom prst="rect">
            <a:avLst/>
          </a:prstGeom>
        </p:spPr>
      </p:pic>
      <p:sp>
        <p:nvSpPr>
          <p:cNvPr id="214" name="text 213"/>
          <p:cNvSpPr txBox="1"/>
          <p:nvPr/>
        </p:nvSpPr>
        <p:spPr>
          <a:xfrm>
            <a:off x="11237976" y="599846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2C6A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</a:t>
            </a:r>
            <a:endParaRPr lang="en-US" sz="950" dirty="0"/>
          </a:p>
        </p:txBody>
      </p:sp>
      <p:sp>
        <p:nvSpPr>
          <p:cNvPr id="215" name="WP5 output 214"/>
          <p:cNvSpPr/>
          <p:nvPr/>
        </p:nvSpPr>
        <p:spPr>
          <a:xfrm>
            <a:off x="6309360" y="6382512"/>
            <a:ext cx="5687568" cy="347472"/>
          </a:xfrm>
          <a:prstGeom prst="roundRect">
            <a:avLst>
              <a:gd name="adj" fmla="val 13158"/>
            </a:avLst>
          </a:prstGeom>
          <a:solidFill>
            <a:srgbClr val="1F3A5F"/>
          </a:solidFill>
          <a:ln/>
        </p:spPr>
      </p:sp>
      <p:sp>
        <p:nvSpPr>
          <p:cNvPr id="216" name="output text 215"/>
          <p:cNvSpPr txBox="1"/>
          <p:nvPr/>
        </p:nvSpPr>
        <p:spPr>
          <a:xfrm>
            <a:off x="6400800" y="638251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</a:t>
            </a:r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on achievable trade-offs under temporal &amp; site shift</a:t>
            </a:r>
            <a:endParaRPr lang="en-US" sz="1050" dirty="0"/>
          </a:p>
        </p:txBody>
      </p:sp>
      <p:sp>
        <p:nvSpPr>
          <p:cNvPr id="217" name="flow down 216"/>
          <p:cNvSpPr/>
          <p:nvPr/>
        </p:nvSpPr>
        <p:spPr>
          <a:xfrm>
            <a:off x="457200" y="1005840"/>
            <a:ext cx="347472" cy="164592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18" name="flow label 217"/>
          <p:cNvSpPr txBox="1"/>
          <p:nvPr/>
        </p:nvSpPr>
        <p:spPr>
          <a:xfrm>
            <a:off x="868680" y="1005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time series (irregular, shifting)</a:t>
            </a:r>
            <a:endParaRPr lang="en-US" sz="950" dirty="0"/>
          </a:p>
        </p:txBody>
      </p:sp>
      <p:sp>
        <p:nvSpPr>
          <p:cNvPr id="219" name="flow down 218"/>
          <p:cNvSpPr/>
          <p:nvPr/>
        </p:nvSpPr>
        <p:spPr>
          <a:xfrm>
            <a:off x="4023360" y="1005840"/>
            <a:ext cx="347472" cy="164592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20" name="flow label 219"/>
          <p:cNvSpPr txBox="1"/>
          <p:nvPr/>
        </p:nvSpPr>
        <p:spPr>
          <a:xfrm>
            <a:off x="4434840" y="10058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MIMIC-IV development data</a:t>
            </a:r>
            <a:endParaRPr lang="en-US" sz="950" dirty="0"/>
          </a:p>
        </p:txBody>
      </p:sp>
      <p:sp>
        <p:nvSpPr>
          <p:cNvPr id="221" name="flow down 220"/>
          <p:cNvSpPr/>
          <p:nvPr/>
        </p:nvSpPr>
        <p:spPr>
          <a:xfrm>
            <a:off x="9326880" y="1005840"/>
            <a:ext cx="347472" cy="164592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22" name="flow label 221"/>
          <p:cNvSpPr txBox="1"/>
          <p:nvPr/>
        </p:nvSpPr>
        <p:spPr>
          <a:xfrm>
            <a:off x="9738360" y="10058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hold-out + external data</a:t>
            </a:r>
            <a:endParaRPr lang="en-US" sz="950" dirty="0"/>
          </a:p>
        </p:txBody>
      </p:sp>
      <p:sp>
        <p:nvSpPr>
          <p:cNvPr id="223" name="flow WP1 to WP2 222"/>
          <p:cNvSpPr/>
          <p:nvPr/>
        </p:nvSpPr>
        <p:spPr>
          <a:xfrm>
            <a:off x="2834640" y="1783080"/>
            <a:ext cx="256032" cy="187452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objectives + constraint</a:t>
            </a:r>
            <a:endParaRPr lang="en-US" sz="950" dirty="0"/>
          </a:p>
        </p:txBody>
      </p:sp>
      <p:sp>
        <p:nvSpPr>
          <p:cNvPr id="224" name="flow WP1 to WP2 head 223"/>
          <p:cNvSpPr/>
          <p:nvPr/>
        </p:nvSpPr>
        <p:spPr>
          <a:xfrm rot="5400000">
            <a:off x="2921508" y="2665476"/>
            <a:ext cx="438912" cy="109728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225" name="flow WP2 to WP3 224"/>
          <p:cNvSpPr/>
          <p:nvPr/>
        </p:nvSpPr>
        <p:spPr>
          <a:xfrm>
            <a:off x="8604504" y="1737360"/>
            <a:ext cx="256032" cy="11430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solutions θ*</a:t>
            </a:r>
            <a:endParaRPr lang="en-US" sz="950" dirty="0"/>
          </a:p>
        </p:txBody>
      </p:sp>
      <p:sp>
        <p:nvSpPr>
          <p:cNvPr id="226" name="flow WP2 to WP3 head 225"/>
          <p:cNvSpPr/>
          <p:nvPr/>
        </p:nvSpPr>
        <p:spPr>
          <a:xfrm rot="5400000">
            <a:off x="8691372" y="2253996"/>
            <a:ext cx="438912" cy="109728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227" name="feedback WP3 to WP2 226"/>
          <p:cNvSpPr/>
          <p:nvPr/>
        </p:nvSpPr>
        <p:spPr>
          <a:xfrm>
            <a:off x="8636508" y="2971800"/>
            <a:ext cx="256032" cy="1051560"/>
          </a:xfrm>
          <a:prstGeom prst="rect">
            <a:avLst/>
          </a:prstGeom>
          <a:solidFill>
            <a:srgbClr val="218B73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950" dirty="0"/>
          </a:p>
        </p:txBody>
      </p:sp>
      <p:sp>
        <p:nvSpPr>
          <p:cNvPr id="228" name="feedback WP3 to WP2 head 227"/>
          <p:cNvSpPr/>
          <p:nvPr/>
        </p:nvSpPr>
        <p:spPr>
          <a:xfrm rot="16200000">
            <a:off x="8366760" y="3442716"/>
            <a:ext cx="438912" cy="109728"/>
          </a:xfrm>
          <a:prstGeom prst="triangle">
            <a:avLst/>
          </a:prstGeom>
          <a:solidFill>
            <a:srgbClr val="218B73"/>
          </a:solidFill>
          <a:ln/>
        </p:spPr>
      </p:sp>
      <p:sp>
        <p:nvSpPr>
          <p:cNvPr id="229" name="flow down 228"/>
          <p:cNvSpPr/>
          <p:nvPr/>
        </p:nvSpPr>
        <p:spPr>
          <a:xfrm>
            <a:off x="4206240" y="4247388"/>
            <a:ext cx="347472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30" name="flow label 229"/>
          <p:cNvSpPr txBox="1"/>
          <p:nvPr/>
        </p:nvSpPr>
        <p:spPr>
          <a:xfrm>
            <a:off x="4617720" y="42473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solutions θ*</a:t>
            </a:r>
            <a:endParaRPr lang="en-US" sz="950" dirty="0"/>
          </a:p>
        </p:txBody>
      </p:sp>
      <p:sp>
        <p:nvSpPr>
          <p:cNvPr id="231" name="flow down 230"/>
          <p:cNvSpPr/>
          <p:nvPr/>
        </p:nvSpPr>
        <p:spPr>
          <a:xfrm>
            <a:off x="8229600" y="4247388"/>
            <a:ext cx="347472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32" name="flow label 231"/>
          <p:cNvSpPr txBox="1"/>
          <p:nvPr/>
        </p:nvSpPr>
        <p:spPr>
          <a:xfrm>
            <a:off x="6702552" y="42473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95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structure</a:t>
            </a:r>
            <a:endParaRPr lang="en-US" sz="950" dirty="0"/>
          </a:p>
        </p:txBody>
      </p:sp>
      <p:sp>
        <p:nvSpPr>
          <p:cNvPr id="233" name="flow down 232"/>
          <p:cNvSpPr/>
          <p:nvPr/>
        </p:nvSpPr>
        <p:spPr>
          <a:xfrm>
            <a:off x="10835640" y="4247388"/>
            <a:ext cx="347472" cy="228600"/>
          </a:xfrm>
          <a:prstGeom prst="downArrow">
            <a:avLst/>
          </a:prstGeom>
          <a:solidFill>
            <a:srgbClr val="4472C4"/>
          </a:solidFill>
          <a:ln w="9525">
            <a:solidFill>
              <a:srgbClr val="2F5597"/>
            </a:solidFill>
            <a:prstDash val="solid"/>
          </a:ln>
        </p:spPr>
      </p:sp>
      <p:sp>
        <p:nvSpPr>
          <p:cNvPr id="234" name="flow label 233"/>
          <p:cNvSpPr txBox="1"/>
          <p:nvPr/>
        </p:nvSpPr>
        <p:spPr>
          <a:xfrm>
            <a:off x="9034272" y="42473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950" b="1" i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evidence</a:t>
            </a:r>
            <a:endParaRPr lang="en-US" sz="950" dirty="0"/>
          </a:p>
        </p:txBody>
      </p:sp>
      <p:sp>
        <p:nvSpPr>
          <p:cNvPr id="235" name="flow WP4 to WP5 234"/>
          <p:cNvSpPr/>
          <p:nvPr/>
        </p:nvSpPr>
        <p:spPr>
          <a:xfrm>
            <a:off x="5952744" y="4956048"/>
            <a:ext cx="256032" cy="13716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evidence</a:t>
            </a:r>
            <a:endParaRPr lang="en-US" sz="950" dirty="0"/>
          </a:p>
        </p:txBody>
      </p:sp>
      <p:sp>
        <p:nvSpPr>
          <p:cNvPr id="236" name="flow WP4 to WP5 head 235"/>
          <p:cNvSpPr/>
          <p:nvPr/>
        </p:nvSpPr>
        <p:spPr>
          <a:xfrm rot="5400000">
            <a:off x="6039612" y="5586984"/>
            <a:ext cx="438912" cy="109728"/>
          </a:xfrm>
          <a:prstGeom prst="triangle">
            <a:avLst/>
          </a:prstGeom>
          <a:solidFill>
            <a:srgbClr val="4472C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framework: shared clinical testbed and WP1-WP5</dc:title>
  <dc:subject>PptxGenJS Presentation</dc:subject>
  <dc:creator>PptxGenJS</dc:creator>
  <cp:lastModifiedBy>PptxGenJS</cp:lastModifiedBy>
  <cp:revision>1</cp:revision>
  <dcterms:created xsi:type="dcterms:W3CDTF">2026-10-16T16:09:49Z</dcterms:created>
  <dcterms:modified xsi:type="dcterms:W3CDTF">2026-10-16T16:09:49Z</dcterms:modified>
</cp:coreProperties>
</file>