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图1（v2）流程与过程量说明
共享临床时间序列测试平台（M1–24 全程）：主任务 = 用入 ICU 前 48 h 不规则采样的生理/实验室观测预测随后 24 h 死亡（二分类）；补充任务 = 西伦敦医院 A&amp;E 等待时间预测（回归）；连续结局用于 CPD。数据：MIMIC-IV（开发 + 时间外推验证）、eICU（独立跨医院验证）、West London A&amp;E（连续任务）。仅使用回顾性、去标识化数据。
测试平台 → WP1：数据特性（不规则采样、纵向依赖、分布漂移）；→ WP2：MIMIC-IV 开发数据（训练与校准）；→ WP3：时间外推集、eICU、A&amp;E。
WP1（M1–6）→ WP2：目标向量 F(θ) = (f1 预测损失, f2 特征贡献的稀疏性与时间稳定性, f3 预定义时间/站点漂移下的最差组损失, f4 预测集大小/区间宽度)，约束：边际覆盖率 ≥ 90%（时间序列/非可交换校准，按亚组与站点复核），以及预定义的漂移环境 E。
WP2（M3–14）：候选种群 θ → 在每个环境 e∈E 上评估 F(θ) 与覆盖率 c → 覆盖约束选择 + 环境感知鲁棒排序（+ WP3 忠实度反馈）→ 交叉/变异生成新种群并迭代；输出 Pareto 前沿刻画（联合改进区、膝点区、漂移下前沿变化）、代表性候选解，并与现有多目标方法对比。
WP2 → WP3：选定的 Pareto 解 θ*；WP3 → WP2：解释忠实度结果，用于改进 f2 可解释性代理与候选选择。
WP3（M8–22）：① 忠实度——消融 + 基于简单生理模型的受控扰动（预先设定期望方向与时间位置），用归因–响应相关和删除/插入保真度量化；② 性能与覆盖——MIMIC-IV 开发/时间外推、eICU 跨医院、A&amp;E 连续任务。
WP2 → WP4：代表性 Pareto 候选解。WP4（M14–22）：ICU 医生在三种条件下审阅平衡的去标识化病例（A 点预测；B 点预测 + 事后解释；C 联合优化输出 + 保形不确定性），结局 = 依赖决策准确性、置信度校准、感知可解释性、决策时间及定性意见；连续任务探索 CPD 支持不同决策规则。
WP2/WP3/WP4 → WP5（M20–24）：优化、验证、临床证据整合为“可联合实现性”图谱（联合可实现 / 权衡 / 失效，随时间与站点漂移变化）；不相容被视为一等结果；输出方法学指导、算法、评估规范与开放获取论文。
图中前沿、相关矩阵、覆盖率柱、可实现性图谱等为示意（illustrative），非结果。
图片与数据来源：
- ICU 中央监护站照片：US Navy photo by PH1 Shane T. McCoy，Wikimedia Commons，公有领域。
- A&amp;E 入口照片：“Entrance to the Accident and Emergency Department, Bradford Infirmary”，Humphrey Bolton，geograph.org.uk / Wikimedia Commons，CC BY-SA 2.0。
- 美国地图底图：“Blank US Map (states only).svg”，Heitordp，Wikimedia Commons，CC0；站点按 eICU Demo 医院所属区域示意摆放。
- 生命体征曲线/不规则采样示意：MIMIC-IV Clinical Database Demo v2.2、eICU-CRD Demo v2.0.1（PhysioNet，开放获取）中的真实数据。
- 图标：Font Awesome（react-icons）。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image" Target="../media/image-1-28.jpg"/><Relationship Id="rId29" Type="http://schemas.openxmlformats.org/officeDocument/2006/relationships/image" Target="../media/image-1-29.png"/><Relationship Id="rId30" Type="http://schemas.openxmlformats.org/officeDocument/2006/relationships/image" Target="../media/image-1-30.png"/><Relationship Id="rId31" Type="http://schemas.openxmlformats.org/officeDocument/2006/relationships/image" Target="../media/image-1-31.png"/><Relationship Id="rId32" Type="http://schemas.openxmlformats.org/officeDocument/2006/relationships/image" Target="../media/image-1-32.png"/><Relationship Id="rId33" Type="http://schemas.openxmlformats.org/officeDocument/2006/relationships/image" Target="../media/image-1-33.png"/><Relationship Id="rId34" Type="http://schemas.openxmlformats.org/officeDocument/2006/relationships/image" Target="../media/image-1-34.png"/><Relationship Id="rId35" Type="http://schemas.openxmlformats.org/officeDocument/2006/relationships/image" Target="../media/image-1-35.png"/><Relationship Id="rId36" Type="http://schemas.openxmlformats.org/officeDocument/2006/relationships/image" Target="../media/image-1-36.png"/><Relationship Id="rId37" Type="http://schemas.openxmlformats.org/officeDocument/2006/relationships/image" Target="../media/image-1-37.png"/><Relationship Id="rId38" Type="http://schemas.openxmlformats.org/officeDocument/2006/relationships/image" Target="../media/image-1-38.png"/><Relationship Id="rId39" Type="http://schemas.openxmlformats.org/officeDocument/2006/relationships/image" Target="../media/image-1-39.png"/><Relationship Id="rId40" Type="http://schemas.openxmlformats.org/officeDocument/2006/relationships/image" Target="../media/image-1-40.png"/><Relationship Id="rId41" Type="http://schemas.openxmlformats.org/officeDocument/2006/relationships/image" Target="../media/image-1-41.png"/><Relationship Id="rId42" Type="http://schemas.openxmlformats.org/officeDocument/2006/relationships/image" Target="../media/image-1-42.png"/><Relationship Id="rId43" Type="http://schemas.openxmlformats.org/officeDocument/2006/relationships/slideLayout" Target="../slideLayouts/slideLayout1.xml"/><Relationship Id="rId4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 testbed 1"/>
          <p:cNvSpPr/>
          <p:nvPr/>
        </p:nvSpPr>
        <p:spPr>
          <a:xfrm>
            <a:off x="109728" y="73152"/>
            <a:ext cx="11969496" cy="859536"/>
          </a:xfrm>
          <a:prstGeom prst="rect">
            <a:avLst/>
          </a:prstGeom>
          <a:solidFill>
            <a:srgbClr val="F2F2F2"/>
          </a:solidFill>
          <a:ln w="38100">
            <a:solidFill>
              <a:srgbClr val="657D9D"/>
            </a:solidFill>
            <a:prstDash val="solid"/>
          </a:ln>
        </p:spPr>
      </p:sp>
      <p:sp>
        <p:nvSpPr>
          <p:cNvPr id="3" name="panel title 2"/>
          <p:cNvSpPr txBox="1"/>
          <p:nvPr/>
        </p:nvSpPr>
        <p:spPr>
          <a:xfrm>
            <a:off x="219456" y="118872"/>
            <a:ext cx="11750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clinical</a:t>
            </a:r>
            <a:endParaRPr lang="en-US" sz="15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time-series testbed</a:t>
            </a:r>
            <a:endParaRPr lang="en-US" sz="1500" dirty="0"/>
          </a:p>
        </p:txBody>
      </p:sp>
      <p:sp>
        <p:nvSpPr>
          <p:cNvPr id="4" name="month pill 3"/>
          <p:cNvSpPr/>
          <p:nvPr/>
        </p:nvSpPr>
        <p:spPr>
          <a:xfrm>
            <a:off x="219456" y="576072"/>
            <a:ext cx="1188720" cy="173736"/>
          </a:xfrm>
          <a:prstGeom prst="roundRect">
            <a:avLst>
              <a:gd name="adj" fmla="val 47368"/>
            </a:avLst>
          </a:prstGeom>
          <a:solidFill>
            <a:srgbClr val="FFFFFF"/>
          </a:solidFill>
          <a:ln w="9525">
            <a:solidFill>
              <a:srgbClr val="657D9D"/>
            </a:solidFill>
            <a:prstDash val="solid"/>
          </a:ln>
        </p:spPr>
      </p:sp>
      <p:sp>
        <p:nvSpPr>
          <p:cNvPr id="5" name="text 4"/>
          <p:cNvSpPr txBox="1"/>
          <p:nvPr/>
        </p:nvSpPr>
        <p:spPr>
          <a:xfrm>
            <a:off x="219456" y="576072"/>
            <a:ext cx="1188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51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throughout M1–24</a:t>
            </a:r>
            <a:endParaRPr lang="en-US" sz="750" dirty="0"/>
          </a:p>
        </p:txBody>
      </p:sp>
      <p:sp>
        <p:nvSpPr>
          <p:cNvPr id="6" name="text 5"/>
          <p:cNvSpPr txBox="1"/>
          <p:nvPr/>
        </p:nvSpPr>
        <p:spPr>
          <a:xfrm>
            <a:off x="219456" y="768096"/>
            <a:ext cx="1783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580" i="1" dirty="0">
                <a:solidFill>
                  <a:srgbClr val="51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retrospective · de-identified · no prospective collection</a:t>
            </a:r>
            <a:endParaRPr lang="en-US" sz="580" dirty="0"/>
          </a:p>
        </p:txBody>
      </p:sp>
      <p:sp>
        <p:nvSpPr>
          <p:cNvPr id="7" name="sub-box 6"/>
          <p:cNvSpPr/>
          <p:nvPr/>
        </p:nvSpPr>
        <p:spPr>
          <a:xfrm>
            <a:off x="2011680" y="137160"/>
            <a:ext cx="3931920" cy="73152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8" name="primary task text 7"/>
          <p:cNvSpPr txBox="1"/>
          <p:nvPr/>
        </p:nvSpPr>
        <p:spPr>
          <a:xfrm>
            <a:off x="2084832" y="173736"/>
            <a:ext cx="1170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2C6A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task (binary)</a:t>
            </a:r>
            <a:endParaRPr lang="en-US" sz="7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66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24-h ICU mortality from the first 48 h of irregularly sampled physiological and laboratory observations</a:t>
            </a:r>
            <a:endParaRPr lang="en-US" sz="700" dirty="0"/>
          </a:p>
        </p:txBody>
      </p:sp>
      <p:pic>
        <p:nvPicPr>
          <p:cNvPr id="9" name="irregularly sampled ICU observations, first 48 h (real MIMIC-IV demo stay) 8" descr="irregularly sampled ICU observations, first 48 h (real MIMIC-IV demo stay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1840" y="155448"/>
            <a:ext cx="2615184" cy="685800"/>
          </a:xfrm>
          <a:prstGeom prst="rect">
            <a:avLst/>
          </a:prstGeom>
        </p:spPr>
      </p:pic>
      <p:sp>
        <p:nvSpPr>
          <p:cNvPr id="10" name="sub-box 9"/>
          <p:cNvSpPr/>
          <p:nvPr/>
        </p:nvSpPr>
        <p:spPr>
          <a:xfrm>
            <a:off x="6016752" y="137160"/>
            <a:ext cx="2395728" cy="73152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9AA5B1"/>
            </a:solidFill>
            <a:prstDash val="solid"/>
          </a:ln>
        </p:spPr>
      </p:sp>
      <p:pic>
        <p:nvPicPr>
          <p:cNvPr id="11" name="photo: NHS A&amp;E department entrance 10" descr="photo: NHS A&amp;E department entranc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2472" y="192024"/>
            <a:ext cx="786384" cy="566928"/>
          </a:xfrm>
          <a:prstGeom prst="rect">
            <a:avLst/>
          </a:prstGeom>
        </p:spPr>
      </p:pic>
      <p:sp>
        <p:nvSpPr>
          <p:cNvPr id="12" name="complementary task text 11"/>
          <p:cNvSpPr txBox="1"/>
          <p:nvPr/>
        </p:nvSpPr>
        <p:spPr>
          <a:xfrm>
            <a:off x="6903720" y="173736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B85C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Complementary task (regression)</a:t>
            </a:r>
            <a:endParaRPr lang="en-US" sz="7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A&amp;E waiting-time prediction</a:t>
            </a:r>
            <a:endParaRPr lang="en-US" sz="7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63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attendances, West London hospital [15]</a:t>
            </a:r>
            <a:endParaRPr lang="en-US" sz="7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630" i="1" dirty="0">
                <a:solidFill>
                  <a:srgbClr val="5B3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outcomes → CPDs</a:t>
            </a:r>
            <a:endParaRPr lang="en-US" sz="700" dirty="0"/>
          </a:p>
        </p:txBody>
      </p:sp>
      <p:sp>
        <p:nvSpPr>
          <p:cNvPr id="13" name="sub-box 12"/>
          <p:cNvSpPr/>
          <p:nvPr/>
        </p:nvSpPr>
        <p:spPr>
          <a:xfrm>
            <a:off x="8485632" y="137160"/>
            <a:ext cx="1783080" cy="73152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14" name="MIMIC text 13"/>
          <p:cNvSpPr txBox="1"/>
          <p:nvPr/>
        </p:nvSpPr>
        <p:spPr>
          <a:xfrm>
            <a:off x="8549640" y="164592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2C6A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MIMIC-IV [13]</a:t>
            </a:r>
            <a:endParaRPr lang="en-US" sz="7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63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ICU · development + temporal hold-out</a:t>
            </a:r>
            <a:endParaRPr lang="en-US" sz="700" dirty="0"/>
          </a:p>
        </p:txBody>
      </p:sp>
      <p:pic>
        <p:nvPicPr>
          <p:cNvPr id="15" name="MIMIC-IV temporal split 14" descr="MIMIC-IV temporal spli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8784" y="512064"/>
            <a:ext cx="1627632" cy="310896"/>
          </a:xfrm>
          <a:prstGeom prst="rect">
            <a:avLst/>
          </a:prstGeom>
        </p:spPr>
      </p:pic>
      <p:sp>
        <p:nvSpPr>
          <p:cNvPr id="16" name="sub-box 15"/>
          <p:cNvSpPr/>
          <p:nvPr/>
        </p:nvSpPr>
        <p:spPr>
          <a:xfrm>
            <a:off x="10341864" y="137160"/>
            <a:ext cx="1664208" cy="73152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17" name="eICU text 16"/>
          <p:cNvSpPr txBox="1"/>
          <p:nvPr/>
        </p:nvSpPr>
        <p:spPr>
          <a:xfrm>
            <a:off x="10405872" y="164592"/>
            <a:ext cx="841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A6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eICU [14]</a:t>
            </a:r>
            <a:endParaRPr lang="en-US" sz="7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63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multi-centre US ICUs · independent cross-hospital validation</a:t>
            </a:r>
            <a:endParaRPr lang="en-US" sz="700" dirty="0"/>
          </a:p>
        </p:txBody>
      </p:sp>
      <p:pic>
        <p:nvPicPr>
          <p:cNvPr id="18" name="eICU hospitals by US region 17" descr="eICU hospitals by US regi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7976" y="283464"/>
            <a:ext cx="731520" cy="448056"/>
          </a:xfrm>
          <a:prstGeom prst="rect">
            <a:avLst/>
          </a:prstGeom>
        </p:spPr>
      </p:pic>
      <p:sp>
        <p:nvSpPr>
          <p:cNvPr id="19" name="panel WP1 18"/>
          <p:cNvSpPr/>
          <p:nvPr/>
        </p:nvSpPr>
        <p:spPr>
          <a:xfrm>
            <a:off x="109728" y="1188720"/>
            <a:ext cx="2359152" cy="2907792"/>
          </a:xfrm>
          <a:prstGeom prst="rect">
            <a:avLst/>
          </a:prstGeom>
          <a:solidFill>
            <a:srgbClr val="F2F2F2"/>
          </a:solidFill>
          <a:ln w="38100">
            <a:solidFill>
              <a:srgbClr val="657D9D"/>
            </a:solidFill>
            <a:prstDash val="solid"/>
          </a:ln>
        </p:spPr>
      </p:sp>
      <p:sp>
        <p:nvSpPr>
          <p:cNvPr id="20" name="panel title 19"/>
          <p:cNvSpPr txBox="1"/>
          <p:nvPr/>
        </p:nvSpPr>
        <p:spPr>
          <a:xfrm>
            <a:off x="219456" y="1234440"/>
            <a:ext cx="21396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2F55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WP1 </a:t>
            </a:r>
            <a:pPr algn="l" indent="0" marL="0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and</a:t>
            </a:r>
            <a:endParaRPr lang="en-US" sz="15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 Definition</a:t>
            </a:r>
            <a:endParaRPr lang="en-US" sz="1500" dirty="0"/>
          </a:p>
        </p:txBody>
      </p:sp>
      <p:sp>
        <p:nvSpPr>
          <p:cNvPr id="21" name="month pill 20"/>
          <p:cNvSpPr/>
          <p:nvPr/>
        </p:nvSpPr>
        <p:spPr>
          <a:xfrm>
            <a:off x="2026310" y="1257300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57D9D"/>
            </a:solidFill>
            <a:prstDash val="solid"/>
          </a:ln>
        </p:spPr>
      </p:sp>
      <p:sp>
        <p:nvSpPr>
          <p:cNvPr id="22" name="months 21"/>
          <p:cNvSpPr txBox="1"/>
          <p:nvPr/>
        </p:nvSpPr>
        <p:spPr>
          <a:xfrm>
            <a:off x="2026310" y="1257300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51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M1–6</a:t>
            </a:r>
            <a:endParaRPr lang="en-US" sz="800" dirty="0"/>
          </a:p>
        </p:txBody>
      </p:sp>
      <p:sp>
        <p:nvSpPr>
          <p:cNvPr id="23" name="sub-box 22"/>
          <p:cNvSpPr/>
          <p:nvPr/>
        </p:nvSpPr>
        <p:spPr>
          <a:xfrm>
            <a:off x="182880" y="1719072"/>
            <a:ext cx="2212848" cy="1426464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24" name="sub-box title 23"/>
          <p:cNvSpPr txBox="1"/>
          <p:nvPr/>
        </p:nvSpPr>
        <p:spPr>
          <a:xfrm>
            <a:off x="246888" y="1746504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Quantitative objectives (minimised)</a:t>
            </a:r>
            <a:endParaRPr lang="en-US" sz="950" dirty="0"/>
          </a:p>
        </p:txBody>
      </p:sp>
      <p:sp>
        <p:nvSpPr>
          <p:cNvPr id="25" name="objective tile 24"/>
          <p:cNvSpPr/>
          <p:nvPr/>
        </p:nvSpPr>
        <p:spPr>
          <a:xfrm>
            <a:off x="246888" y="1956816"/>
            <a:ext cx="1024128" cy="548640"/>
          </a:xfrm>
          <a:prstGeom prst="roundRect">
            <a:avLst>
              <a:gd name="adj" fmla="val 6667"/>
            </a:avLst>
          </a:prstGeom>
          <a:solidFill>
            <a:srgbClr val="F1F6FC"/>
          </a:solidFill>
          <a:ln w="9525">
            <a:solidFill>
              <a:srgbClr val="3C88BD"/>
            </a:solidFill>
            <a:prstDash val="solid"/>
          </a:ln>
        </p:spPr>
      </p:sp>
      <p:pic>
        <p:nvPicPr>
          <p:cNvPr id="26" name="objective graphic 25" descr="objective graphic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979676"/>
            <a:ext cx="886968" cy="320040"/>
          </a:xfrm>
          <a:prstGeom prst="rect">
            <a:avLst/>
          </a:prstGeom>
        </p:spPr>
      </p:pic>
      <p:sp>
        <p:nvSpPr>
          <p:cNvPr id="27" name="objective label 26"/>
          <p:cNvSpPr txBox="1"/>
          <p:nvPr/>
        </p:nvSpPr>
        <p:spPr>
          <a:xfrm>
            <a:off x="274320" y="2299716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2C6A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pPr algn="ctr" indent="0" marL="0">
              <a:lnSpc>
                <a:spcPct val="95000"/>
              </a:lnSpc>
              <a:buNone/>
            </a:pPr>
            <a:r>
              <a:rPr lang="en-US" sz="680" b="1" baseline="-40000" dirty="0">
                <a:solidFill>
                  <a:srgbClr val="2C6A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ctr"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2C6A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predictive loss</a:t>
            </a:r>
            <a:endParaRPr lang="en-US" sz="680" dirty="0"/>
          </a:p>
        </p:txBody>
      </p:sp>
      <p:sp>
        <p:nvSpPr>
          <p:cNvPr id="28" name="objective tile 27"/>
          <p:cNvSpPr/>
          <p:nvPr/>
        </p:nvSpPr>
        <p:spPr>
          <a:xfrm>
            <a:off x="1325880" y="1956816"/>
            <a:ext cx="1024128" cy="548640"/>
          </a:xfrm>
          <a:prstGeom prst="roundRect">
            <a:avLst>
              <a:gd name="adj" fmla="val 6667"/>
            </a:avLst>
          </a:prstGeom>
          <a:solidFill>
            <a:srgbClr val="F2F9F6"/>
          </a:solidFill>
          <a:ln w="9525">
            <a:solidFill>
              <a:srgbClr val="218B73"/>
            </a:solidFill>
            <a:prstDash val="solid"/>
          </a:ln>
        </p:spPr>
      </p:sp>
      <p:pic>
        <p:nvPicPr>
          <p:cNvPr id="29" name="objective graphic 28" descr="objective graphic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9888" y="1979676"/>
            <a:ext cx="886968" cy="320040"/>
          </a:xfrm>
          <a:prstGeom prst="rect">
            <a:avLst/>
          </a:prstGeom>
        </p:spPr>
      </p:pic>
      <p:sp>
        <p:nvSpPr>
          <p:cNvPr id="30" name="objective label 29"/>
          <p:cNvSpPr txBox="1"/>
          <p:nvPr/>
        </p:nvSpPr>
        <p:spPr>
          <a:xfrm>
            <a:off x="1353312" y="2299716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1A6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pPr algn="ctr" indent="0" marL="0">
              <a:lnSpc>
                <a:spcPct val="95000"/>
              </a:lnSpc>
              <a:buNone/>
            </a:pPr>
            <a:r>
              <a:rPr lang="en-US" sz="680" b="1" baseline="-40000" dirty="0">
                <a:solidFill>
                  <a:srgbClr val="1A6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1A6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sparsity &amp; temporal stability</a:t>
            </a:r>
            <a:endParaRPr lang="en-US" sz="680" dirty="0"/>
          </a:p>
        </p:txBody>
      </p:sp>
      <p:sp>
        <p:nvSpPr>
          <p:cNvPr id="31" name="objective tile 30"/>
          <p:cNvSpPr/>
          <p:nvPr/>
        </p:nvSpPr>
        <p:spPr>
          <a:xfrm>
            <a:off x="246888" y="2551176"/>
            <a:ext cx="1024128" cy="548640"/>
          </a:xfrm>
          <a:prstGeom prst="roundRect">
            <a:avLst>
              <a:gd name="adj" fmla="val 6667"/>
            </a:avLst>
          </a:prstGeom>
          <a:solidFill>
            <a:srgbClr val="F7F4FB"/>
          </a:solidFill>
          <a:ln w="9525">
            <a:solidFill>
              <a:srgbClr val="8E6CC0"/>
            </a:solidFill>
            <a:prstDash val="solid"/>
          </a:ln>
        </p:spPr>
      </p:sp>
      <p:pic>
        <p:nvPicPr>
          <p:cNvPr id="32" name="objective graphic 31" descr="objective graphic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0896" y="2574036"/>
            <a:ext cx="886968" cy="320040"/>
          </a:xfrm>
          <a:prstGeom prst="rect">
            <a:avLst/>
          </a:prstGeom>
        </p:spPr>
      </p:pic>
      <p:sp>
        <p:nvSpPr>
          <p:cNvPr id="33" name="objective label 32"/>
          <p:cNvSpPr txBox="1"/>
          <p:nvPr/>
        </p:nvSpPr>
        <p:spPr>
          <a:xfrm>
            <a:off x="274320" y="2894076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5B3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pPr algn="ctr" indent="0" marL="0">
              <a:lnSpc>
                <a:spcPct val="95000"/>
              </a:lnSpc>
              <a:buNone/>
            </a:pPr>
            <a:r>
              <a:rPr lang="en-US" sz="680" b="1" baseline="-40000" dirty="0">
                <a:solidFill>
                  <a:srgbClr val="5B3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algn="ctr"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5B3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worst-group loss under shift</a:t>
            </a:r>
            <a:endParaRPr lang="en-US" sz="680" dirty="0"/>
          </a:p>
        </p:txBody>
      </p:sp>
      <p:sp>
        <p:nvSpPr>
          <p:cNvPr id="34" name="objective tile 33"/>
          <p:cNvSpPr/>
          <p:nvPr/>
        </p:nvSpPr>
        <p:spPr>
          <a:xfrm>
            <a:off x="1325880" y="2551176"/>
            <a:ext cx="1024128" cy="548640"/>
          </a:xfrm>
          <a:prstGeom prst="roundRect">
            <a:avLst>
              <a:gd name="adj" fmla="val 6667"/>
            </a:avLst>
          </a:prstGeom>
          <a:solidFill>
            <a:srgbClr val="FDF1E8"/>
          </a:solidFill>
          <a:ln w="9525">
            <a:solidFill>
              <a:srgbClr val="D9773F"/>
            </a:solidFill>
            <a:prstDash val="solid"/>
          </a:ln>
        </p:spPr>
      </p:sp>
      <p:pic>
        <p:nvPicPr>
          <p:cNvPr id="35" name="objective graphic 34" descr="objective graphic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89888" y="2574036"/>
            <a:ext cx="886968" cy="320040"/>
          </a:xfrm>
          <a:prstGeom prst="rect">
            <a:avLst/>
          </a:prstGeom>
        </p:spPr>
      </p:pic>
      <p:sp>
        <p:nvSpPr>
          <p:cNvPr id="36" name="objective label 35"/>
          <p:cNvSpPr txBox="1"/>
          <p:nvPr/>
        </p:nvSpPr>
        <p:spPr>
          <a:xfrm>
            <a:off x="1353312" y="2894076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B85C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pPr algn="ctr" indent="0" marL="0">
              <a:lnSpc>
                <a:spcPct val="95000"/>
              </a:lnSpc>
              <a:buNone/>
            </a:pPr>
            <a:r>
              <a:rPr lang="en-US" sz="680" b="1" baseline="-40000" dirty="0">
                <a:solidFill>
                  <a:srgbClr val="B85C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pPr algn="ctr"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B85C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set size / interval width</a:t>
            </a:r>
            <a:endParaRPr lang="en-US" sz="680" dirty="0"/>
          </a:p>
        </p:txBody>
      </p:sp>
      <p:sp>
        <p:nvSpPr>
          <p:cNvPr id="37" name="sub-box 36"/>
          <p:cNvSpPr/>
          <p:nvPr/>
        </p:nvSpPr>
        <p:spPr>
          <a:xfrm>
            <a:off x="182880" y="3200400"/>
            <a:ext cx="2212848" cy="841248"/>
          </a:xfrm>
          <a:prstGeom prst="roundRect">
            <a:avLst>
              <a:gd name="adj" fmla="val 3261"/>
            </a:avLst>
          </a:prstGeom>
          <a:solidFill>
            <a:srgbClr val="FFFFFF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38" name="sub-box title 37"/>
          <p:cNvSpPr txBox="1"/>
          <p:nvPr/>
        </p:nvSpPr>
        <p:spPr>
          <a:xfrm>
            <a:off x="246888" y="3227832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A93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Coverage: validity constraint</a:t>
            </a:r>
            <a:endParaRPr lang="en-US" sz="950" dirty="0"/>
          </a:p>
        </p:txBody>
      </p:sp>
      <p:pic>
        <p:nvPicPr>
          <p:cNvPr id="39" name="weighted (non-exchangeable) conformal calibration 38" descr="weighted (non-exchangeable) conformal calibrati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9456" y="3456432"/>
            <a:ext cx="950976" cy="502920"/>
          </a:xfrm>
          <a:prstGeom prst="rect">
            <a:avLst/>
          </a:prstGeom>
        </p:spPr>
      </p:pic>
      <p:sp>
        <p:nvSpPr>
          <p:cNvPr id="40" name="coverage text 39"/>
          <p:cNvSpPr txBox="1"/>
          <p:nvPr/>
        </p:nvSpPr>
        <p:spPr>
          <a:xfrm>
            <a:off x="1207008" y="3419856"/>
            <a:ext cx="11612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A93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marginal ≥ 90%</a:t>
            </a:r>
            <a:endParaRPr lang="en-US" sz="7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6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time-series &amp; non-exchangeable calibration</a:t>
            </a:r>
            <a:endParaRPr lang="en-US" sz="7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6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re-evaluated under temporal &amp; site shift</a:t>
            </a:r>
            <a:endParaRPr lang="en-US" sz="700" dirty="0"/>
          </a:p>
        </p:txBody>
      </p:sp>
      <p:sp>
        <p:nvSpPr>
          <p:cNvPr id="41" name="panel WP2 40"/>
          <p:cNvSpPr/>
          <p:nvPr/>
        </p:nvSpPr>
        <p:spPr>
          <a:xfrm>
            <a:off x="2852928" y="1188720"/>
            <a:ext cx="5733288" cy="2907792"/>
          </a:xfrm>
          <a:prstGeom prst="rect">
            <a:avLst/>
          </a:prstGeom>
          <a:solidFill>
            <a:srgbClr val="F2F2F2"/>
          </a:solidFill>
          <a:ln w="38100">
            <a:solidFill>
              <a:srgbClr val="657D9D"/>
            </a:solidFill>
            <a:prstDash val="solid"/>
          </a:ln>
        </p:spPr>
      </p:sp>
      <p:sp>
        <p:nvSpPr>
          <p:cNvPr id="42" name="panel title 41"/>
          <p:cNvSpPr txBox="1"/>
          <p:nvPr/>
        </p:nvSpPr>
        <p:spPr>
          <a:xfrm>
            <a:off x="2962656" y="1234440"/>
            <a:ext cx="551383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2F55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WP2 </a:t>
            </a:r>
            <a:pPr algn="l" indent="0" marL="0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Many-Objective Method Development</a:t>
            </a:r>
            <a:endParaRPr lang="en-US" sz="1500" dirty="0"/>
          </a:p>
        </p:txBody>
      </p:sp>
      <p:sp>
        <p:nvSpPr>
          <p:cNvPr id="43" name="month pill 42"/>
          <p:cNvSpPr/>
          <p:nvPr/>
        </p:nvSpPr>
        <p:spPr>
          <a:xfrm>
            <a:off x="6907378" y="1257300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57D9D"/>
            </a:solidFill>
            <a:prstDash val="solid"/>
          </a:ln>
        </p:spPr>
      </p:sp>
      <p:sp>
        <p:nvSpPr>
          <p:cNvPr id="44" name="months 43"/>
          <p:cNvSpPr txBox="1"/>
          <p:nvPr/>
        </p:nvSpPr>
        <p:spPr>
          <a:xfrm>
            <a:off x="6907378" y="1257300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51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M3–14</a:t>
            </a:r>
            <a:endParaRPr lang="en-US" sz="800" dirty="0"/>
          </a:p>
        </p:txBody>
      </p:sp>
      <p:sp>
        <p:nvSpPr>
          <p:cNvPr id="45" name="sub-box 44"/>
          <p:cNvSpPr/>
          <p:nvPr/>
        </p:nvSpPr>
        <p:spPr>
          <a:xfrm>
            <a:off x="2926080" y="1645920"/>
            <a:ext cx="841248" cy="1993392"/>
          </a:xfrm>
          <a:prstGeom prst="roundRect">
            <a:avLst>
              <a:gd name="adj" fmla="val 3261"/>
            </a:avLst>
          </a:prstGeom>
          <a:solidFill>
            <a:srgbClr val="FFFFFF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46" name="stage title 45"/>
          <p:cNvSpPr txBox="1"/>
          <p:nvPr/>
        </p:nvSpPr>
        <p:spPr>
          <a:xfrm>
            <a:off x="2962656" y="1673352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population θ</a:t>
            </a:r>
            <a:endParaRPr lang="en-US" sz="850" dirty="0"/>
          </a:p>
        </p:txBody>
      </p:sp>
      <p:sp>
        <p:nvSpPr>
          <p:cNvPr id="47" name="candidate tile 46"/>
          <p:cNvSpPr/>
          <p:nvPr/>
        </p:nvSpPr>
        <p:spPr>
          <a:xfrm>
            <a:off x="2980944" y="2011680"/>
            <a:ext cx="731520" cy="457200"/>
          </a:xfrm>
          <a:prstGeom prst="roundRect">
            <a:avLst>
              <a:gd name="adj" fmla="val 8000"/>
            </a:avLst>
          </a:prstGeom>
          <a:solidFill>
            <a:srgbClr val="F6F8FA"/>
          </a:solidFill>
          <a:ln w="9525">
            <a:solidFill>
              <a:srgbClr val="9AA5B1"/>
            </a:solidFill>
            <a:prstDash val="solid"/>
          </a:ln>
        </p:spPr>
      </p:sp>
      <p:pic>
        <p:nvPicPr>
          <p:cNvPr id="48" name="candidate icon 47" descr="candidate icon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55264" y="2048256"/>
            <a:ext cx="182880" cy="182880"/>
          </a:xfrm>
          <a:prstGeom prst="rect">
            <a:avLst/>
          </a:prstGeom>
        </p:spPr>
      </p:pic>
      <p:sp>
        <p:nvSpPr>
          <p:cNvPr id="49" name="candidate label 48"/>
          <p:cNvSpPr txBox="1"/>
          <p:nvPr/>
        </p:nvSpPr>
        <p:spPr>
          <a:xfrm>
            <a:off x="2999232" y="2240280"/>
            <a:ext cx="694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40" b="1" dirty="0">
                <a:solidFill>
                  <a:srgbClr val="51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hyper-parameters</a:t>
            </a:r>
            <a:endParaRPr lang="en-US" sz="640" dirty="0"/>
          </a:p>
        </p:txBody>
      </p:sp>
      <p:sp>
        <p:nvSpPr>
          <p:cNvPr id="50" name="candidate tile 49"/>
          <p:cNvSpPr/>
          <p:nvPr/>
        </p:nvSpPr>
        <p:spPr>
          <a:xfrm>
            <a:off x="2980944" y="2523744"/>
            <a:ext cx="731520" cy="457200"/>
          </a:xfrm>
          <a:prstGeom prst="roundRect">
            <a:avLst>
              <a:gd name="adj" fmla="val 8000"/>
            </a:avLst>
          </a:prstGeom>
          <a:solidFill>
            <a:srgbClr val="F6F8FA"/>
          </a:solidFill>
          <a:ln w="9525">
            <a:solidFill>
              <a:srgbClr val="9AA5B1"/>
            </a:solidFill>
            <a:prstDash val="solid"/>
          </a:ln>
        </p:spPr>
      </p:sp>
      <p:pic>
        <p:nvPicPr>
          <p:cNvPr id="51" name="candidate icon 50" descr="candidate icon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55264" y="2560320"/>
            <a:ext cx="182880" cy="182880"/>
          </a:xfrm>
          <a:prstGeom prst="rect">
            <a:avLst/>
          </a:prstGeom>
        </p:spPr>
      </p:pic>
      <p:sp>
        <p:nvSpPr>
          <p:cNvPr id="52" name="candidate label 51"/>
          <p:cNvSpPr txBox="1"/>
          <p:nvPr/>
        </p:nvSpPr>
        <p:spPr>
          <a:xfrm>
            <a:off x="2999232" y="2752344"/>
            <a:ext cx="694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40" b="1" dirty="0">
                <a:solidFill>
                  <a:srgbClr val="51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Interpretability settings</a:t>
            </a:r>
            <a:endParaRPr lang="en-US" sz="640" dirty="0"/>
          </a:p>
        </p:txBody>
      </p:sp>
      <p:sp>
        <p:nvSpPr>
          <p:cNvPr id="53" name="candidate tile 52"/>
          <p:cNvSpPr/>
          <p:nvPr/>
        </p:nvSpPr>
        <p:spPr>
          <a:xfrm>
            <a:off x="2980944" y="3035808"/>
            <a:ext cx="731520" cy="457200"/>
          </a:xfrm>
          <a:prstGeom prst="roundRect">
            <a:avLst>
              <a:gd name="adj" fmla="val 8000"/>
            </a:avLst>
          </a:prstGeom>
          <a:solidFill>
            <a:srgbClr val="F6F8FA"/>
          </a:solidFill>
          <a:ln w="9525">
            <a:solidFill>
              <a:srgbClr val="9AA5B1"/>
            </a:solidFill>
            <a:prstDash val="solid"/>
          </a:ln>
        </p:spPr>
      </p:sp>
      <p:pic>
        <p:nvPicPr>
          <p:cNvPr id="54" name="candidate icon 53" descr="candidate icon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55264" y="3072384"/>
            <a:ext cx="182880" cy="182880"/>
          </a:xfrm>
          <a:prstGeom prst="rect">
            <a:avLst/>
          </a:prstGeom>
        </p:spPr>
      </p:pic>
      <p:sp>
        <p:nvSpPr>
          <p:cNvPr id="55" name="candidate label 54"/>
          <p:cNvSpPr txBox="1"/>
          <p:nvPr/>
        </p:nvSpPr>
        <p:spPr>
          <a:xfrm>
            <a:off x="2999232" y="3264408"/>
            <a:ext cx="694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40" b="1" dirty="0">
                <a:solidFill>
                  <a:srgbClr val="51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model settings</a:t>
            </a:r>
            <a:endParaRPr lang="en-US" sz="640" dirty="0"/>
          </a:p>
        </p:txBody>
      </p:sp>
      <p:sp>
        <p:nvSpPr>
          <p:cNvPr id="56" name="sub-box 55"/>
          <p:cNvSpPr/>
          <p:nvPr/>
        </p:nvSpPr>
        <p:spPr>
          <a:xfrm>
            <a:off x="3877056" y="1645920"/>
            <a:ext cx="1188720" cy="1993392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57" name="stage title 56"/>
          <p:cNvSpPr txBox="1"/>
          <p:nvPr/>
        </p:nvSpPr>
        <p:spPr>
          <a:xfrm>
            <a:off x="3913632" y="1673352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F(θ) per environment</a:t>
            </a:r>
            <a:endParaRPr lang="en-US" sz="850" dirty="0"/>
          </a:p>
        </p:txBody>
      </p:sp>
      <p:sp>
        <p:nvSpPr>
          <p:cNvPr id="58" name="stage subtitle 57"/>
          <p:cNvSpPr txBox="1"/>
          <p:nvPr/>
        </p:nvSpPr>
        <p:spPr>
          <a:xfrm>
            <a:off x="3913632" y="1947672"/>
            <a:ext cx="11155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20" dirty="0">
                <a:solidFill>
                  <a:srgbClr val="51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(temporal &amp; site shifts, e ∈ E)</a:t>
            </a:r>
            <a:endParaRPr lang="en-US" sz="620" dirty="0"/>
          </a:p>
        </p:txBody>
      </p:sp>
      <p:sp>
        <p:nvSpPr>
          <p:cNvPr id="59" name="evaluation tile 58"/>
          <p:cNvSpPr/>
          <p:nvPr/>
        </p:nvSpPr>
        <p:spPr>
          <a:xfrm>
            <a:off x="3931920" y="2103120"/>
            <a:ext cx="1078992" cy="265176"/>
          </a:xfrm>
          <a:prstGeom prst="roundRect">
            <a:avLst>
              <a:gd name="adj" fmla="val 13793"/>
            </a:avLst>
          </a:prstGeom>
          <a:solidFill>
            <a:srgbClr val="F1F6FC"/>
          </a:solidFill>
          <a:ln w="9525">
            <a:solidFill>
              <a:srgbClr val="3C88BD"/>
            </a:solidFill>
            <a:prstDash val="solid"/>
          </a:ln>
        </p:spPr>
      </p:sp>
      <p:pic>
        <p:nvPicPr>
          <p:cNvPr id="60" name="evaluation icon 59" descr="evaluation icon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977640" y="2157984"/>
            <a:ext cx="155448" cy="155448"/>
          </a:xfrm>
          <a:prstGeom prst="rect">
            <a:avLst/>
          </a:prstGeom>
        </p:spPr>
      </p:pic>
      <p:sp>
        <p:nvSpPr>
          <p:cNvPr id="61" name="evaluation label 60"/>
          <p:cNvSpPr txBox="1"/>
          <p:nvPr/>
        </p:nvSpPr>
        <p:spPr>
          <a:xfrm>
            <a:off x="4169664" y="2112264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40" b="1" dirty="0">
                <a:solidFill>
                  <a:srgbClr val="2C6A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pPr algn="l" indent="0" marL="0">
              <a:lnSpc>
                <a:spcPct val="95000"/>
              </a:lnSpc>
              <a:buNone/>
            </a:pPr>
            <a:r>
              <a:rPr lang="en-US" sz="640" b="1" baseline="-40000" dirty="0">
                <a:solidFill>
                  <a:srgbClr val="2C6A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l" indent="0" marL="0">
              <a:lnSpc>
                <a:spcPct val="95000"/>
              </a:lnSpc>
              <a:buNone/>
            </a:pPr>
            <a:r>
              <a:rPr lang="en-US" sz="640" b="1" dirty="0">
                <a:solidFill>
                  <a:srgbClr val="2C6A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predictive loss</a:t>
            </a:r>
            <a:endParaRPr lang="en-US" sz="640" dirty="0"/>
          </a:p>
        </p:txBody>
      </p:sp>
      <p:sp>
        <p:nvSpPr>
          <p:cNvPr id="62" name="evaluation tile 61"/>
          <p:cNvSpPr/>
          <p:nvPr/>
        </p:nvSpPr>
        <p:spPr>
          <a:xfrm>
            <a:off x="3931920" y="2409444"/>
            <a:ext cx="1078992" cy="265176"/>
          </a:xfrm>
          <a:prstGeom prst="roundRect">
            <a:avLst>
              <a:gd name="adj" fmla="val 13793"/>
            </a:avLst>
          </a:prstGeom>
          <a:solidFill>
            <a:srgbClr val="F2F9F6"/>
          </a:solidFill>
          <a:ln w="9525">
            <a:solidFill>
              <a:srgbClr val="218B73"/>
            </a:solidFill>
            <a:prstDash val="solid"/>
          </a:ln>
        </p:spPr>
      </p:sp>
      <p:pic>
        <p:nvPicPr>
          <p:cNvPr id="63" name="evaluation icon 62" descr="evaluation icon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77640" y="2464308"/>
            <a:ext cx="155448" cy="155448"/>
          </a:xfrm>
          <a:prstGeom prst="rect">
            <a:avLst/>
          </a:prstGeom>
        </p:spPr>
      </p:pic>
      <p:sp>
        <p:nvSpPr>
          <p:cNvPr id="64" name="evaluation label 63"/>
          <p:cNvSpPr txBox="1"/>
          <p:nvPr/>
        </p:nvSpPr>
        <p:spPr>
          <a:xfrm>
            <a:off x="4169664" y="2418588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40" b="1" dirty="0">
                <a:solidFill>
                  <a:srgbClr val="1A6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pPr algn="l" indent="0" marL="0">
              <a:lnSpc>
                <a:spcPct val="95000"/>
              </a:lnSpc>
              <a:buNone/>
            </a:pPr>
            <a:r>
              <a:rPr lang="en-US" sz="640" b="1" baseline="-40000" dirty="0">
                <a:solidFill>
                  <a:srgbClr val="1A6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l" indent="0" marL="0">
              <a:lnSpc>
                <a:spcPct val="95000"/>
              </a:lnSpc>
              <a:buNone/>
            </a:pPr>
            <a:r>
              <a:rPr lang="en-US" sz="640" b="1" dirty="0">
                <a:solidFill>
                  <a:srgbClr val="1A6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sparsity &amp; temporal stability</a:t>
            </a:r>
            <a:endParaRPr lang="en-US" sz="640" dirty="0"/>
          </a:p>
        </p:txBody>
      </p:sp>
      <p:sp>
        <p:nvSpPr>
          <p:cNvPr id="65" name="evaluation tile 64"/>
          <p:cNvSpPr/>
          <p:nvPr/>
        </p:nvSpPr>
        <p:spPr>
          <a:xfrm>
            <a:off x="3931920" y="2715768"/>
            <a:ext cx="1078992" cy="265176"/>
          </a:xfrm>
          <a:prstGeom prst="roundRect">
            <a:avLst>
              <a:gd name="adj" fmla="val 13793"/>
            </a:avLst>
          </a:prstGeom>
          <a:solidFill>
            <a:srgbClr val="F7F4FB"/>
          </a:solidFill>
          <a:ln w="9525">
            <a:solidFill>
              <a:srgbClr val="8E6CC0"/>
            </a:solidFill>
            <a:prstDash val="solid"/>
          </a:ln>
        </p:spPr>
      </p:sp>
      <p:pic>
        <p:nvPicPr>
          <p:cNvPr id="66" name="evaluation icon 65" descr="evaluation icon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977640" y="2770632"/>
            <a:ext cx="155448" cy="155448"/>
          </a:xfrm>
          <a:prstGeom prst="rect">
            <a:avLst/>
          </a:prstGeom>
        </p:spPr>
      </p:pic>
      <p:sp>
        <p:nvSpPr>
          <p:cNvPr id="67" name="evaluation label 66"/>
          <p:cNvSpPr txBox="1"/>
          <p:nvPr/>
        </p:nvSpPr>
        <p:spPr>
          <a:xfrm>
            <a:off x="4169664" y="2724912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40" b="1" dirty="0">
                <a:solidFill>
                  <a:srgbClr val="5B3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pPr algn="l" indent="0" marL="0">
              <a:lnSpc>
                <a:spcPct val="95000"/>
              </a:lnSpc>
              <a:buNone/>
            </a:pPr>
            <a:r>
              <a:rPr lang="en-US" sz="640" b="1" baseline="-40000" dirty="0">
                <a:solidFill>
                  <a:srgbClr val="5B3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algn="l" indent="0" marL="0">
              <a:lnSpc>
                <a:spcPct val="95000"/>
              </a:lnSpc>
              <a:buNone/>
            </a:pPr>
            <a:r>
              <a:rPr lang="en-US" sz="640" b="1" dirty="0">
                <a:solidFill>
                  <a:srgbClr val="5B3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worst-group loss</a:t>
            </a:r>
            <a:endParaRPr lang="en-US" sz="640" dirty="0"/>
          </a:p>
        </p:txBody>
      </p:sp>
      <p:sp>
        <p:nvSpPr>
          <p:cNvPr id="68" name="evaluation tile 67"/>
          <p:cNvSpPr/>
          <p:nvPr/>
        </p:nvSpPr>
        <p:spPr>
          <a:xfrm>
            <a:off x="3931920" y="3022092"/>
            <a:ext cx="1078992" cy="265176"/>
          </a:xfrm>
          <a:prstGeom prst="roundRect">
            <a:avLst>
              <a:gd name="adj" fmla="val 13793"/>
            </a:avLst>
          </a:prstGeom>
          <a:solidFill>
            <a:srgbClr val="FDF1E8"/>
          </a:solidFill>
          <a:ln w="9525">
            <a:solidFill>
              <a:srgbClr val="D9773F"/>
            </a:solidFill>
            <a:prstDash val="solid"/>
          </a:ln>
        </p:spPr>
      </p:sp>
      <p:pic>
        <p:nvPicPr>
          <p:cNvPr id="69" name="evaluation icon 68" descr="evaluation icon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977640" y="3076956"/>
            <a:ext cx="155448" cy="155448"/>
          </a:xfrm>
          <a:prstGeom prst="rect">
            <a:avLst/>
          </a:prstGeom>
        </p:spPr>
      </p:pic>
      <p:sp>
        <p:nvSpPr>
          <p:cNvPr id="70" name="evaluation label 69"/>
          <p:cNvSpPr txBox="1"/>
          <p:nvPr/>
        </p:nvSpPr>
        <p:spPr>
          <a:xfrm>
            <a:off x="4169664" y="3031236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40" b="1" dirty="0">
                <a:solidFill>
                  <a:srgbClr val="B85C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pPr algn="l" indent="0" marL="0">
              <a:lnSpc>
                <a:spcPct val="95000"/>
              </a:lnSpc>
              <a:buNone/>
            </a:pPr>
            <a:r>
              <a:rPr lang="en-US" sz="640" b="1" baseline="-40000" dirty="0">
                <a:solidFill>
                  <a:srgbClr val="B85C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pPr algn="l" indent="0" marL="0">
              <a:lnSpc>
                <a:spcPct val="95000"/>
              </a:lnSpc>
              <a:buNone/>
            </a:pPr>
            <a:r>
              <a:rPr lang="en-US" sz="640" b="1" dirty="0">
                <a:solidFill>
                  <a:srgbClr val="B85C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set size / interval width</a:t>
            </a:r>
            <a:endParaRPr lang="en-US" sz="640" dirty="0"/>
          </a:p>
        </p:txBody>
      </p:sp>
      <p:sp>
        <p:nvSpPr>
          <p:cNvPr id="71" name="evaluation tile 70"/>
          <p:cNvSpPr/>
          <p:nvPr/>
        </p:nvSpPr>
        <p:spPr>
          <a:xfrm>
            <a:off x="3931920" y="3328416"/>
            <a:ext cx="1078992" cy="265176"/>
          </a:xfrm>
          <a:prstGeom prst="roundRect">
            <a:avLst>
              <a:gd name="adj" fmla="val 13793"/>
            </a:avLst>
          </a:prstGeom>
          <a:solidFill>
            <a:srgbClr val="FBEDEB"/>
          </a:solidFill>
          <a:ln w="9525">
            <a:solidFill>
              <a:srgbClr val="C0392B"/>
            </a:solidFill>
            <a:prstDash val="dash"/>
          </a:ln>
        </p:spPr>
      </p:sp>
      <p:pic>
        <p:nvPicPr>
          <p:cNvPr id="72" name="evaluation icon 71" descr="evaluation icon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977640" y="3383280"/>
            <a:ext cx="155448" cy="155448"/>
          </a:xfrm>
          <a:prstGeom prst="rect">
            <a:avLst/>
          </a:prstGeom>
        </p:spPr>
      </p:pic>
      <p:sp>
        <p:nvSpPr>
          <p:cNvPr id="73" name="evaluation label 72"/>
          <p:cNvSpPr txBox="1"/>
          <p:nvPr/>
        </p:nvSpPr>
        <p:spPr>
          <a:xfrm>
            <a:off x="4169664" y="3337560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40" b="1" dirty="0">
                <a:solidFill>
                  <a:srgbClr val="A93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c: coverage (by subgroup &amp; site)</a:t>
            </a:r>
            <a:endParaRPr lang="en-US" sz="640" dirty="0"/>
          </a:p>
        </p:txBody>
      </p:sp>
      <p:sp>
        <p:nvSpPr>
          <p:cNvPr id="74" name="sub-box 73"/>
          <p:cNvSpPr/>
          <p:nvPr/>
        </p:nvSpPr>
        <p:spPr>
          <a:xfrm>
            <a:off x="5175504" y="1645920"/>
            <a:ext cx="1243584" cy="1993392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75" name="stage title 74"/>
          <p:cNvSpPr txBox="1"/>
          <p:nvPr/>
        </p:nvSpPr>
        <p:spPr>
          <a:xfrm>
            <a:off x="5212080" y="167335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Constraint- &amp; shift-aware selection</a:t>
            </a:r>
            <a:endParaRPr lang="en-US" sz="850" dirty="0"/>
          </a:p>
        </p:txBody>
      </p:sp>
      <p:sp>
        <p:nvSpPr>
          <p:cNvPr id="76" name="selection tile 75"/>
          <p:cNvSpPr/>
          <p:nvPr/>
        </p:nvSpPr>
        <p:spPr>
          <a:xfrm>
            <a:off x="5230368" y="1984248"/>
            <a:ext cx="1133856" cy="640080"/>
          </a:xfrm>
          <a:prstGeom prst="roundRect">
            <a:avLst>
              <a:gd name="adj" fmla="val 5714"/>
            </a:avLst>
          </a:prstGeom>
          <a:solidFill>
            <a:srgbClr val="FBEDEB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77" name="text 76"/>
          <p:cNvSpPr txBox="1"/>
          <p:nvPr/>
        </p:nvSpPr>
        <p:spPr>
          <a:xfrm>
            <a:off x="5248656" y="1993392"/>
            <a:ext cx="10972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60" b="1" dirty="0">
                <a:solidFill>
                  <a:srgbClr val="A93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Coverage-constrained selection</a:t>
            </a:r>
            <a:endParaRPr lang="en-US" sz="660" dirty="0"/>
          </a:p>
        </p:txBody>
      </p:sp>
      <p:pic>
        <p:nvPicPr>
          <p:cNvPr id="78" name="feasibility: coverage at least 90% 77" descr="feasibility: coverage at least 90%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321808" y="2194560"/>
            <a:ext cx="950976" cy="405079"/>
          </a:xfrm>
          <a:prstGeom prst="rect">
            <a:avLst/>
          </a:prstGeom>
        </p:spPr>
      </p:pic>
      <p:sp>
        <p:nvSpPr>
          <p:cNvPr id="79" name="ranking tile 78"/>
          <p:cNvSpPr/>
          <p:nvPr/>
        </p:nvSpPr>
        <p:spPr>
          <a:xfrm>
            <a:off x="5230368" y="2670048"/>
            <a:ext cx="1133856" cy="557784"/>
          </a:xfrm>
          <a:prstGeom prst="roundRect">
            <a:avLst>
              <a:gd name="adj" fmla="val 6557"/>
            </a:avLst>
          </a:prstGeom>
          <a:solidFill>
            <a:srgbClr val="F7F4FB"/>
          </a:solidFill>
          <a:ln w="9525">
            <a:solidFill>
              <a:srgbClr val="8E6CC0"/>
            </a:solidFill>
            <a:prstDash val="solid"/>
          </a:ln>
        </p:spPr>
      </p:sp>
      <p:sp>
        <p:nvSpPr>
          <p:cNvPr id="80" name="text 79"/>
          <p:cNvSpPr txBox="1"/>
          <p:nvPr/>
        </p:nvSpPr>
        <p:spPr>
          <a:xfrm>
            <a:off x="5248656" y="2679192"/>
            <a:ext cx="10972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60" b="1" dirty="0">
                <a:solidFill>
                  <a:srgbClr val="5B3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Environment-aware robustness ranking</a:t>
            </a:r>
            <a:endParaRPr lang="en-US" sz="660" dirty="0"/>
          </a:p>
        </p:txBody>
      </p:sp>
      <p:pic>
        <p:nvPicPr>
          <p:cNvPr id="81" name="ranking by worst-environment loss 80" descr="ranking by worst-environment loss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285232" y="2875788"/>
            <a:ext cx="1024128" cy="335585"/>
          </a:xfrm>
          <a:prstGeom prst="rect">
            <a:avLst/>
          </a:prstGeom>
        </p:spPr>
      </p:pic>
      <p:sp>
        <p:nvSpPr>
          <p:cNvPr id="82" name="refinement tile 81"/>
          <p:cNvSpPr/>
          <p:nvPr/>
        </p:nvSpPr>
        <p:spPr>
          <a:xfrm>
            <a:off x="5230368" y="3273552"/>
            <a:ext cx="1133856" cy="329184"/>
          </a:xfrm>
          <a:prstGeom prst="roundRect">
            <a:avLst>
              <a:gd name="adj" fmla="val 11111"/>
            </a:avLst>
          </a:prstGeom>
          <a:solidFill>
            <a:srgbClr val="F2F9F6"/>
          </a:solidFill>
          <a:ln w="9525">
            <a:solidFill>
              <a:srgbClr val="218B73"/>
            </a:solidFill>
            <a:prstDash val="solid"/>
          </a:ln>
        </p:spPr>
      </p:sp>
      <p:pic>
        <p:nvPicPr>
          <p:cNvPr id="83" name="feedback icon 82" descr="feedback icon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276088" y="3351276"/>
            <a:ext cx="164592" cy="164592"/>
          </a:xfrm>
          <a:prstGeom prst="rect">
            <a:avLst/>
          </a:prstGeom>
        </p:spPr>
      </p:pic>
      <p:sp>
        <p:nvSpPr>
          <p:cNvPr id="84" name="text 83"/>
          <p:cNvSpPr txBox="1"/>
          <p:nvPr/>
        </p:nvSpPr>
        <p:spPr>
          <a:xfrm>
            <a:off x="5477256" y="3282696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30" b="1" dirty="0">
                <a:solidFill>
                  <a:srgbClr val="1A6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Faithfulness-informed refinement (from WP3)</a:t>
            </a:r>
            <a:endParaRPr lang="en-US" sz="630" dirty="0"/>
          </a:p>
        </p:txBody>
      </p:sp>
      <p:sp>
        <p:nvSpPr>
          <p:cNvPr id="85" name="sub-box 84"/>
          <p:cNvSpPr/>
          <p:nvPr/>
        </p:nvSpPr>
        <p:spPr>
          <a:xfrm>
            <a:off x="6528816" y="1645920"/>
            <a:ext cx="1984248" cy="1993392"/>
          </a:xfrm>
          <a:prstGeom prst="roundRect">
            <a:avLst>
              <a:gd name="adj" fmla="val 1382"/>
            </a:avLst>
          </a:prstGeom>
          <a:solidFill>
            <a:srgbClr val="FFFFFF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86" name="stage title 85"/>
          <p:cNvSpPr txBox="1"/>
          <p:nvPr/>
        </p:nvSpPr>
        <p:spPr>
          <a:xfrm>
            <a:off x="6565392" y="1673352"/>
            <a:ext cx="19110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Pareto-frontier characterisation</a:t>
            </a:r>
            <a:endParaRPr lang="en-US" sz="850" dirty="0"/>
          </a:p>
        </p:txBody>
      </p:sp>
      <p:sp>
        <p:nvSpPr>
          <p:cNvPr id="87" name="stage subtitle 86"/>
          <p:cNvSpPr txBox="1"/>
          <p:nvPr/>
        </p:nvSpPr>
        <p:spPr>
          <a:xfrm>
            <a:off x="6565392" y="1828800"/>
            <a:ext cx="19110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20" dirty="0">
                <a:solidFill>
                  <a:srgbClr val="51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(illustrative; 2 of 4 objectives shown)</a:t>
            </a:r>
            <a:endParaRPr lang="en-US" sz="620" dirty="0"/>
          </a:p>
        </p:txBody>
      </p:sp>
      <p:pic>
        <p:nvPicPr>
          <p:cNvPr id="88" name="Pareto front, knee region and front under shift 87" descr="Pareto front, knee region and front under shift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56248" y="1984248"/>
            <a:ext cx="1243584" cy="1331366"/>
          </a:xfrm>
          <a:prstGeom prst="rect">
            <a:avLst/>
          </a:prstGeom>
        </p:spPr>
      </p:pic>
      <p:sp>
        <p:nvSpPr>
          <p:cNvPr id="89" name="text 88"/>
          <p:cNvSpPr txBox="1"/>
          <p:nvPr/>
        </p:nvSpPr>
        <p:spPr>
          <a:xfrm>
            <a:off x="7818120" y="1965960"/>
            <a:ext cx="6766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00" b="1" dirty="0">
                <a:solidFill>
                  <a:srgbClr val="51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correlation</a:t>
            </a:r>
            <a:endParaRPr lang="en-US" sz="600" dirty="0"/>
          </a:p>
        </p:txBody>
      </p:sp>
      <p:pic>
        <p:nvPicPr>
          <p:cNvPr id="90" name="objective correlation across the Pareto set 89" descr="objective correlation across the Pareto set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854696" y="2121408"/>
            <a:ext cx="603504" cy="603504"/>
          </a:xfrm>
          <a:prstGeom prst="rect">
            <a:avLst/>
          </a:prstGeom>
        </p:spPr>
      </p:pic>
      <p:sp>
        <p:nvSpPr>
          <p:cNvPr id="91" name="legend swatch 90"/>
          <p:cNvSpPr/>
          <p:nvPr/>
        </p:nvSpPr>
        <p:spPr>
          <a:xfrm>
            <a:off x="7863840" y="2770632"/>
            <a:ext cx="91440" cy="73152"/>
          </a:xfrm>
          <a:prstGeom prst="rect">
            <a:avLst/>
          </a:prstGeom>
          <a:solidFill>
            <a:srgbClr val="5CB85C"/>
          </a:solidFill>
          <a:ln/>
        </p:spPr>
      </p:sp>
      <p:sp>
        <p:nvSpPr>
          <p:cNvPr id="92" name="text 91"/>
          <p:cNvSpPr txBox="1"/>
          <p:nvPr/>
        </p:nvSpPr>
        <p:spPr>
          <a:xfrm>
            <a:off x="7982712" y="2743200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 gain</a:t>
            </a:r>
            <a:endParaRPr lang="en-US" sz="600" dirty="0"/>
          </a:p>
        </p:txBody>
      </p:sp>
      <p:sp>
        <p:nvSpPr>
          <p:cNvPr id="93" name="legend swatch 92"/>
          <p:cNvSpPr/>
          <p:nvPr/>
        </p:nvSpPr>
        <p:spPr>
          <a:xfrm>
            <a:off x="7863840" y="2907792"/>
            <a:ext cx="91440" cy="73152"/>
          </a:xfrm>
          <a:prstGeom prst="rect">
            <a:avLst/>
          </a:prstGeom>
          <a:solidFill>
            <a:srgbClr val="E0533C"/>
          </a:solidFill>
          <a:ln/>
        </p:spPr>
      </p:sp>
      <p:sp>
        <p:nvSpPr>
          <p:cNvPr id="94" name="text 93"/>
          <p:cNvSpPr txBox="1"/>
          <p:nvPr/>
        </p:nvSpPr>
        <p:spPr>
          <a:xfrm>
            <a:off x="7982712" y="2880360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</a:t>
            </a:r>
            <a:endParaRPr lang="en-US" sz="600" dirty="0"/>
          </a:p>
        </p:txBody>
      </p:sp>
      <p:sp>
        <p:nvSpPr>
          <p:cNvPr id="95" name="representative note 94"/>
          <p:cNvSpPr txBox="1"/>
          <p:nvPr/>
        </p:nvSpPr>
        <p:spPr>
          <a:xfrm>
            <a:off x="7827264" y="3054096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580" b="1" dirty="0">
                <a:solidFill>
                  <a:srgbClr val="C9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</a:t>
            </a:r>
            <a:pPr algn="l" indent="0" marL="0">
              <a:lnSpc>
                <a:spcPct val="95000"/>
              </a:lnSpc>
              <a:buNone/>
            </a:pPr>
            <a:r>
              <a:rPr lang="en-US" sz="580" b="1" dirty="0">
                <a:solidFill>
                  <a:srgbClr val="7A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representative → WP3, WP4</a:t>
            </a:r>
            <a:endParaRPr lang="en-US" sz="580" dirty="0"/>
          </a:p>
        </p:txBody>
      </p:sp>
      <p:sp>
        <p:nvSpPr>
          <p:cNvPr id="96" name="benchmark tile 95"/>
          <p:cNvSpPr/>
          <p:nvPr/>
        </p:nvSpPr>
        <p:spPr>
          <a:xfrm>
            <a:off x="6583680" y="3328416"/>
            <a:ext cx="1874520" cy="274320"/>
          </a:xfrm>
          <a:prstGeom prst="roundRect">
            <a:avLst>
              <a:gd name="adj" fmla="val 13333"/>
            </a:avLst>
          </a:prstGeom>
          <a:solidFill>
            <a:srgbClr val="FFFBEB"/>
          </a:solidFill>
          <a:ln w="9525">
            <a:solidFill>
              <a:srgbClr val="E6B422"/>
            </a:solidFill>
            <a:prstDash val="solid"/>
          </a:ln>
        </p:spPr>
      </p:sp>
      <p:pic>
        <p:nvPicPr>
          <p:cNvPr id="97" name="benchmark icon 96" descr="benchmark icon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629400" y="3383280"/>
            <a:ext cx="164592" cy="164592"/>
          </a:xfrm>
          <a:prstGeom prst="rect">
            <a:avLst/>
          </a:prstGeom>
        </p:spPr>
      </p:pic>
      <p:sp>
        <p:nvSpPr>
          <p:cNvPr id="98" name="text 97"/>
          <p:cNvSpPr txBox="1"/>
          <p:nvPr/>
        </p:nvSpPr>
        <p:spPr>
          <a:xfrm>
            <a:off x="6830568" y="3332988"/>
            <a:ext cx="1609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00" b="1" dirty="0">
                <a:solidFill>
                  <a:srgbClr val="7A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vs established methods</a:t>
            </a:r>
            <a:endParaRPr lang="en-US" sz="6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600" dirty="0">
                <a:solidFill>
                  <a:srgbClr val="7A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· front quality under shift</a:t>
            </a:r>
            <a:endParaRPr lang="en-US" sz="600" dirty="0"/>
          </a:p>
        </p:txBody>
      </p:sp>
      <p:sp>
        <p:nvSpPr>
          <p:cNvPr id="99" name="step arrow 98"/>
          <p:cNvSpPr/>
          <p:nvPr/>
        </p:nvSpPr>
        <p:spPr>
          <a:xfrm>
            <a:off x="3771900" y="2560320"/>
            <a:ext cx="100584" cy="182880"/>
          </a:xfrm>
          <a:prstGeom prst="rightArrow">
            <a:avLst/>
          </a:prstGeom>
          <a:solidFill>
            <a:srgbClr val="99A8BD"/>
          </a:solidFill>
          <a:ln w="6350">
            <a:solidFill>
              <a:srgbClr val="51647E"/>
            </a:solidFill>
            <a:prstDash val="solid"/>
          </a:ln>
        </p:spPr>
      </p:sp>
      <p:sp>
        <p:nvSpPr>
          <p:cNvPr id="100" name="step arrow 99"/>
          <p:cNvSpPr/>
          <p:nvPr/>
        </p:nvSpPr>
        <p:spPr>
          <a:xfrm>
            <a:off x="5070348" y="2560320"/>
            <a:ext cx="100584" cy="182880"/>
          </a:xfrm>
          <a:prstGeom prst="rightArrow">
            <a:avLst/>
          </a:prstGeom>
          <a:solidFill>
            <a:srgbClr val="99A8BD"/>
          </a:solidFill>
          <a:ln w="6350">
            <a:solidFill>
              <a:srgbClr val="51647E"/>
            </a:solidFill>
            <a:prstDash val="solid"/>
          </a:ln>
        </p:spPr>
      </p:sp>
      <p:sp>
        <p:nvSpPr>
          <p:cNvPr id="101" name="step arrow 100"/>
          <p:cNvSpPr/>
          <p:nvPr/>
        </p:nvSpPr>
        <p:spPr>
          <a:xfrm>
            <a:off x="6423660" y="2560320"/>
            <a:ext cx="100584" cy="182880"/>
          </a:xfrm>
          <a:prstGeom prst="rightArrow">
            <a:avLst/>
          </a:prstGeom>
          <a:solidFill>
            <a:srgbClr val="99A8BD"/>
          </a:solidFill>
          <a:ln w="6350">
            <a:solidFill>
              <a:srgbClr val="51647E"/>
            </a:solidFill>
            <a:prstDash val="solid"/>
          </a:ln>
        </p:spPr>
      </p:sp>
      <p:sp>
        <p:nvSpPr>
          <p:cNvPr id="102" name="iterate loop 101"/>
          <p:cNvSpPr/>
          <p:nvPr/>
        </p:nvSpPr>
        <p:spPr>
          <a:xfrm>
            <a:off x="5797296" y="3639312"/>
            <a:ext cx="0" cy="137160"/>
          </a:xfrm>
          <a:prstGeom prst="line">
            <a:avLst/>
          </a:prstGeom>
          <a:noFill/>
          <a:ln w="25400">
            <a:solidFill>
              <a:srgbClr val="1F3A5F"/>
            </a:solidFill>
            <a:prstDash val="solid"/>
          </a:ln>
        </p:spPr>
      </p:sp>
      <p:sp>
        <p:nvSpPr>
          <p:cNvPr id="103" name="iterate loop 102"/>
          <p:cNvSpPr/>
          <p:nvPr/>
        </p:nvSpPr>
        <p:spPr>
          <a:xfrm flipH="1">
            <a:off x="3346704" y="3776472"/>
            <a:ext cx="2450592" cy="0"/>
          </a:xfrm>
          <a:prstGeom prst="line">
            <a:avLst/>
          </a:prstGeom>
          <a:noFill/>
          <a:ln w="25400">
            <a:solidFill>
              <a:srgbClr val="1F3A5F"/>
            </a:solidFill>
            <a:prstDash val="solid"/>
          </a:ln>
        </p:spPr>
      </p:sp>
      <p:sp>
        <p:nvSpPr>
          <p:cNvPr id="104" name="iterate loop 103"/>
          <p:cNvSpPr/>
          <p:nvPr/>
        </p:nvSpPr>
        <p:spPr>
          <a:xfrm flipV="1">
            <a:off x="3346704" y="3639312"/>
            <a:ext cx="0" cy="137160"/>
          </a:xfrm>
          <a:prstGeom prst="line">
            <a:avLst/>
          </a:prstGeom>
          <a:noFill/>
          <a:ln w="25400">
            <a:solidFill>
              <a:srgbClr val="1F3A5F"/>
            </a:solidFill>
            <a:prstDash val="solid"/>
            <a:tailEnd type="triangle"/>
          </a:ln>
        </p:spPr>
      </p:sp>
      <p:sp>
        <p:nvSpPr>
          <p:cNvPr id="105" name="text 104"/>
          <p:cNvSpPr txBox="1"/>
          <p:nvPr/>
        </p:nvSpPr>
        <p:spPr>
          <a:xfrm>
            <a:off x="3401568" y="381304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Iterate: variation (crossover, mutation) → new population</a:t>
            </a:r>
            <a:endParaRPr lang="en-US" sz="750" dirty="0"/>
          </a:p>
        </p:txBody>
      </p:sp>
      <p:sp>
        <p:nvSpPr>
          <p:cNvPr id="106" name="panel WP3 105"/>
          <p:cNvSpPr/>
          <p:nvPr/>
        </p:nvSpPr>
        <p:spPr>
          <a:xfrm>
            <a:off x="8970264" y="1188720"/>
            <a:ext cx="3108960" cy="2907792"/>
          </a:xfrm>
          <a:prstGeom prst="rect">
            <a:avLst/>
          </a:prstGeom>
          <a:solidFill>
            <a:srgbClr val="F2F2F2"/>
          </a:solidFill>
          <a:ln w="38100">
            <a:solidFill>
              <a:srgbClr val="657D9D"/>
            </a:solidFill>
            <a:prstDash val="solid"/>
          </a:ln>
        </p:spPr>
      </p:sp>
      <p:sp>
        <p:nvSpPr>
          <p:cNvPr id="107" name="panel title 106"/>
          <p:cNvSpPr txBox="1"/>
          <p:nvPr/>
        </p:nvSpPr>
        <p:spPr>
          <a:xfrm>
            <a:off x="9079992" y="1234440"/>
            <a:ext cx="288950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2F55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WP3 </a:t>
            </a:r>
            <a:pPr algn="l" indent="0" marL="0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Verification and</a:t>
            </a:r>
            <a:endParaRPr lang="en-US" sz="15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Validation</a:t>
            </a:r>
            <a:endParaRPr lang="en-US" sz="1500" dirty="0"/>
          </a:p>
        </p:txBody>
      </p:sp>
      <p:sp>
        <p:nvSpPr>
          <p:cNvPr id="108" name="month pill 107"/>
          <p:cNvSpPr/>
          <p:nvPr/>
        </p:nvSpPr>
        <p:spPr>
          <a:xfrm>
            <a:off x="10875874" y="1472184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57D9D"/>
            </a:solidFill>
            <a:prstDash val="solid"/>
          </a:ln>
        </p:spPr>
      </p:sp>
      <p:sp>
        <p:nvSpPr>
          <p:cNvPr id="109" name="months 108"/>
          <p:cNvSpPr txBox="1"/>
          <p:nvPr/>
        </p:nvSpPr>
        <p:spPr>
          <a:xfrm>
            <a:off x="10875874" y="14721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51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M8–22</a:t>
            </a:r>
            <a:endParaRPr lang="en-US" sz="800" dirty="0"/>
          </a:p>
        </p:txBody>
      </p:sp>
      <p:sp>
        <p:nvSpPr>
          <p:cNvPr id="110" name="sub-box 109"/>
          <p:cNvSpPr/>
          <p:nvPr/>
        </p:nvSpPr>
        <p:spPr>
          <a:xfrm>
            <a:off x="9043416" y="1719072"/>
            <a:ext cx="2962656" cy="1133856"/>
          </a:xfrm>
          <a:prstGeom prst="roundRect">
            <a:avLst>
              <a:gd name="adj" fmla="val 2419"/>
            </a:avLst>
          </a:prstGeom>
          <a:solidFill>
            <a:srgbClr val="FFFFFF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111" name="sub-box title 110"/>
          <p:cNvSpPr txBox="1"/>
          <p:nvPr/>
        </p:nvSpPr>
        <p:spPr>
          <a:xfrm>
            <a:off x="9107424" y="174650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Explanation faithfulness</a:t>
            </a:r>
            <a:endParaRPr lang="en-US" sz="950" dirty="0"/>
          </a:p>
        </p:txBody>
      </p:sp>
      <p:sp>
        <p:nvSpPr>
          <p:cNvPr id="112" name="text 111"/>
          <p:cNvSpPr txBox="1"/>
          <p:nvPr/>
        </p:nvSpPr>
        <p:spPr>
          <a:xfrm>
            <a:off x="10561320" y="1755648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630" i="1" dirty="0">
                <a:solidFill>
                  <a:srgbClr val="51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ablation + controlled perturbation</a:t>
            </a:r>
            <a:endParaRPr lang="en-US" sz="630" dirty="0"/>
          </a:p>
        </p:txBody>
      </p:sp>
      <p:sp>
        <p:nvSpPr>
          <p:cNvPr id="113" name="faithfulness tile 112"/>
          <p:cNvSpPr/>
          <p:nvPr/>
        </p:nvSpPr>
        <p:spPr>
          <a:xfrm>
            <a:off x="9098280" y="1965960"/>
            <a:ext cx="914400" cy="832104"/>
          </a:xfrm>
          <a:prstGeom prst="roundRect">
            <a:avLst>
              <a:gd name="adj" fmla="val 4396"/>
            </a:avLst>
          </a:prstGeom>
          <a:solidFill>
            <a:srgbClr val="F2F9F6"/>
          </a:solidFill>
          <a:ln w="9525">
            <a:solidFill>
              <a:srgbClr val="218B73"/>
            </a:solidFill>
            <a:prstDash val="solid"/>
          </a:ln>
        </p:spPr>
      </p:sp>
      <p:sp>
        <p:nvSpPr>
          <p:cNvPr id="114" name="text 113"/>
          <p:cNvSpPr txBox="1"/>
          <p:nvPr/>
        </p:nvSpPr>
        <p:spPr>
          <a:xfrm>
            <a:off x="9125712" y="1979676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60" b="1" dirty="0">
                <a:solidFill>
                  <a:srgbClr val="1A6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Physiology-based perturbation</a:t>
            </a:r>
            <a:endParaRPr lang="en-US" sz="660" dirty="0"/>
          </a:p>
        </p:txBody>
      </p:sp>
      <p:pic>
        <p:nvPicPr>
          <p:cNvPr id="115" name="faithfulness graphic 114" descr="faithfulness graphic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125712" y="2194560"/>
            <a:ext cx="859536" cy="491033"/>
          </a:xfrm>
          <a:prstGeom prst="rect">
            <a:avLst/>
          </a:prstGeom>
        </p:spPr>
      </p:pic>
      <p:sp>
        <p:nvSpPr>
          <p:cNvPr id="116" name="faithfulness tile 115"/>
          <p:cNvSpPr/>
          <p:nvPr/>
        </p:nvSpPr>
        <p:spPr>
          <a:xfrm>
            <a:off x="10067544" y="1965960"/>
            <a:ext cx="914400" cy="832104"/>
          </a:xfrm>
          <a:prstGeom prst="roundRect">
            <a:avLst>
              <a:gd name="adj" fmla="val 4396"/>
            </a:avLst>
          </a:prstGeom>
          <a:solidFill>
            <a:srgbClr val="F2F9F6"/>
          </a:solidFill>
          <a:ln w="9525">
            <a:solidFill>
              <a:srgbClr val="218B73"/>
            </a:solidFill>
            <a:prstDash val="solid"/>
          </a:ln>
        </p:spPr>
      </p:sp>
      <p:sp>
        <p:nvSpPr>
          <p:cNvPr id="117" name="text 116"/>
          <p:cNvSpPr txBox="1"/>
          <p:nvPr/>
        </p:nvSpPr>
        <p:spPr>
          <a:xfrm>
            <a:off x="10094976" y="1979676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60" b="1" dirty="0">
                <a:solidFill>
                  <a:srgbClr val="1A6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Attribution vs. observed response</a:t>
            </a:r>
            <a:endParaRPr lang="en-US" sz="660" dirty="0"/>
          </a:p>
        </p:txBody>
      </p:sp>
      <p:pic>
        <p:nvPicPr>
          <p:cNvPr id="118" name="faithfulness graphic 117" descr="faithfulness graphic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094976" y="2194560"/>
            <a:ext cx="859536" cy="491033"/>
          </a:xfrm>
          <a:prstGeom prst="rect">
            <a:avLst/>
          </a:prstGeom>
        </p:spPr>
      </p:pic>
      <p:sp>
        <p:nvSpPr>
          <p:cNvPr id="119" name="faithfulness tile 118"/>
          <p:cNvSpPr/>
          <p:nvPr/>
        </p:nvSpPr>
        <p:spPr>
          <a:xfrm>
            <a:off x="11036808" y="1965960"/>
            <a:ext cx="914400" cy="832104"/>
          </a:xfrm>
          <a:prstGeom prst="roundRect">
            <a:avLst>
              <a:gd name="adj" fmla="val 4396"/>
            </a:avLst>
          </a:prstGeom>
          <a:solidFill>
            <a:srgbClr val="F2F9F6"/>
          </a:solidFill>
          <a:ln w="9525">
            <a:solidFill>
              <a:srgbClr val="218B73"/>
            </a:solidFill>
            <a:prstDash val="solid"/>
          </a:ln>
        </p:spPr>
      </p:sp>
      <p:sp>
        <p:nvSpPr>
          <p:cNvPr id="120" name="text 119"/>
          <p:cNvSpPr txBox="1"/>
          <p:nvPr/>
        </p:nvSpPr>
        <p:spPr>
          <a:xfrm>
            <a:off x="11064240" y="1979676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60" b="1" dirty="0">
                <a:solidFill>
                  <a:srgbClr val="1A6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Deletion / insertion fidelity</a:t>
            </a:r>
            <a:endParaRPr lang="en-US" sz="660" dirty="0"/>
          </a:p>
        </p:txBody>
      </p:sp>
      <p:pic>
        <p:nvPicPr>
          <p:cNvPr id="121" name="faithfulness graphic 120" descr="faithfulness graphic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1064240" y="2194560"/>
            <a:ext cx="859536" cy="491033"/>
          </a:xfrm>
          <a:prstGeom prst="rect">
            <a:avLst/>
          </a:prstGeom>
        </p:spPr>
      </p:pic>
      <p:sp>
        <p:nvSpPr>
          <p:cNvPr id="122" name="sub-box 121"/>
          <p:cNvSpPr/>
          <p:nvPr/>
        </p:nvSpPr>
        <p:spPr>
          <a:xfrm>
            <a:off x="9043416" y="2907792"/>
            <a:ext cx="2962656" cy="1133856"/>
          </a:xfrm>
          <a:prstGeom prst="roundRect">
            <a:avLst>
              <a:gd name="adj" fmla="val 2419"/>
            </a:avLst>
          </a:prstGeom>
          <a:solidFill>
            <a:srgbClr val="FFFFFF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123" name="sub-box title 122"/>
          <p:cNvSpPr txBox="1"/>
          <p:nvPr/>
        </p:nvSpPr>
        <p:spPr>
          <a:xfrm>
            <a:off x="9107424" y="293522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Performance &amp; coverage under shift</a:t>
            </a:r>
            <a:endParaRPr lang="en-US" sz="950" dirty="0"/>
          </a:p>
        </p:txBody>
      </p:sp>
      <p:sp>
        <p:nvSpPr>
          <p:cNvPr id="124" name="validation chip 123"/>
          <p:cNvSpPr/>
          <p:nvPr/>
        </p:nvSpPr>
        <p:spPr>
          <a:xfrm>
            <a:off x="9098280" y="3127248"/>
            <a:ext cx="662940" cy="228600"/>
          </a:xfrm>
          <a:prstGeom prst="roundRect">
            <a:avLst>
              <a:gd name="adj" fmla="val 24000"/>
            </a:avLst>
          </a:prstGeom>
          <a:solidFill>
            <a:srgbClr val="F1F6FC"/>
          </a:solidFill>
          <a:ln w="9525">
            <a:solidFill>
              <a:srgbClr val="3C88BD"/>
            </a:solidFill>
            <a:prstDash val="solid"/>
          </a:ln>
        </p:spPr>
      </p:sp>
      <p:sp>
        <p:nvSpPr>
          <p:cNvPr id="125" name="text 124"/>
          <p:cNvSpPr txBox="1"/>
          <p:nvPr/>
        </p:nvSpPr>
        <p:spPr>
          <a:xfrm>
            <a:off x="9098280" y="3127248"/>
            <a:ext cx="6629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560" b="1" dirty="0">
                <a:solidFill>
                  <a:srgbClr val="2C6A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MIMIC-IV</a:t>
            </a:r>
            <a:endParaRPr lang="en-US" sz="56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560" b="1" dirty="0">
                <a:solidFill>
                  <a:srgbClr val="2C6A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560" dirty="0"/>
          </a:p>
        </p:txBody>
      </p:sp>
      <p:sp>
        <p:nvSpPr>
          <p:cNvPr id="126" name="chip arrow 125"/>
          <p:cNvSpPr/>
          <p:nvPr/>
        </p:nvSpPr>
        <p:spPr>
          <a:xfrm rot="5400000">
            <a:off x="9738360" y="3218688"/>
            <a:ext cx="109728" cy="45720"/>
          </a:xfrm>
          <a:prstGeom prst="triangle">
            <a:avLst/>
          </a:prstGeom>
          <a:solidFill>
            <a:srgbClr val="51647E"/>
          </a:solidFill>
          <a:ln/>
        </p:spPr>
      </p:sp>
      <p:sp>
        <p:nvSpPr>
          <p:cNvPr id="127" name="validation chip 126"/>
          <p:cNvSpPr/>
          <p:nvPr/>
        </p:nvSpPr>
        <p:spPr>
          <a:xfrm>
            <a:off x="9825228" y="3127248"/>
            <a:ext cx="662940" cy="228600"/>
          </a:xfrm>
          <a:prstGeom prst="roundRect">
            <a:avLst>
              <a:gd name="adj" fmla="val 24000"/>
            </a:avLst>
          </a:prstGeom>
          <a:solidFill>
            <a:srgbClr val="F7F4FB"/>
          </a:solidFill>
          <a:ln w="9525">
            <a:solidFill>
              <a:srgbClr val="8E6CC0"/>
            </a:solidFill>
            <a:prstDash val="solid"/>
          </a:ln>
        </p:spPr>
      </p:sp>
      <p:sp>
        <p:nvSpPr>
          <p:cNvPr id="128" name="text 127"/>
          <p:cNvSpPr txBox="1"/>
          <p:nvPr/>
        </p:nvSpPr>
        <p:spPr>
          <a:xfrm>
            <a:off x="9825228" y="3127248"/>
            <a:ext cx="6629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560" b="1" dirty="0">
                <a:solidFill>
                  <a:srgbClr val="5B3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MIMIC-IV</a:t>
            </a:r>
            <a:endParaRPr lang="en-US" sz="56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560" b="1" dirty="0">
                <a:solidFill>
                  <a:srgbClr val="5B3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hold-out</a:t>
            </a:r>
            <a:endParaRPr lang="en-US" sz="560" dirty="0"/>
          </a:p>
        </p:txBody>
      </p:sp>
      <p:sp>
        <p:nvSpPr>
          <p:cNvPr id="129" name="chip arrow 128"/>
          <p:cNvSpPr/>
          <p:nvPr/>
        </p:nvSpPr>
        <p:spPr>
          <a:xfrm rot="5400000">
            <a:off x="10465308" y="3218688"/>
            <a:ext cx="109728" cy="45720"/>
          </a:xfrm>
          <a:prstGeom prst="triangle">
            <a:avLst/>
          </a:prstGeom>
          <a:solidFill>
            <a:srgbClr val="51647E"/>
          </a:solidFill>
          <a:ln/>
        </p:spPr>
      </p:sp>
      <p:sp>
        <p:nvSpPr>
          <p:cNvPr id="130" name="validation chip 129"/>
          <p:cNvSpPr/>
          <p:nvPr/>
        </p:nvSpPr>
        <p:spPr>
          <a:xfrm>
            <a:off x="10552176" y="3127248"/>
            <a:ext cx="662940" cy="228600"/>
          </a:xfrm>
          <a:prstGeom prst="roundRect">
            <a:avLst>
              <a:gd name="adj" fmla="val 24000"/>
            </a:avLst>
          </a:prstGeom>
          <a:solidFill>
            <a:srgbClr val="F2F9F6"/>
          </a:solidFill>
          <a:ln w="9525">
            <a:solidFill>
              <a:srgbClr val="218B73"/>
            </a:solidFill>
            <a:prstDash val="solid"/>
          </a:ln>
        </p:spPr>
      </p:sp>
      <p:sp>
        <p:nvSpPr>
          <p:cNvPr id="131" name="text 130"/>
          <p:cNvSpPr txBox="1"/>
          <p:nvPr/>
        </p:nvSpPr>
        <p:spPr>
          <a:xfrm>
            <a:off x="10552176" y="3127248"/>
            <a:ext cx="6629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560" b="1" dirty="0">
                <a:solidFill>
                  <a:srgbClr val="1A6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eICU</a:t>
            </a:r>
            <a:endParaRPr lang="en-US" sz="56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560" b="1" dirty="0">
                <a:solidFill>
                  <a:srgbClr val="1A6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cross-hospital</a:t>
            </a:r>
            <a:endParaRPr lang="en-US" sz="560" dirty="0"/>
          </a:p>
        </p:txBody>
      </p:sp>
      <p:sp>
        <p:nvSpPr>
          <p:cNvPr id="132" name="chip arrow 131"/>
          <p:cNvSpPr/>
          <p:nvPr/>
        </p:nvSpPr>
        <p:spPr>
          <a:xfrm rot="5400000">
            <a:off x="11192256" y="3218688"/>
            <a:ext cx="109728" cy="45720"/>
          </a:xfrm>
          <a:prstGeom prst="triangle">
            <a:avLst/>
          </a:prstGeom>
          <a:solidFill>
            <a:srgbClr val="51647E"/>
          </a:solidFill>
          <a:ln/>
        </p:spPr>
      </p:sp>
      <p:sp>
        <p:nvSpPr>
          <p:cNvPr id="133" name="validation chip 132"/>
          <p:cNvSpPr/>
          <p:nvPr/>
        </p:nvSpPr>
        <p:spPr>
          <a:xfrm>
            <a:off x="11279124" y="3127248"/>
            <a:ext cx="662940" cy="228600"/>
          </a:xfrm>
          <a:prstGeom prst="roundRect">
            <a:avLst>
              <a:gd name="adj" fmla="val 24000"/>
            </a:avLst>
          </a:prstGeom>
          <a:solidFill>
            <a:srgbClr val="FDF1E8"/>
          </a:solidFill>
          <a:ln w="9525">
            <a:solidFill>
              <a:srgbClr val="D9773F"/>
            </a:solidFill>
            <a:prstDash val="solid"/>
          </a:ln>
        </p:spPr>
      </p:sp>
      <p:sp>
        <p:nvSpPr>
          <p:cNvPr id="134" name="text 133"/>
          <p:cNvSpPr txBox="1"/>
          <p:nvPr/>
        </p:nvSpPr>
        <p:spPr>
          <a:xfrm>
            <a:off x="11279124" y="3127248"/>
            <a:ext cx="6629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560" b="1" dirty="0">
                <a:solidFill>
                  <a:srgbClr val="B85C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London A&amp;E</a:t>
            </a:r>
            <a:endParaRPr lang="en-US" sz="56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560" b="1" dirty="0">
                <a:solidFill>
                  <a:srgbClr val="B85C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task</a:t>
            </a:r>
            <a:endParaRPr lang="en-US" sz="560" dirty="0"/>
          </a:p>
        </p:txBody>
      </p:sp>
      <p:pic>
        <p:nvPicPr>
          <p:cNvPr id="135" name="coverage per environment vs 90% target 134" descr="coverage per environment vs 90% target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107424" y="3374136"/>
            <a:ext cx="2834640" cy="454457"/>
          </a:xfrm>
          <a:prstGeom prst="rect">
            <a:avLst/>
          </a:prstGeom>
        </p:spPr>
      </p:pic>
      <p:sp>
        <p:nvSpPr>
          <p:cNvPr id="136" name="text 135"/>
          <p:cNvSpPr txBox="1"/>
          <p:nvPr/>
        </p:nvSpPr>
        <p:spPr>
          <a:xfrm>
            <a:off x="9098280" y="3840480"/>
            <a:ext cx="2852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00" i="1" dirty="0">
                <a:solidFill>
                  <a:srgbClr val="51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calibrated on development data · compared with shift-robust conformal baselines</a:t>
            </a:r>
            <a:endParaRPr lang="en-US" sz="600" dirty="0"/>
          </a:p>
        </p:txBody>
      </p:sp>
      <p:sp>
        <p:nvSpPr>
          <p:cNvPr id="137" name="panel WP4 136"/>
          <p:cNvSpPr/>
          <p:nvPr/>
        </p:nvSpPr>
        <p:spPr>
          <a:xfrm>
            <a:off x="109728" y="4425696"/>
            <a:ext cx="5788152" cy="2359152"/>
          </a:xfrm>
          <a:prstGeom prst="rect">
            <a:avLst/>
          </a:prstGeom>
          <a:solidFill>
            <a:srgbClr val="F2F2F2"/>
          </a:solidFill>
          <a:ln w="38100">
            <a:solidFill>
              <a:srgbClr val="657D9D"/>
            </a:solidFill>
            <a:prstDash val="solid"/>
          </a:ln>
        </p:spPr>
      </p:sp>
      <p:sp>
        <p:nvSpPr>
          <p:cNvPr id="138" name="panel title 137"/>
          <p:cNvSpPr txBox="1"/>
          <p:nvPr/>
        </p:nvSpPr>
        <p:spPr>
          <a:xfrm>
            <a:off x="219456" y="4471416"/>
            <a:ext cx="556869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2F55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WP4 </a:t>
            </a:r>
            <a:pPr algn="l" indent="0" marL="0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and Uncertainty Evaluation</a:t>
            </a:r>
            <a:endParaRPr lang="en-US" sz="1500" dirty="0"/>
          </a:p>
        </p:txBody>
      </p:sp>
      <p:sp>
        <p:nvSpPr>
          <p:cNvPr id="139" name="month pill 138"/>
          <p:cNvSpPr/>
          <p:nvPr/>
        </p:nvSpPr>
        <p:spPr>
          <a:xfrm>
            <a:off x="3963010" y="4494276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57D9D"/>
            </a:solidFill>
            <a:prstDash val="solid"/>
          </a:ln>
        </p:spPr>
      </p:sp>
      <p:sp>
        <p:nvSpPr>
          <p:cNvPr id="140" name="months 139"/>
          <p:cNvSpPr txBox="1"/>
          <p:nvPr/>
        </p:nvSpPr>
        <p:spPr>
          <a:xfrm>
            <a:off x="3963010" y="4494276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51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M14–22</a:t>
            </a:r>
            <a:endParaRPr lang="en-US" sz="800" dirty="0"/>
          </a:p>
        </p:txBody>
      </p:sp>
      <p:sp>
        <p:nvSpPr>
          <p:cNvPr id="141" name="sub-box 140"/>
          <p:cNvSpPr/>
          <p:nvPr/>
        </p:nvSpPr>
        <p:spPr>
          <a:xfrm>
            <a:off x="182880" y="4828032"/>
            <a:ext cx="3310128" cy="1883664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142" name="sub-box title 141"/>
          <p:cNvSpPr txBox="1"/>
          <p:nvPr/>
        </p:nvSpPr>
        <p:spPr>
          <a:xfrm>
            <a:off x="246888" y="4855464"/>
            <a:ext cx="3182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ICU clinician review</a:t>
            </a:r>
            <a:endParaRPr lang="en-US" sz="950" dirty="0"/>
          </a:p>
        </p:txBody>
      </p:sp>
      <p:sp>
        <p:nvSpPr>
          <p:cNvPr id="143" name="text 142"/>
          <p:cNvSpPr txBox="1"/>
          <p:nvPr/>
        </p:nvSpPr>
        <p:spPr>
          <a:xfrm>
            <a:off x="246888" y="5029200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40" dirty="0">
                <a:solidFill>
                  <a:srgbClr val="51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 set of de-identified cases · three output conditions</a:t>
            </a:r>
            <a:endParaRPr lang="en-US" sz="640" dirty="0"/>
          </a:p>
        </p:txBody>
      </p:sp>
      <p:pic>
        <p:nvPicPr>
          <p:cNvPr id="144" name="photo: ICU clinicians at a monitoring workstation 143" descr="photo: ICU clinicians at a monitoring workstation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834640" y="4855464"/>
            <a:ext cx="603504" cy="402336"/>
          </a:xfrm>
          <a:prstGeom prst="rect">
            <a:avLst/>
          </a:prstGeom>
        </p:spPr>
      </p:pic>
      <p:sp>
        <p:nvSpPr>
          <p:cNvPr id="145" name="condition card 144"/>
          <p:cNvSpPr/>
          <p:nvPr/>
        </p:nvSpPr>
        <p:spPr>
          <a:xfrm>
            <a:off x="246888" y="5303520"/>
            <a:ext cx="1024128" cy="1353312"/>
          </a:xfrm>
          <a:prstGeom prst="roundRect">
            <a:avLst>
              <a:gd name="adj" fmla="val 3571"/>
            </a:avLst>
          </a:prstGeom>
          <a:solidFill>
            <a:srgbClr val="F6F8FA"/>
          </a:solidFill>
          <a:ln w="9525">
            <a:solidFill>
              <a:srgbClr val="9AA5B1"/>
            </a:solidFill>
            <a:prstDash val="solid"/>
          </a:ln>
        </p:spPr>
      </p:sp>
      <p:sp>
        <p:nvSpPr>
          <p:cNvPr id="146" name="condition badge 145"/>
          <p:cNvSpPr/>
          <p:nvPr/>
        </p:nvSpPr>
        <p:spPr>
          <a:xfrm>
            <a:off x="292608" y="5349240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9AA5B1"/>
          </a:solidFill>
          <a:ln/>
        </p:spPr>
      </p:sp>
      <p:sp>
        <p:nvSpPr>
          <p:cNvPr id="147" name="text 146"/>
          <p:cNvSpPr txBox="1"/>
          <p:nvPr/>
        </p:nvSpPr>
        <p:spPr>
          <a:xfrm>
            <a:off x="292608" y="53492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800" dirty="0"/>
          </a:p>
        </p:txBody>
      </p:sp>
      <p:sp>
        <p:nvSpPr>
          <p:cNvPr id="148" name="text 147"/>
          <p:cNvSpPr txBox="1"/>
          <p:nvPr/>
        </p:nvSpPr>
        <p:spPr>
          <a:xfrm>
            <a:off x="502920" y="5321808"/>
            <a:ext cx="7406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620" b="1" dirty="0">
                <a:solidFill>
                  <a:srgbClr val="51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prediction alone</a:t>
            </a:r>
            <a:endParaRPr lang="en-US" sz="620" dirty="0"/>
          </a:p>
        </p:txBody>
      </p:sp>
      <p:sp>
        <p:nvSpPr>
          <p:cNvPr id="149" name="risk value 148"/>
          <p:cNvSpPr txBox="1"/>
          <p:nvPr/>
        </p:nvSpPr>
        <p:spPr>
          <a:xfrm>
            <a:off x="292608" y="5632704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0.28</a:t>
            </a:r>
            <a:endParaRPr lang="en-US" sz="700" dirty="0"/>
          </a:p>
        </p:txBody>
      </p:sp>
      <p:sp>
        <p:nvSpPr>
          <p:cNvPr id="150" name="risk scale 149"/>
          <p:cNvSpPr/>
          <p:nvPr/>
        </p:nvSpPr>
        <p:spPr>
          <a:xfrm>
            <a:off x="338328" y="5829300"/>
            <a:ext cx="841248" cy="45720"/>
          </a:xfrm>
          <a:prstGeom prst="rect">
            <a:avLst/>
          </a:prstGeom>
          <a:solidFill>
            <a:srgbClr val="D9DEE5"/>
          </a:solidFill>
          <a:ln/>
        </p:spPr>
      </p:sp>
      <p:sp>
        <p:nvSpPr>
          <p:cNvPr id="151" name="risk marker 150"/>
          <p:cNvSpPr/>
          <p:nvPr/>
        </p:nvSpPr>
        <p:spPr>
          <a:xfrm>
            <a:off x="562905" y="5792724"/>
            <a:ext cx="21946" cy="118872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2" name="text 151"/>
          <p:cNvSpPr txBox="1"/>
          <p:nvPr/>
        </p:nvSpPr>
        <p:spPr>
          <a:xfrm>
            <a:off x="283464" y="5884164"/>
            <a:ext cx="1097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500" dirty="0">
                <a:solidFill>
                  <a:srgbClr val="51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500" dirty="0"/>
          </a:p>
        </p:txBody>
      </p:sp>
      <p:sp>
        <p:nvSpPr>
          <p:cNvPr id="153" name="text 152"/>
          <p:cNvSpPr txBox="1"/>
          <p:nvPr/>
        </p:nvSpPr>
        <p:spPr>
          <a:xfrm>
            <a:off x="1124712" y="5884164"/>
            <a:ext cx="1097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500" dirty="0">
                <a:solidFill>
                  <a:srgbClr val="51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154" name="text 153"/>
          <p:cNvSpPr txBox="1"/>
          <p:nvPr/>
        </p:nvSpPr>
        <p:spPr>
          <a:xfrm>
            <a:off x="320040" y="6035040"/>
            <a:ext cx="8778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3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score: no explanation, no uncertainty</a:t>
            </a:r>
            <a:endParaRPr lang="en-US" sz="630" dirty="0"/>
          </a:p>
        </p:txBody>
      </p:sp>
      <p:sp>
        <p:nvSpPr>
          <p:cNvPr id="155" name="condition card 154"/>
          <p:cNvSpPr/>
          <p:nvPr/>
        </p:nvSpPr>
        <p:spPr>
          <a:xfrm>
            <a:off x="1325880" y="5303520"/>
            <a:ext cx="1024128" cy="1353312"/>
          </a:xfrm>
          <a:prstGeom prst="roundRect">
            <a:avLst>
              <a:gd name="adj" fmla="val 3571"/>
            </a:avLst>
          </a:prstGeom>
          <a:solidFill>
            <a:srgbClr val="F1F6FC"/>
          </a:solidFill>
          <a:ln w="9525">
            <a:solidFill>
              <a:srgbClr val="3C88BD"/>
            </a:solidFill>
            <a:prstDash val="solid"/>
          </a:ln>
        </p:spPr>
      </p:sp>
      <p:sp>
        <p:nvSpPr>
          <p:cNvPr id="156" name="condition badge 155"/>
          <p:cNvSpPr/>
          <p:nvPr/>
        </p:nvSpPr>
        <p:spPr>
          <a:xfrm>
            <a:off x="1371600" y="5349240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3C88BD"/>
          </a:solidFill>
          <a:ln/>
        </p:spPr>
      </p:sp>
      <p:sp>
        <p:nvSpPr>
          <p:cNvPr id="157" name="text 156"/>
          <p:cNvSpPr txBox="1"/>
          <p:nvPr/>
        </p:nvSpPr>
        <p:spPr>
          <a:xfrm>
            <a:off x="1371600" y="53492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800" dirty="0"/>
          </a:p>
        </p:txBody>
      </p:sp>
      <p:sp>
        <p:nvSpPr>
          <p:cNvPr id="158" name="text 157"/>
          <p:cNvSpPr txBox="1"/>
          <p:nvPr/>
        </p:nvSpPr>
        <p:spPr>
          <a:xfrm>
            <a:off x="1581912" y="5321808"/>
            <a:ext cx="7406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620" b="1" dirty="0">
                <a:solidFill>
                  <a:srgbClr val="2C6A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prediction + post-hoc explanation</a:t>
            </a:r>
            <a:endParaRPr lang="en-US" sz="620" dirty="0"/>
          </a:p>
        </p:txBody>
      </p:sp>
      <p:sp>
        <p:nvSpPr>
          <p:cNvPr id="159" name="risk value 158"/>
          <p:cNvSpPr txBox="1"/>
          <p:nvPr/>
        </p:nvSpPr>
        <p:spPr>
          <a:xfrm>
            <a:off x="1371600" y="5632704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0.28</a:t>
            </a:r>
            <a:endParaRPr lang="en-US" sz="700" dirty="0"/>
          </a:p>
        </p:txBody>
      </p:sp>
      <p:sp>
        <p:nvSpPr>
          <p:cNvPr id="160" name="risk scale 159"/>
          <p:cNvSpPr/>
          <p:nvPr/>
        </p:nvSpPr>
        <p:spPr>
          <a:xfrm>
            <a:off x="1417320" y="5829300"/>
            <a:ext cx="841248" cy="45720"/>
          </a:xfrm>
          <a:prstGeom prst="rect">
            <a:avLst/>
          </a:prstGeom>
          <a:solidFill>
            <a:srgbClr val="D9DEE5"/>
          </a:solidFill>
          <a:ln/>
        </p:spPr>
      </p:sp>
      <p:sp>
        <p:nvSpPr>
          <p:cNvPr id="161" name="risk marker 160"/>
          <p:cNvSpPr/>
          <p:nvPr/>
        </p:nvSpPr>
        <p:spPr>
          <a:xfrm>
            <a:off x="1641897" y="5792724"/>
            <a:ext cx="21946" cy="118872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62" name="text 161"/>
          <p:cNvSpPr txBox="1"/>
          <p:nvPr/>
        </p:nvSpPr>
        <p:spPr>
          <a:xfrm>
            <a:off x="1362456" y="5884164"/>
            <a:ext cx="1097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500" dirty="0">
                <a:solidFill>
                  <a:srgbClr val="51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500" dirty="0"/>
          </a:p>
        </p:txBody>
      </p:sp>
      <p:sp>
        <p:nvSpPr>
          <p:cNvPr id="163" name="text 162"/>
          <p:cNvSpPr txBox="1"/>
          <p:nvPr/>
        </p:nvSpPr>
        <p:spPr>
          <a:xfrm>
            <a:off x="2203704" y="5884164"/>
            <a:ext cx="1097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500" dirty="0">
                <a:solidFill>
                  <a:srgbClr val="51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pic>
        <p:nvPicPr>
          <p:cNvPr id="164" name="explanation shown to clinicians 163" descr="explanation shown to clinicians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389888" y="5989320"/>
            <a:ext cx="896112" cy="530352"/>
          </a:xfrm>
          <a:prstGeom prst="rect">
            <a:avLst/>
          </a:prstGeom>
        </p:spPr>
      </p:pic>
      <p:sp>
        <p:nvSpPr>
          <p:cNvPr id="165" name="text 164"/>
          <p:cNvSpPr txBox="1"/>
          <p:nvPr/>
        </p:nvSpPr>
        <p:spPr>
          <a:xfrm>
            <a:off x="1353312" y="6519672"/>
            <a:ext cx="9692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560" i="1" dirty="0">
                <a:solidFill>
                  <a:srgbClr val="2C6A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post-hoc feature importance</a:t>
            </a:r>
            <a:endParaRPr lang="en-US" sz="560" dirty="0"/>
          </a:p>
        </p:txBody>
      </p:sp>
      <p:sp>
        <p:nvSpPr>
          <p:cNvPr id="166" name="condition card 165"/>
          <p:cNvSpPr/>
          <p:nvPr/>
        </p:nvSpPr>
        <p:spPr>
          <a:xfrm>
            <a:off x="2404872" y="5303520"/>
            <a:ext cx="1024128" cy="1353312"/>
          </a:xfrm>
          <a:prstGeom prst="roundRect">
            <a:avLst>
              <a:gd name="adj" fmla="val 3571"/>
            </a:avLst>
          </a:prstGeom>
          <a:solidFill>
            <a:srgbClr val="F2F9F6"/>
          </a:solidFill>
          <a:ln w="9525">
            <a:solidFill>
              <a:srgbClr val="218B73"/>
            </a:solidFill>
            <a:prstDash val="solid"/>
          </a:ln>
        </p:spPr>
      </p:sp>
      <p:sp>
        <p:nvSpPr>
          <p:cNvPr id="167" name="condition badge 166"/>
          <p:cNvSpPr/>
          <p:nvPr/>
        </p:nvSpPr>
        <p:spPr>
          <a:xfrm>
            <a:off x="2450592" y="5349240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218B73"/>
          </a:solidFill>
          <a:ln/>
        </p:spPr>
      </p:sp>
      <p:sp>
        <p:nvSpPr>
          <p:cNvPr id="168" name="text 167"/>
          <p:cNvSpPr txBox="1"/>
          <p:nvPr/>
        </p:nvSpPr>
        <p:spPr>
          <a:xfrm>
            <a:off x="2450592" y="53492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800" dirty="0"/>
          </a:p>
        </p:txBody>
      </p:sp>
      <p:sp>
        <p:nvSpPr>
          <p:cNvPr id="169" name="text 168"/>
          <p:cNvSpPr txBox="1"/>
          <p:nvPr/>
        </p:nvSpPr>
        <p:spPr>
          <a:xfrm>
            <a:off x="2660904" y="5321808"/>
            <a:ext cx="7406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620" b="1" dirty="0">
                <a:solidFill>
                  <a:srgbClr val="1A6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Jointly optimised output + conformal uncertainty</a:t>
            </a:r>
            <a:endParaRPr lang="en-US" sz="620" dirty="0"/>
          </a:p>
        </p:txBody>
      </p:sp>
      <p:sp>
        <p:nvSpPr>
          <p:cNvPr id="170" name="risk value 169"/>
          <p:cNvSpPr txBox="1"/>
          <p:nvPr/>
        </p:nvSpPr>
        <p:spPr>
          <a:xfrm>
            <a:off x="2450592" y="5632704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0.28 </a:t>
            </a:r>
            <a:pPr algn="ctr"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[0.12–0.46]</a:t>
            </a:r>
            <a:endParaRPr lang="en-US" sz="700" dirty="0"/>
          </a:p>
        </p:txBody>
      </p:sp>
      <p:sp>
        <p:nvSpPr>
          <p:cNvPr id="171" name="risk scale 170"/>
          <p:cNvSpPr/>
          <p:nvPr/>
        </p:nvSpPr>
        <p:spPr>
          <a:xfrm>
            <a:off x="2496312" y="5829300"/>
            <a:ext cx="841248" cy="45720"/>
          </a:xfrm>
          <a:prstGeom prst="rect">
            <a:avLst/>
          </a:prstGeom>
          <a:solidFill>
            <a:srgbClr val="D9DEE5"/>
          </a:solidFill>
          <a:ln/>
        </p:spPr>
      </p:sp>
      <p:sp>
        <p:nvSpPr>
          <p:cNvPr id="172" name="conformal interval 171"/>
          <p:cNvSpPr/>
          <p:nvPr/>
        </p:nvSpPr>
        <p:spPr>
          <a:xfrm>
            <a:off x="2597262" y="5806440"/>
            <a:ext cx="286024" cy="91440"/>
          </a:xfrm>
          <a:prstGeom prst="rect">
            <a:avLst/>
          </a:prstGeom>
          <a:solidFill>
            <a:srgbClr val="8CC9B4"/>
          </a:solidFill>
          <a:ln/>
        </p:spPr>
      </p:sp>
      <p:sp>
        <p:nvSpPr>
          <p:cNvPr id="173" name="risk marker 172"/>
          <p:cNvSpPr/>
          <p:nvPr/>
        </p:nvSpPr>
        <p:spPr>
          <a:xfrm>
            <a:off x="2720889" y="5792724"/>
            <a:ext cx="21946" cy="118872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74" name="text 173"/>
          <p:cNvSpPr txBox="1"/>
          <p:nvPr/>
        </p:nvSpPr>
        <p:spPr>
          <a:xfrm>
            <a:off x="2441448" y="5884164"/>
            <a:ext cx="1097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500" dirty="0">
                <a:solidFill>
                  <a:srgbClr val="51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500" dirty="0"/>
          </a:p>
        </p:txBody>
      </p:sp>
      <p:sp>
        <p:nvSpPr>
          <p:cNvPr id="175" name="text 174"/>
          <p:cNvSpPr txBox="1"/>
          <p:nvPr/>
        </p:nvSpPr>
        <p:spPr>
          <a:xfrm>
            <a:off x="3282696" y="5884164"/>
            <a:ext cx="1097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500" dirty="0">
                <a:solidFill>
                  <a:srgbClr val="51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pic>
        <p:nvPicPr>
          <p:cNvPr id="176" name="explanation shown to clinicians 175" descr="explanation shown to clinicians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468880" y="5989320"/>
            <a:ext cx="896112" cy="530352"/>
          </a:xfrm>
          <a:prstGeom prst="rect">
            <a:avLst/>
          </a:prstGeom>
        </p:spPr>
      </p:pic>
      <p:sp>
        <p:nvSpPr>
          <p:cNvPr id="177" name="text 176"/>
          <p:cNvSpPr txBox="1"/>
          <p:nvPr/>
        </p:nvSpPr>
        <p:spPr>
          <a:xfrm>
            <a:off x="2432304" y="6519672"/>
            <a:ext cx="9692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560" i="1" dirty="0">
                <a:solidFill>
                  <a:srgbClr val="1A6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intrinsic temporal explanation</a:t>
            </a:r>
            <a:endParaRPr lang="en-US" sz="560" dirty="0"/>
          </a:p>
        </p:txBody>
      </p:sp>
      <p:sp>
        <p:nvSpPr>
          <p:cNvPr id="178" name="step arrow 177"/>
          <p:cNvSpPr/>
          <p:nvPr/>
        </p:nvSpPr>
        <p:spPr>
          <a:xfrm>
            <a:off x="3502152" y="5760720"/>
            <a:ext cx="100584" cy="182880"/>
          </a:xfrm>
          <a:prstGeom prst="rightArrow">
            <a:avLst/>
          </a:prstGeom>
          <a:solidFill>
            <a:srgbClr val="99A8BD"/>
          </a:solidFill>
          <a:ln w="6350">
            <a:solidFill>
              <a:srgbClr val="51647E"/>
            </a:solidFill>
            <a:prstDash val="solid"/>
          </a:ln>
        </p:spPr>
      </p:sp>
      <p:sp>
        <p:nvSpPr>
          <p:cNvPr id="179" name="sub-box 178"/>
          <p:cNvSpPr/>
          <p:nvPr/>
        </p:nvSpPr>
        <p:spPr>
          <a:xfrm>
            <a:off x="3611880" y="4828032"/>
            <a:ext cx="1097280" cy="1883664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180" name="sub-box title 179"/>
          <p:cNvSpPr txBox="1"/>
          <p:nvPr/>
        </p:nvSpPr>
        <p:spPr>
          <a:xfrm>
            <a:off x="3675888" y="4855464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950" dirty="0"/>
          </a:p>
        </p:txBody>
      </p:sp>
      <p:sp>
        <p:nvSpPr>
          <p:cNvPr id="181" name="outcome tile 180"/>
          <p:cNvSpPr/>
          <p:nvPr/>
        </p:nvSpPr>
        <p:spPr>
          <a:xfrm>
            <a:off x="3666744" y="5084064"/>
            <a:ext cx="987552" cy="283464"/>
          </a:xfrm>
          <a:prstGeom prst="roundRect">
            <a:avLst>
              <a:gd name="adj" fmla="val 12903"/>
            </a:avLst>
          </a:prstGeom>
          <a:solidFill>
            <a:srgbClr val="FDF1E8"/>
          </a:solidFill>
          <a:ln w="9525">
            <a:solidFill>
              <a:srgbClr val="D9773F"/>
            </a:solidFill>
            <a:prstDash val="solid"/>
          </a:ln>
        </p:spPr>
      </p:sp>
      <p:pic>
        <p:nvPicPr>
          <p:cNvPr id="182" name="outcome icon 181" descr="outcome icon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703320" y="5143500"/>
            <a:ext cx="164592" cy="164592"/>
          </a:xfrm>
          <a:prstGeom prst="rect">
            <a:avLst/>
          </a:prstGeom>
        </p:spPr>
      </p:pic>
      <p:sp>
        <p:nvSpPr>
          <p:cNvPr id="183" name="text 182"/>
          <p:cNvSpPr txBox="1"/>
          <p:nvPr/>
        </p:nvSpPr>
        <p:spPr>
          <a:xfrm>
            <a:off x="3895344" y="5093208"/>
            <a:ext cx="740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30" b="1" dirty="0">
                <a:solidFill>
                  <a:srgbClr val="B85C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of reliance decisions</a:t>
            </a:r>
            <a:endParaRPr lang="en-US" sz="630" dirty="0"/>
          </a:p>
        </p:txBody>
      </p:sp>
      <p:sp>
        <p:nvSpPr>
          <p:cNvPr id="184" name="outcome tile 183"/>
          <p:cNvSpPr/>
          <p:nvPr/>
        </p:nvSpPr>
        <p:spPr>
          <a:xfrm>
            <a:off x="3666744" y="5404104"/>
            <a:ext cx="987552" cy="283464"/>
          </a:xfrm>
          <a:prstGeom prst="roundRect">
            <a:avLst>
              <a:gd name="adj" fmla="val 12903"/>
            </a:avLst>
          </a:prstGeom>
          <a:solidFill>
            <a:srgbClr val="FDF1E8"/>
          </a:solidFill>
          <a:ln w="9525">
            <a:solidFill>
              <a:srgbClr val="D9773F"/>
            </a:solidFill>
            <a:prstDash val="solid"/>
          </a:ln>
        </p:spPr>
      </p:sp>
      <p:pic>
        <p:nvPicPr>
          <p:cNvPr id="185" name="outcome icon 184" descr="outcome icon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3703320" y="5463540"/>
            <a:ext cx="164592" cy="164592"/>
          </a:xfrm>
          <a:prstGeom prst="rect">
            <a:avLst/>
          </a:prstGeom>
        </p:spPr>
      </p:pic>
      <p:sp>
        <p:nvSpPr>
          <p:cNvPr id="186" name="text 185"/>
          <p:cNvSpPr txBox="1"/>
          <p:nvPr/>
        </p:nvSpPr>
        <p:spPr>
          <a:xfrm>
            <a:off x="3895344" y="5413248"/>
            <a:ext cx="740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30" b="1" dirty="0">
                <a:solidFill>
                  <a:srgbClr val="B85C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calibration</a:t>
            </a:r>
            <a:endParaRPr lang="en-US" sz="630" dirty="0"/>
          </a:p>
        </p:txBody>
      </p:sp>
      <p:sp>
        <p:nvSpPr>
          <p:cNvPr id="187" name="outcome tile 186"/>
          <p:cNvSpPr/>
          <p:nvPr/>
        </p:nvSpPr>
        <p:spPr>
          <a:xfrm>
            <a:off x="3666744" y="5724144"/>
            <a:ext cx="987552" cy="283464"/>
          </a:xfrm>
          <a:prstGeom prst="roundRect">
            <a:avLst>
              <a:gd name="adj" fmla="val 12903"/>
            </a:avLst>
          </a:prstGeom>
          <a:solidFill>
            <a:srgbClr val="FDF1E8"/>
          </a:solidFill>
          <a:ln w="9525">
            <a:solidFill>
              <a:srgbClr val="D9773F"/>
            </a:solidFill>
            <a:prstDash val="solid"/>
          </a:ln>
        </p:spPr>
      </p:sp>
      <p:pic>
        <p:nvPicPr>
          <p:cNvPr id="188" name="outcome icon 187" descr="outcome icon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703320" y="5783580"/>
            <a:ext cx="164592" cy="164592"/>
          </a:xfrm>
          <a:prstGeom prst="rect">
            <a:avLst/>
          </a:prstGeom>
        </p:spPr>
      </p:pic>
      <p:sp>
        <p:nvSpPr>
          <p:cNvPr id="189" name="text 188"/>
          <p:cNvSpPr txBox="1"/>
          <p:nvPr/>
        </p:nvSpPr>
        <p:spPr>
          <a:xfrm>
            <a:off x="3895344" y="5733288"/>
            <a:ext cx="740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30" b="1" dirty="0">
                <a:solidFill>
                  <a:srgbClr val="B85C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Perceived interpretability</a:t>
            </a:r>
            <a:endParaRPr lang="en-US" sz="630" dirty="0"/>
          </a:p>
        </p:txBody>
      </p:sp>
      <p:sp>
        <p:nvSpPr>
          <p:cNvPr id="190" name="outcome tile 189"/>
          <p:cNvSpPr/>
          <p:nvPr/>
        </p:nvSpPr>
        <p:spPr>
          <a:xfrm>
            <a:off x="3666744" y="6044184"/>
            <a:ext cx="987552" cy="283464"/>
          </a:xfrm>
          <a:prstGeom prst="roundRect">
            <a:avLst>
              <a:gd name="adj" fmla="val 12903"/>
            </a:avLst>
          </a:prstGeom>
          <a:solidFill>
            <a:srgbClr val="FDF1E8"/>
          </a:solidFill>
          <a:ln w="9525">
            <a:solidFill>
              <a:srgbClr val="D9773F"/>
            </a:solidFill>
            <a:prstDash val="solid"/>
          </a:ln>
        </p:spPr>
      </p:sp>
      <p:pic>
        <p:nvPicPr>
          <p:cNvPr id="191" name="outcome icon 190" descr="outcome icon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3703320" y="6103620"/>
            <a:ext cx="164592" cy="164592"/>
          </a:xfrm>
          <a:prstGeom prst="rect">
            <a:avLst/>
          </a:prstGeom>
        </p:spPr>
      </p:pic>
      <p:sp>
        <p:nvSpPr>
          <p:cNvPr id="192" name="text 191"/>
          <p:cNvSpPr txBox="1"/>
          <p:nvPr/>
        </p:nvSpPr>
        <p:spPr>
          <a:xfrm>
            <a:off x="3895344" y="6053328"/>
            <a:ext cx="740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30" b="1" dirty="0">
                <a:solidFill>
                  <a:srgbClr val="B85C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to decision</a:t>
            </a:r>
            <a:endParaRPr lang="en-US" sz="630" dirty="0"/>
          </a:p>
        </p:txBody>
      </p:sp>
      <p:sp>
        <p:nvSpPr>
          <p:cNvPr id="193" name="outcome tile 192"/>
          <p:cNvSpPr/>
          <p:nvPr/>
        </p:nvSpPr>
        <p:spPr>
          <a:xfrm>
            <a:off x="3666744" y="6364224"/>
            <a:ext cx="987552" cy="283464"/>
          </a:xfrm>
          <a:prstGeom prst="roundRect">
            <a:avLst>
              <a:gd name="adj" fmla="val 12903"/>
            </a:avLst>
          </a:prstGeom>
          <a:solidFill>
            <a:srgbClr val="FDF1E8"/>
          </a:solidFill>
          <a:ln w="9525">
            <a:solidFill>
              <a:srgbClr val="D9773F"/>
            </a:solidFill>
            <a:prstDash val="solid"/>
          </a:ln>
        </p:spPr>
      </p:sp>
      <p:pic>
        <p:nvPicPr>
          <p:cNvPr id="194" name="outcome icon 193" descr="outcome icon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3703320" y="6423660"/>
            <a:ext cx="164592" cy="164592"/>
          </a:xfrm>
          <a:prstGeom prst="rect">
            <a:avLst/>
          </a:prstGeom>
        </p:spPr>
      </p:pic>
      <p:sp>
        <p:nvSpPr>
          <p:cNvPr id="195" name="text 194"/>
          <p:cNvSpPr txBox="1"/>
          <p:nvPr/>
        </p:nvSpPr>
        <p:spPr>
          <a:xfrm>
            <a:off x="3895344" y="6373368"/>
            <a:ext cx="740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30" b="1" dirty="0">
                <a:solidFill>
                  <a:srgbClr val="B85C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Qualitative comments</a:t>
            </a:r>
            <a:endParaRPr lang="en-US" sz="630" dirty="0"/>
          </a:p>
        </p:txBody>
      </p:sp>
      <p:sp>
        <p:nvSpPr>
          <p:cNvPr id="196" name="sub-box 195"/>
          <p:cNvSpPr/>
          <p:nvPr/>
        </p:nvSpPr>
        <p:spPr>
          <a:xfrm>
            <a:off x="4754880" y="4828032"/>
            <a:ext cx="1069848" cy="1883664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197" name="sub-box title 196"/>
          <p:cNvSpPr txBox="1"/>
          <p:nvPr/>
        </p:nvSpPr>
        <p:spPr>
          <a:xfrm>
            <a:off x="4818888" y="4855464"/>
            <a:ext cx="941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CPDs for continuous tasks</a:t>
            </a:r>
            <a:endParaRPr lang="en-US" sz="850" dirty="0"/>
          </a:p>
        </p:txBody>
      </p:sp>
      <p:pic>
        <p:nvPicPr>
          <p:cNvPr id="198" name="conformal predictive distribution for A&amp;E waiting time 197" descr="conformal predictive distribution for A&amp;E waiting time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782312" y="5157216"/>
            <a:ext cx="1024128" cy="936346"/>
          </a:xfrm>
          <a:prstGeom prst="rect">
            <a:avLst/>
          </a:prstGeom>
        </p:spPr>
      </p:pic>
      <p:sp>
        <p:nvSpPr>
          <p:cNvPr id="199" name="text 198"/>
          <p:cNvSpPr txBox="1"/>
          <p:nvPr/>
        </p:nvSpPr>
        <p:spPr>
          <a:xfrm>
            <a:off x="4791456" y="6126480"/>
            <a:ext cx="996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probabilistic outputs support different decision rules, e.g. P(wait &gt; 4 h) or a 90% interval</a:t>
            </a:r>
            <a:endParaRPr lang="en-US" sz="620" dirty="0"/>
          </a:p>
        </p:txBody>
      </p:sp>
      <p:sp>
        <p:nvSpPr>
          <p:cNvPr id="200" name="panel WP5 199"/>
          <p:cNvSpPr/>
          <p:nvPr/>
        </p:nvSpPr>
        <p:spPr>
          <a:xfrm>
            <a:off x="6281928" y="4425696"/>
            <a:ext cx="5797296" cy="2359152"/>
          </a:xfrm>
          <a:prstGeom prst="rect">
            <a:avLst/>
          </a:prstGeom>
          <a:solidFill>
            <a:srgbClr val="F2F2F2"/>
          </a:solidFill>
          <a:ln w="38100">
            <a:solidFill>
              <a:srgbClr val="657D9D"/>
            </a:solidFill>
            <a:prstDash val="solid"/>
          </a:ln>
        </p:spPr>
      </p:sp>
      <p:sp>
        <p:nvSpPr>
          <p:cNvPr id="201" name="panel title 200"/>
          <p:cNvSpPr txBox="1"/>
          <p:nvPr/>
        </p:nvSpPr>
        <p:spPr>
          <a:xfrm>
            <a:off x="6391656" y="4471416"/>
            <a:ext cx="557784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2F55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WP5 </a:t>
            </a:r>
            <a:pPr algn="l" indent="0" marL="0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Integration and Guidance</a:t>
            </a:r>
            <a:endParaRPr lang="en-US" sz="1500" dirty="0"/>
          </a:p>
        </p:txBody>
      </p:sp>
      <p:sp>
        <p:nvSpPr>
          <p:cNvPr id="202" name="month pill 201"/>
          <p:cNvSpPr/>
          <p:nvPr/>
        </p:nvSpPr>
        <p:spPr>
          <a:xfrm>
            <a:off x="10135210" y="4494276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57D9D"/>
            </a:solidFill>
            <a:prstDash val="solid"/>
          </a:ln>
        </p:spPr>
      </p:sp>
      <p:sp>
        <p:nvSpPr>
          <p:cNvPr id="203" name="months 202"/>
          <p:cNvSpPr txBox="1"/>
          <p:nvPr/>
        </p:nvSpPr>
        <p:spPr>
          <a:xfrm>
            <a:off x="10135210" y="4494276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51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M20–24</a:t>
            </a:r>
            <a:endParaRPr lang="en-US" sz="800" dirty="0"/>
          </a:p>
        </p:txBody>
      </p:sp>
      <p:sp>
        <p:nvSpPr>
          <p:cNvPr id="204" name="evidence tile 203"/>
          <p:cNvSpPr/>
          <p:nvPr/>
        </p:nvSpPr>
        <p:spPr>
          <a:xfrm>
            <a:off x="6355080" y="4828032"/>
            <a:ext cx="1847088" cy="585216"/>
          </a:xfrm>
          <a:prstGeom prst="roundRect">
            <a:avLst>
              <a:gd name="adj" fmla="val 6250"/>
            </a:avLst>
          </a:prstGeom>
          <a:solidFill>
            <a:srgbClr val="FDF1E8"/>
          </a:solidFill>
          <a:ln w="9525">
            <a:solidFill>
              <a:srgbClr val="D9773F"/>
            </a:solidFill>
            <a:prstDash val="solid"/>
          </a:ln>
        </p:spPr>
      </p:sp>
      <p:sp>
        <p:nvSpPr>
          <p:cNvPr id="205" name="text 204"/>
          <p:cNvSpPr txBox="1"/>
          <p:nvPr/>
        </p:nvSpPr>
        <p:spPr>
          <a:xfrm>
            <a:off x="6400800" y="4846320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B85C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evidence (WP4)</a:t>
            </a:r>
            <a:endParaRPr lang="en-US" sz="750" dirty="0"/>
          </a:p>
        </p:txBody>
      </p:sp>
      <p:sp>
        <p:nvSpPr>
          <p:cNvPr id="206" name="text 205"/>
          <p:cNvSpPr txBox="1"/>
          <p:nvPr/>
        </p:nvSpPr>
        <p:spPr>
          <a:xfrm>
            <a:off x="6409944" y="501091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4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reliance accuracy · confidence calibration · interpretability · time to decision</a:t>
            </a:r>
            <a:endParaRPr lang="en-US" sz="640" dirty="0"/>
          </a:p>
        </p:txBody>
      </p:sp>
      <p:sp>
        <p:nvSpPr>
          <p:cNvPr id="207" name="evidence tile 206"/>
          <p:cNvSpPr/>
          <p:nvPr/>
        </p:nvSpPr>
        <p:spPr>
          <a:xfrm>
            <a:off x="8257032" y="4828032"/>
            <a:ext cx="1847088" cy="585216"/>
          </a:xfrm>
          <a:prstGeom prst="roundRect">
            <a:avLst>
              <a:gd name="adj" fmla="val 6250"/>
            </a:avLst>
          </a:prstGeom>
          <a:solidFill>
            <a:srgbClr val="FFFBEB"/>
          </a:solidFill>
          <a:ln w="9525">
            <a:solidFill>
              <a:srgbClr val="E6B422"/>
            </a:solidFill>
            <a:prstDash val="solid"/>
          </a:ln>
        </p:spPr>
      </p:sp>
      <p:sp>
        <p:nvSpPr>
          <p:cNvPr id="208" name="text 207"/>
          <p:cNvSpPr txBox="1"/>
          <p:nvPr/>
        </p:nvSpPr>
        <p:spPr>
          <a:xfrm>
            <a:off x="8302752" y="4846320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7A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Optimisation evidence (WP2)</a:t>
            </a:r>
            <a:endParaRPr lang="en-US" sz="750" dirty="0"/>
          </a:p>
        </p:txBody>
      </p:sp>
      <p:sp>
        <p:nvSpPr>
          <p:cNvPr id="209" name="text 208"/>
          <p:cNvSpPr txBox="1"/>
          <p:nvPr/>
        </p:nvSpPr>
        <p:spPr>
          <a:xfrm>
            <a:off x="8311896" y="501091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4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 structure · joint-gain &amp; knee regions · effect of shift</a:t>
            </a:r>
            <a:endParaRPr lang="en-US" sz="640" dirty="0"/>
          </a:p>
        </p:txBody>
      </p:sp>
      <p:sp>
        <p:nvSpPr>
          <p:cNvPr id="210" name="evidence tile 209"/>
          <p:cNvSpPr/>
          <p:nvPr/>
        </p:nvSpPr>
        <p:spPr>
          <a:xfrm>
            <a:off x="10158984" y="4828032"/>
            <a:ext cx="1847088" cy="585216"/>
          </a:xfrm>
          <a:prstGeom prst="roundRect">
            <a:avLst>
              <a:gd name="adj" fmla="val 6250"/>
            </a:avLst>
          </a:prstGeom>
          <a:solidFill>
            <a:srgbClr val="F2F9F6"/>
          </a:solidFill>
          <a:ln w="9525">
            <a:solidFill>
              <a:srgbClr val="218B73"/>
            </a:solidFill>
            <a:prstDash val="solid"/>
          </a:ln>
        </p:spPr>
      </p:sp>
      <p:sp>
        <p:nvSpPr>
          <p:cNvPr id="211" name="text 210"/>
          <p:cNvSpPr txBox="1"/>
          <p:nvPr/>
        </p:nvSpPr>
        <p:spPr>
          <a:xfrm>
            <a:off x="10204704" y="4846320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1A6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evidence (WP3)</a:t>
            </a:r>
            <a:endParaRPr lang="en-US" sz="750" dirty="0"/>
          </a:p>
        </p:txBody>
      </p:sp>
      <p:sp>
        <p:nvSpPr>
          <p:cNvPr id="212" name="text 211"/>
          <p:cNvSpPr txBox="1"/>
          <p:nvPr/>
        </p:nvSpPr>
        <p:spPr>
          <a:xfrm>
            <a:off x="10213848" y="501091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4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faithfulness · performance &amp; coverage under temporal / site shift</a:t>
            </a:r>
            <a:endParaRPr lang="en-US" sz="640" dirty="0"/>
          </a:p>
        </p:txBody>
      </p:sp>
      <p:sp>
        <p:nvSpPr>
          <p:cNvPr id="213" name="merge 212"/>
          <p:cNvSpPr/>
          <p:nvPr/>
        </p:nvSpPr>
        <p:spPr>
          <a:xfrm>
            <a:off x="7278624" y="5413248"/>
            <a:ext cx="0" cy="91440"/>
          </a:xfrm>
          <a:prstGeom prst="line">
            <a:avLst/>
          </a:prstGeom>
          <a:noFill/>
          <a:ln w="15875">
            <a:solidFill>
              <a:srgbClr val="1F3A5F"/>
            </a:solidFill>
            <a:prstDash val="solid"/>
          </a:ln>
        </p:spPr>
      </p:sp>
      <p:sp>
        <p:nvSpPr>
          <p:cNvPr id="214" name="merge 213"/>
          <p:cNvSpPr/>
          <p:nvPr/>
        </p:nvSpPr>
        <p:spPr>
          <a:xfrm>
            <a:off x="9180576" y="5413248"/>
            <a:ext cx="0" cy="91440"/>
          </a:xfrm>
          <a:prstGeom prst="line">
            <a:avLst/>
          </a:prstGeom>
          <a:noFill/>
          <a:ln w="15875">
            <a:solidFill>
              <a:srgbClr val="1F3A5F"/>
            </a:solidFill>
            <a:prstDash val="solid"/>
          </a:ln>
        </p:spPr>
      </p:sp>
      <p:sp>
        <p:nvSpPr>
          <p:cNvPr id="215" name="merge 214"/>
          <p:cNvSpPr/>
          <p:nvPr/>
        </p:nvSpPr>
        <p:spPr>
          <a:xfrm>
            <a:off x="11082528" y="5413248"/>
            <a:ext cx="0" cy="91440"/>
          </a:xfrm>
          <a:prstGeom prst="line">
            <a:avLst/>
          </a:prstGeom>
          <a:noFill/>
          <a:ln w="15875">
            <a:solidFill>
              <a:srgbClr val="1F3A5F"/>
            </a:solidFill>
            <a:prstDash val="solid"/>
          </a:ln>
        </p:spPr>
      </p:sp>
      <p:sp>
        <p:nvSpPr>
          <p:cNvPr id="216" name="merge 215"/>
          <p:cNvSpPr/>
          <p:nvPr/>
        </p:nvSpPr>
        <p:spPr>
          <a:xfrm>
            <a:off x="7278624" y="5504688"/>
            <a:ext cx="3803904" cy="0"/>
          </a:xfrm>
          <a:prstGeom prst="line">
            <a:avLst/>
          </a:prstGeom>
          <a:noFill/>
          <a:ln w="15875">
            <a:solidFill>
              <a:srgbClr val="1F3A5F"/>
            </a:solidFill>
            <a:prstDash val="solid"/>
          </a:ln>
        </p:spPr>
      </p:sp>
      <p:sp>
        <p:nvSpPr>
          <p:cNvPr id="217" name="merge 216"/>
          <p:cNvSpPr/>
          <p:nvPr/>
        </p:nvSpPr>
        <p:spPr>
          <a:xfrm>
            <a:off x="8156448" y="5504688"/>
            <a:ext cx="0" cy="91440"/>
          </a:xfrm>
          <a:prstGeom prst="line">
            <a:avLst/>
          </a:prstGeom>
          <a:noFill/>
          <a:ln w="15875">
            <a:solidFill>
              <a:srgbClr val="1F3A5F"/>
            </a:solidFill>
            <a:prstDash val="solid"/>
            <a:tailEnd type="triangle"/>
          </a:ln>
        </p:spPr>
      </p:sp>
      <p:sp>
        <p:nvSpPr>
          <p:cNvPr id="218" name="sub-box 217"/>
          <p:cNvSpPr/>
          <p:nvPr/>
        </p:nvSpPr>
        <p:spPr>
          <a:xfrm>
            <a:off x="6355080" y="5596128"/>
            <a:ext cx="3566160" cy="1115568"/>
          </a:xfrm>
          <a:prstGeom prst="roundRect">
            <a:avLst>
              <a:gd name="adj" fmla="val 2459"/>
            </a:avLst>
          </a:prstGeom>
          <a:solidFill>
            <a:srgbClr val="FFFFFF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219" name="text 218"/>
          <p:cNvSpPr txBox="1"/>
          <p:nvPr/>
        </p:nvSpPr>
        <p:spPr>
          <a:xfrm>
            <a:off x="6400800" y="561441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Integration: where are trustworthy-AI properties jointly achievable?</a:t>
            </a:r>
            <a:endParaRPr lang="en-US" sz="800" dirty="0"/>
          </a:p>
        </p:txBody>
      </p:sp>
      <p:pic>
        <p:nvPicPr>
          <p:cNvPr id="220" name="achievability map (illustrative) 219" descr="achievability map (illustrative)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6391656" y="5806440"/>
            <a:ext cx="2011680" cy="892454"/>
          </a:xfrm>
          <a:prstGeom prst="rect">
            <a:avLst/>
          </a:prstGeom>
        </p:spPr>
      </p:pic>
      <p:sp>
        <p:nvSpPr>
          <p:cNvPr id="221" name="risk note 220"/>
          <p:cNvSpPr/>
          <p:nvPr/>
        </p:nvSpPr>
        <p:spPr>
          <a:xfrm>
            <a:off x="8449056" y="5852160"/>
            <a:ext cx="1426464" cy="804672"/>
          </a:xfrm>
          <a:prstGeom prst="roundRect">
            <a:avLst>
              <a:gd name="adj" fmla="val 4545"/>
            </a:avLst>
          </a:prstGeom>
          <a:solidFill>
            <a:srgbClr val="FBEDEB"/>
          </a:solidFill>
          <a:ln w="9525">
            <a:solidFill>
              <a:srgbClr val="C0392B"/>
            </a:solidFill>
            <a:prstDash val="solid"/>
          </a:ln>
        </p:spPr>
      </p:sp>
      <p:pic>
        <p:nvPicPr>
          <p:cNvPr id="222" name="risk icon 221" descr="risk icon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503920" y="5897880"/>
            <a:ext cx="155448" cy="155448"/>
          </a:xfrm>
          <a:prstGeom prst="rect">
            <a:avLst/>
          </a:prstGeom>
        </p:spPr>
      </p:pic>
      <p:sp>
        <p:nvSpPr>
          <p:cNvPr id="223" name="text 222"/>
          <p:cNvSpPr txBox="1"/>
          <p:nvPr/>
        </p:nvSpPr>
        <p:spPr>
          <a:xfrm>
            <a:off x="8503920" y="6062472"/>
            <a:ext cx="133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60" b="1" dirty="0">
                <a:solidFill>
                  <a:srgbClr val="A93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Incompatibility is a first-class outcome</a:t>
            </a:r>
            <a:endParaRPr lang="en-US" sz="7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6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characterise where and why the frontier breaks down (rigorous negative result)</a:t>
            </a:r>
            <a:endParaRPr lang="en-US" sz="700" dirty="0"/>
          </a:p>
        </p:txBody>
      </p:sp>
      <p:sp>
        <p:nvSpPr>
          <p:cNvPr id="224" name="step arrow 223"/>
          <p:cNvSpPr/>
          <p:nvPr/>
        </p:nvSpPr>
        <p:spPr>
          <a:xfrm>
            <a:off x="9948672" y="6053328"/>
            <a:ext cx="118872" cy="201168"/>
          </a:xfrm>
          <a:prstGeom prst="rightArrow">
            <a:avLst/>
          </a:prstGeom>
          <a:solidFill>
            <a:srgbClr val="99A8BD"/>
          </a:solidFill>
          <a:ln w="6350">
            <a:solidFill>
              <a:srgbClr val="51647E"/>
            </a:solidFill>
            <a:prstDash val="solid"/>
          </a:ln>
        </p:spPr>
      </p:sp>
      <p:sp>
        <p:nvSpPr>
          <p:cNvPr id="225" name="sub-box 224"/>
          <p:cNvSpPr/>
          <p:nvPr/>
        </p:nvSpPr>
        <p:spPr>
          <a:xfrm>
            <a:off x="10094976" y="5596128"/>
            <a:ext cx="1911096" cy="1115568"/>
          </a:xfrm>
          <a:prstGeom prst="roundRect">
            <a:avLst>
              <a:gd name="adj" fmla="val 2459"/>
            </a:avLst>
          </a:prstGeom>
          <a:solidFill>
            <a:srgbClr val="FFFFFF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226" name="sub-box title 225"/>
          <p:cNvSpPr txBox="1"/>
          <p:nvPr/>
        </p:nvSpPr>
        <p:spPr>
          <a:xfrm>
            <a:off x="10158984" y="562356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release &amp; dissemination</a:t>
            </a:r>
            <a:endParaRPr lang="en-US" sz="850" dirty="0"/>
          </a:p>
        </p:txBody>
      </p:sp>
      <p:pic>
        <p:nvPicPr>
          <p:cNvPr id="227" name="output icon 226" descr="output icon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0168128" y="5847588"/>
            <a:ext cx="155448" cy="155448"/>
          </a:xfrm>
          <a:prstGeom prst="rect">
            <a:avLst/>
          </a:prstGeom>
        </p:spPr>
      </p:pic>
      <p:sp>
        <p:nvSpPr>
          <p:cNvPr id="228" name="text 227"/>
          <p:cNvSpPr txBox="1"/>
          <p:nvPr/>
        </p:nvSpPr>
        <p:spPr>
          <a:xfrm>
            <a:off x="10369296" y="582472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60" b="1" dirty="0">
                <a:solidFill>
                  <a:srgbClr val="2C6A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Methodological guidance</a:t>
            </a:r>
            <a:endParaRPr lang="en-US" sz="660" dirty="0"/>
          </a:p>
        </p:txBody>
      </p:sp>
      <p:pic>
        <p:nvPicPr>
          <p:cNvPr id="229" name="output icon 228" descr="output icon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0168128" y="6062472"/>
            <a:ext cx="155448" cy="155448"/>
          </a:xfrm>
          <a:prstGeom prst="rect">
            <a:avLst/>
          </a:prstGeom>
        </p:spPr>
      </p:pic>
      <p:sp>
        <p:nvSpPr>
          <p:cNvPr id="230" name="text 229"/>
          <p:cNvSpPr txBox="1"/>
          <p:nvPr/>
        </p:nvSpPr>
        <p:spPr>
          <a:xfrm>
            <a:off x="10369296" y="6039612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60" b="1" dirty="0">
                <a:solidFill>
                  <a:srgbClr val="2C6A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Released algorithms</a:t>
            </a:r>
            <a:endParaRPr lang="en-US" sz="660" dirty="0"/>
          </a:p>
        </p:txBody>
      </p:sp>
      <p:pic>
        <p:nvPicPr>
          <p:cNvPr id="231" name="output icon 230" descr="output icon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0168128" y="6277356"/>
            <a:ext cx="155448" cy="155448"/>
          </a:xfrm>
          <a:prstGeom prst="rect">
            <a:avLst/>
          </a:prstGeom>
        </p:spPr>
      </p:pic>
      <p:sp>
        <p:nvSpPr>
          <p:cNvPr id="232" name="text 231"/>
          <p:cNvSpPr txBox="1"/>
          <p:nvPr/>
        </p:nvSpPr>
        <p:spPr>
          <a:xfrm>
            <a:off x="10369296" y="6254496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60" b="1" dirty="0">
                <a:solidFill>
                  <a:srgbClr val="2C6A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protocols (temporal &amp; site shift)</a:t>
            </a:r>
            <a:endParaRPr lang="en-US" sz="660" dirty="0"/>
          </a:p>
        </p:txBody>
      </p:sp>
      <p:pic>
        <p:nvPicPr>
          <p:cNvPr id="233" name="output icon 232" descr="output icon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0168128" y="6492240"/>
            <a:ext cx="155448" cy="155448"/>
          </a:xfrm>
          <a:prstGeom prst="rect">
            <a:avLst/>
          </a:prstGeom>
        </p:spPr>
      </p:pic>
      <p:sp>
        <p:nvSpPr>
          <p:cNvPr id="234" name="text 233"/>
          <p:cNvSpPr txBox="1"/>
          <p:nvPr/>
        </p:nvSpPr>
        <p:spPr>
          <a:xfrm>
            <a:off x="10369296" y="6469380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60" b="1" dirty="0">
                <a:solidFill>
                  <a:srgbClr val="2C6A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Open-access publications</a:t>
            </a:r>
            <a:endParaRPr lang="en-US" sz="660" dirty="0"/>
          </a:p>
        </p:txBody>
      </p:sp>
      <p:sp>
        <p:nvSpPr>
          <p:cNvPr id="235" name="flow down 234"/>
          <p:cNvSpPr/>
          <p:nvPr/>
        </p:nvSpPr>
        <p:spPr>
          <a:xfrm>
            <a:off x="411480" y="950976"/>
            <a:ext cx="329184" cy="228600"/>
          </a:xfrm>
          <a:prstGeom prst="downArrow">
            <a:avLst/>
          </a:prstGeom>
          <a:solidFill>
            <a:srgbClr val="4472C4"/>
          </a:solidFill>
          <a:ln w="9525">
            <a:solidFill>
              <a:srgbClr val="2F5597"/>
            </a:solidFill>
            <a:prstDash val="solid"/>
          </a:ln>
        </p:spPr>
      </p:sp>
      <p:sp>
        <p:nvSpPr>
          <p:cNvPr id="236" name="flow label 235"/>
          <p:cNvSpPr txBox="1"/>
          <p:nvPr/>
        </p:nvSpPr>
        <p:spPr>
          <a:xfrm>
            <a:off x="795528" y="96012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00" b="1" i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properties: irregular sampling, temporal dependence, shift</a:t>
            </a:r>
            <a:endParaRPr lang="en-US" sz="700" dirty="0"/>
          </a:p>
        </p:txBody>
      </p:sp>
      <p:sp>
        <p:nvSpPr>
          <p:cNvPr id="237" name="flow down 236"/>
          <p:cNvSpPr/>
          <p:nvPr/>
        </p:nvSpPr>
        <p:spPr>
          <a:xfrm>
            <a:off x="3931920" y="950976"/>
            <a:ext cx="329184" cy="228600"/>
          </a:xfrm>
          <a:prstGeom prst="downArrow">
            <a:avLst/>
          </a:prstGeom>
          <a:solidFill>
            <a:srgbClr val="4472C4"/>
          </a:solidFill>
          <a:ln w="9525">
            <a:solidFill>
              <a:srgbClr val="2F5597"/>
            </a:solidFill>
            <a:prstDash val="solid"/>
          </a:ln>
        </p:spPr>
      </p:sp>
      <p:sp>
        <p:nvSpPr>
          <p:cNvPr id="238" name="flow label 237"/>
          <p:cNvSpPr txBox="1"/>
          <p:nvPr/>
        </p:nvSpPr>
        <p:spPr>
          <a:xfrm>
            <a:off x="4315968" y="9601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00" b="1" i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MIMIC-IV development data (training &amp; calibration)</a:t>
            </a:r>
            <a:endParaRPr lang="en-US" sz="700" dirty="0"/>
          </a:p>
        </p:txBody>
      </p:sp>
      <p:sp>
        <p:nvSpPr>
          <p:cNvPr id="239" name="flow down 238"/>
          <p:cNvSpPr/>
          <p:nvPr/>
        </p:nvSpPr>
        <p:spPr>
          <a:xfrm>
            <a:off x="9189720" y="950976"/>
            <a:ext cx="329184" cy="228600"/>
          </a:xfrm>
          <a:prstGeom prst="downArrow">
            <a:avLst/>
          </a:prstGeom>
          <a:solidFill>
            <a:srgbClr val="4472C4"/>
          </a:solidFill>
          <a:ln w="9525">
            <a:solidFill>
              <a:srgbClr val="2F5597"/>
            </a:solidFill>
            <a:prstDash val="solid"/>
          </a:ln>
        </p:spPr>
      </p:sp>
      <p:sp>
        <p:nvSpPr>
          <p:cNvPr id="240" name="flow label 239"/>
          <p:cNvSpPr txBox="1"/>
          <p:nvPr/>
        </p:nvSpPr>
        <p:spPr>
          <a:xfrm>
            <a:off x="9573768" y="96012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00" b="1" i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hold-out · eICU · West London A&amp;E</a:t>
            </a:r>
            <a:endParaRPr lang="en-US" sz="700" dirty="0"/>
          </a:p>
        </p:txBody>
      </p:sp>
      <p:sp>
        <p:nvSpPr>
          <p:cNvPr id="241" name="flow WP1 to WP2 240"/>
          <p:cNvSpPr/>
          <p:nvPr/>
        </p:nvSpPr>
        <p:spPr>
          <a:xfrm>
            <a:off x="2500884" y="1783080"/>
            <a:ext cx="274320" cy="2194560"/>
          </a:xfrm>
          <a:prstGeom prst="rect">
            <a:avLst/>
          </a:prstGeom>
          <a:solidFill>
            <a:srgbClr val="4472C4"/>
          </a:solidFill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F(θ) = (f</a:t>
            </a:r>
            <a:pPr algn="ctr" indent="0" marL="0">
              <a:lnSpc>
                <a:spcPct val="95000"/>
              </a:lnSpc>
              <a:buNone/>
            </a:pPr>
            <a:r>
              <a:rPr lang="en-US" sz="7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ctr"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f</a:t>
            </a:r>
            <a:pPr algn="ctr" indent="0" marL="0">
              <a:lnSpc>
                <a:spcPct val="95000"/>
              </a:lnSpc>
              <a:buNone/>
            </a:pPr>
            <a:r>
              <a:rPr lang="en-US" sz="7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f</a:t>
            </a:r>
            <a:pPr algn="ctr" indent="0" marL="0">
              <a:lnSpc>
                <a:spcPct val="95000"/>
              </a:lnSpc>
              <a:buNone/>
            </a:pPr>
            <a:r>
              <a:rPr lang="en-US" sz="7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algn="ctr"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f</a:t>
            </a:r>
            <a:pPr algn="ctr" indent="0" marL="0">
              <a:lnSpc>
                <a:spcPct val="95000"/>
              </a:lnSpc>
              <a:buNone/>
            </a:pPr>
            <a:r>
              <a:rPr lang="en-US" sz="7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pPr algn="ctr"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 s.t. coverage ≥ 90%</a:t>
            </a:r>
            <a:endParaRPr lang="en-US" sz="7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predefined temporal &amp; site environments E</a:t>
            </a:r>
            <a:endParaRPr lang="en-US" sz="700" dirty="0"/>
          </a:p>
        </p:txBody>
      </p:sp>
      <p:sp>
        <p:nvSpPr>
          <p:cNvPr id="242" name="flow WP1 to WP2 head 241"/>
          <p:cNvSpPr/>
          <p:nvPr/>
        </p:nvSpPr>
        <p:spPr>
          <a:xfrm rot="5400000">
            <a:off x="2610612" y="2830068"/>
            <a:ext cx="420624" cy="100584"/>
          </a:xfrm>
          <a:prstGeom prst="triangle">
            <a:avLst/>
          </a:prstGeom>
          <a:solidFill>
            <a:srgbClr val="4472C4"/>
          </a:solidFill>
          <a:ln/>
        </p:spPr>
      </p:sp>
      <p:sp>
        <p:nvSpPr>
          <p:cNvPr id="243" name="flow WP2 to WP3 242"/>
          <p:cNvSpPr/>
          <p:nvPr/>
        </p:nvSpPr>
        <p:spPr>
          <a:xfrm>
            <a:off x="8622792" y="1755648"/>
            <a:ext cx="274320" cy="1188720"/>
          </a:xfrm>
          <a:prstGeom prst="rect">
            <a:avLst/>
          </a:prstGeom>
          <a:solidFill>
            <a:srgbClr val="4472C4"/>
          </a:solidFill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Pareto</a:t>
            </a:r>
            <a:endParaRPr lang="en-US" sz="7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 θ*</a:t>
            </a:r>
            <a:endParaRPr lang="en-US" sz="700" dirty="0"/>
          </a:p>
        </p:txBody>
      </p:sp>
      <p:sp>
        <p:nvSpPr>
          <p:cNvPr id="244" name="flow WP2 to WP3 head 243"/>
          <p:cNvSpPr/>
          <p:nvPr/>
        </p:nvSpPr>
        <p:spPr>
          <a:xfrm rot="5400000">
            <a:off x="8732520" y="2299716"/>
            <a:ext cx="420624" cy="100584"/>
          </a:xfrm>
          <a:prstGeom prst="triangle">
            <a:avLst/>
          </a:prstGeom>
          <a:solidFill>
            <a:srgbClr val="4472C4"/>
          </a:solidFill>
          <a:ln/>
        </p:spPr>
      </p:sp>
      <p:sp>
        <p:nvSpPr>
          <p:cNvPr id="245" name="feedback WP3 to WP2 244"/>
          <p:cNvSpPr/>
          <p:nvPr/>
        </p:nvSpPr>
        <p:spPr>
          <a:xfrm>
            <a:off x="8663940" y="3017520"/>
            <a:ext cx="274320" cy="960120"/>
          </a:xfrm>
          <a:prstGeom prst="rect">
            <a:avLst/>
          </a:prstGeom>
          <a:solidFill>
            <a:srgbClr val="218B73"/>
          </a:solidFill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Faithfulness</a:t>
            </a:r>
            <a:endParaRPr lang="en-US" sz="7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</a:t>
            </a:r>
            <a:endParaRPr lang="en-US" sz="700" dirty="0"/>
          </a:p>
        </p:txBody>
      </p:sp>
      <p:sp>
        <p:nvSpPr>
          <p:cNvPr id="246" name="feedback WP3 to WP2 head 245"/>
          <p:cNvSpPr/>
          <p:nvPr/>
        </p:nvSpPr>
        <p:spPr>
          <a:xfrm rot="16200000">
            <a:off x="8407908" y="3447288"/>
            <a:ext cx="420624" cy="100584"/>
          </a:xfrm>
          <a:prstGeom prst="triangle">
            <a:avLst/>
          </a:prstGeom>
          <a:solidFill>
            <a:srgbClr val="218B73"/>
          </a:solidFill>
          <a:ln/>
        </p:spPr>
      </p:sp>
      <p:sp>
        <p:nvSpPr>
          <p:cNvPr id="247" name="flow down 246"/>
          <p:cNvSpPr/>
          <p:nvPr/>
        </p:nvSpPr>
        <p:spPr>
          <a:xfrm>
            <a:off x="3931920" y="4146804"/>
            <a:ext cx="329184" cy="228600"/>
          </a:xfrm>
          <a:prstGeom prst="downArrow">
            <a:avLst/>
          </a:prstGeom>
          <a:solidFill>
            <a:srgbClr val="4472C4"/>
          </a:solidFill>
          <a:ln w="9525">
            <a:solidFill>
              <a:srgbClr val="2F5597"/>
            </a:solidFill>
            <a:prstDash val="solid"/>
          </a:ln>
        </p:spPr>
      </p:sp>
      <p:sp>
        <p:nvSpPr>
          <p:cNvPr id="248" name="flow label 247"/>
          <p:cNvSpPr txBox="1"/>
          <p:nvPr/>
        </p:nvSpPr>
        <p:spPr>
          <a:xfrm>
            <a:off x="4315968" y="41559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00" b="1" i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representative Pareto candidates (selected solutions)</a:t>
            </a:r>
            <a:endParaRPr lang="en-US" sz="700" dirty="0"/>
          </a:p>
        </p:txBody>
      </p:sp>
      <p:sp>
        <p:nvSpPr>
          <p:cNvPr id="249" name="flow down 248"/>
          <p:cNvSpPr/>
          <p:nvPr/>
        </p:nvSpPr>
        <p:spPr>
          <a:xfrm>
            <a:off x="8247888" y="4146804"/>
            <a:ext cx="329184" cy="228600"/>
          </a:xfrm>
          <a:prstGeom prst="downArrow">
            <a:avLst/>
          </a:prstGeom>
          <a:solidFill>
            <a:srgbClr val="4472C4"/>
          </a:solidFill>
          <a:ln w="9525">
            <a:solidFill>
              <a:srgbClr val="2F5597"/>
            </a:solidFill>
            <a:prstDash val="solid"/>
          </a:ln>
        </p:spPr>
      </p:sp>
      <p:sp>
        <p:nvSpPr>
          <p:cNvPr id="250" name="flow label 249"/>
          <p:cNvSpPr txBox="1"/>
          <p:nvPr/>
        </p:nvSpPr>
        <p:spPr>
          <a:xfrm>
            <a:off x="6729984" y="415594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700" b="1" i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Pareto-frontier structure</a:t>
            </a:r>
            <a:endParaRPr lang="en-US" sz="700" dirty="0"/>
          </a:p>
        </p:txBody>
      </p:sp>
      <p:sp>
        <p:nvSpPr>
          <p:cNvPr id="251" name="flow down 250"/>
          <p:cNvSpPr/>
          <p:nvPr/>
        </p:nvSpPr>
        <p:spPr>
          <a:xfrm>
            <a:off x="10744200" y="4146804"/>
            <a:ext cx="329184" cy="228600"/>
          </a:xfrm>
          <a:prstGeom prst="downArrow">
            <a:avLst/>
          </a:prstGeom>
          <a:solidFill>
            <a:srgbClr val="4472C4"/>
          </a:solidFill>
          <a:ln w="9525">
            <a:solidFill>
              <a:srgbClr val="2F5597"/>
            </a:solidFill>
            <a:prstDash val="solid"/>
          </a:ln>
        </p:spPr>
      </p:sp>
      <p:sp>
        <p:nvSpPr>
          <p:cNvPr id="252" name="flow label 251"/>
          <p:cNvSpPr txBox="1"/>
          <p:nvPr/>
        </p:nvSpPr>
        <p:spPr>
          <a:xfrm>
            <a:off x="8769096" y="415594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700" b="1" i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faithfulness · performance · coverage</a:t>
            </a:r>
            <a:endParaRPr lang="en-US" sz="700" dirty="0"/>
          </a:p>
        </p:txBody>
      </p:sp>
      <p:sp>
        <p:nvSpPr>
          <p:cNvPr id="253" name="flow WP4 to WP5 252"/>
          <p:cNvSpPr/>
          <p:nvPr/>
        </p:nvSpPr>
        <p:spPr>
          <a:xfrm>
            <a:off x="5934456" y="4892040"/>
            <a:ext cx="274320" cy="1737360"/>
          </a:xfrm>
          <a:prstGeom prst="rect">
            <a:avLst/>
          </a:prstGeom>
          <a:solidFill>
            <a:srgbClr val="4472C4"/>
          </a:solidFill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evaluation</a:t>
            </a:r>
            <a:endParaRPr lang="en-US" sz="7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700" dirty="0"/>
          </a:p>
        </p:txBody>
      </p:sp>
      <p:sp>
        <p:nvSpPr>
          <p:cNvPr id="254" name="flow WP4 to WP5 head 253"/>
          <p:cNvSpPr/>
          <p:nvPr/>
        </p:nvSpPr>
        <p:spPr>
          <a:xfrm rot="5400000">
            <a:off x="6044184" y="5710428"/>
            <a:ext cx="420624" cy="100584"/>
          </a:xfrm>
          <a:prstGeom prst="triangle">
            <a:avLst/>
          </a:prstGeom>
          <a:solidFill>
            <a:srgbClr val="4472C4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framework: shared clinical testbed and WP1-WP5</dc:title>
  <dc:subject>PptxGenJS Presentation</dc:subject>
  <dc:creator>PptxGenJS</dc:creator>
  <cp:lastModifiedBy>PptxGenJS</cp:lastModifiedBy>
  <cp:revision>1</cp:revision>
  <dcterms:created xsi:type="dcterms:W3CDTF">2026-10-16T15:39:49Z</dcterms:created>
  <dcterms:modified xsi:type="dcterms:W3CDTF">2026-10-16T15:39:49Z</dcterms:modified>
</cp:coreProperties>
</file>